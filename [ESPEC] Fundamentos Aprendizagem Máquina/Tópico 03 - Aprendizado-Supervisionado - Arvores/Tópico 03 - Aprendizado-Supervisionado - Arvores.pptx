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18.xml.rels" ContentType="application/vnd.openxmlformats-package.relationships+xml"/>
  <Override PartName="/ppt/slideMasters/slideMaster14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presProps.xml" ContentType="application/vnd.openxmlformats-officedocument.presentationml.presProps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13.xml" ContentType="application/vnd.openxmlformats-officedocument.theme+xml"/>
  <Override PartName="/ppt/theme/theme3.xml" ContentType="application/vnd.openxmlformats-officedocument.theme+xml"/>
  <Override PartName="/ppt/theme/theme12.xml" ContentType="application/vnd.openxmlformats-officedocument.theme+xml"/>
  <Override PartName="/ppt/theme/theme2.xml" ContentType="application/vnd.openxmlformats-officedocument.theme+xml"/>
  <Override PartName="/ppt/theme/theme11.xml" ContentType="application/vnd.openxmlformats-officedocument.theme+xml"/>
  <Override PartName="/ppt/theme/theme25.xml" ContentType="application/vnd.openxmlformats-officedocument.theme+xml"/>
  <Override PartName="/ppt/theme/theme24.xml" ContentType="application/vnd.openxmlformats-officedocument.theme+xml"/>
  <Override PartName="/ppt/theme/theme23.xml" ContentType="application/vnd.openxmlformats-officedocument.theme+xml"/>
  <Override PartName="/ppt/theme/theme1.xml" ContentType="application/vnd.openxmlformats-officedocument.theme+xml"/>
  <Override PartName="/ppt/theme/theme22.xml" ContentType="application/vnd.openxmlformats-officedocument.theme+xml"/>
  <Override PartName="/ppt/theme/theme21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18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theme15.xml" ContentType="application/vnd.openxmlformats-officedocument.theme+xml"/>
  <Override PartName="/ppt/theme/theme14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2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0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</p:sldMasterIdLst>
  <p:notesMasterIdLst>
    <p:notesMasterId r:id="rId26"/>
  </p:notesMasterIdLst>
  <p:sldIdLst>
    <p:sldId id="256" r:id="rId27"/>
    <p:sldId id="257" r:id="rId28"/>
    <p:sldId id="258" r:id="rId29"/>
    <p:sldId id="259" r:id="rId30"/>
    <p:sldId id="260" r:id="rId31"/>
    <p:sldId id="261" r:id="rId32"/>
    <p:sldId id="262" r:id="rId33"/>
    <p:sldId id="263" r:id="rId34"/>
    <p:sldId id="264" r:id="rId35"/>
    <p:sldId id="265" r:id="rId36"/>
    <p:sldId id="266" r:id="rId37"/>
    <p:sldId id="267" r:id="rId38"/>
    <p:sldId id="268" r:id="rId39"/>
    <p:sldId id="269" r:id="rId40"/>
    <p:sldId id="270" r:id="rId41"/>
    <p:sldId id="271" r:id="rId42"/>
    <p:sldId id="272" r:id="rId43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notesMaster" Target="notesMasters/notesMaster1.xml"/><Relationship Id="rId27" Type="http://schemas.openxmlformats.org/officeDocument/2006/relationships/slide" Target="slides/slide1.xml"/><Relationship Id="rId28" Type="http://schemas.openxmlformats.org/officeDocument/2006/relationships/slide" Target="slides/slide2.xml"/><Relationship Id="rId29" Type="http://schemas.openxmlformats.org/officeDocument/2006/relationships/slide" Target="slides/slide3.xml"/><Relationship Id="rId30" Type="http://schemas.openxmlformats.org/officeDocument/2006/relationships/slide" Target="slides/slide4.xml"/><Relationship Id="rId31" Type="http://schemas.openxmlformats.org/officeDocument/2006/relationships/slide" Target="slides/slide5.xml"/><Relationship Id="rId32" Type="http://schemas.openxmlformats.org/officeDocument/2006/relationships/slide" Target="slides/slide6.xml"/><Relationship Id="rId33" Type="http://schemas.openxmlformats.org/officeDocument/2006/relationships/slide" Target="slides/slide7.xml"/><Relationship Id="rId34" Type="http://schemas.openxmlformats.org/officeDocument/2006/relationships/slide" Target="slides/slide8.xml"/><Relationship Id="rId35" Type="http://schemas.openxmlformats.org/officeDocument/2006/relationships/slide" Target="slides/slide9.xml"/><Relationship Id="rId36" Type="http://schemas.openxmlformats.org/officeDocument/2006/relationships/slide" Target="slides/slide10.xml"/><Relationship Id="rId37" Type="http://schemas.openxmlformats.org/officeDocument/2006/relationships/slide" Target="slides/slide11.xml"/><Relationship Id="rId38" Type="http://schemas.openxmlformats.org/officeDocument/2006/relationships/slide" Target="slides/slide12.xml"/><Relationship Id="rId39" Type="http://schemas.openxmlformats.org/officeDocument/2006/relationships/slide" Target="slides/slide13.xml"/><Relationship Id="rId40" Type="http://schemas.openxmlformats.org/officeDocument/2006/relationships/slide" Target="slides/slide14.xml"/><Relationship Id="rId41" Type="http://schemas.openxmlformats.org/officeDocument/2006/relationships/slide" Target="slides/slide15.xml"/><Relationship Id="rId42" Type="http://schemas.openxmlformats.org/officeDocument/2006/relationships/slide" Target="slides/slide16.xml"/><Relationship Id="rId43" Type="http://schemas.openxmlformats.org/officeDocument/2006/relationships/slide" Target="slides/slide17.xml"/><Relationship Id="rId4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9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0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1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027907AF-5B98-4F63-A5D6-01E542772B54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6280" cy="3596040"/>
          </a:xfrm>
          <a:prstGeom prst="rect">
            <a:avLst/>
          </a:prstGeom>
          <a:ln w="0">
            <a:noFill/>
          </a:ln>
        </p:spPr>
      </p:sp>
      <p:sp>
        <p:nvSpPr>
          <p:cNvPr id="287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6480" cy="4198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CustomShape 3"/>
          <p:cNvSpPr/>
          <p:nvPr/>
        </p:nvSpPr>
        <p:spPr>
          <a:xfrm>
            <a:off x="0" y="10155240"/>
            <a:ext cx="3264840" cy="52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6280" cy="3596040"/>
          </a:xfrm>
          <a:prstGeom prst="rect">
            <a:avLst/>
          </a:prstGeom>
          <a:ln w="0">
            <a:noFill/>
          </a:ln>
        </p:spPr>
      </p:sp>
      <p:sp>
        <p:nvSpPr>
          <p:cNvPr id="290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6480" cy="4198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CustomShape 3"/>
          <p:cNvSpPr/>
          <p:nvPr/>
        </p:nvSpPr>
        <p:spPr>
          <a:xfrm>
            <a:off x="0" y="10155240"/>
            <a:ext cx="3264840" cy="52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6280" cy="3596040"/>
          </a:xfrm>
          <a:prstGeom prst="rect">
            <a:avLst/>
          </a:prstGeom>
          <a:ln w="0">
            <a:noFill/>
          </a:ln>
        </p:spPr>
      </p:sp>
      <p:sp>
        <p:nvSpPr>
          <p:cNvPr id="293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6480" cy="4198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CustomShape 5"/>
          <p:cNvSpPr/>
          <p:nvPr/>
        </p:nvSpPr>
        <p:spPr>
          <a:xfrm>
            <a:off x="0" y="10155240"/>
            <a:ext cx="3264840" cy="52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6280" cy="3596040"/>
          </a:xfrm>
          <a:prstGeom prst="rect">
            <a:avLst/>
          </a:prstGeom>
          <a:ln w="0">
            <a:noFill/>
          </a:ln>
        </p:spPr>
      </p:sp>
      <p:sp>
        <p:nvSpPr>
          <p:cNvPr id="296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6480" cy="4198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CustomShape 14"/>
          <p:cNvSpPr/>
          <p:nvPr/>
        </p:nvSpPr>
        <p:spPr>
          <a:xfrm>
            <a:off x="0" y="10155240"/>
            <a:ext cx="3264840" cy="52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6280" cy="3596040"/>
          </a:xfrm>
          <a:prstGeom prst="rect">
            <a:avLst/>
          </a:prstGeom>
          <a:ln w="0">
            <a:noFill/>
          </a:ln>
        </p:spPr>
      </p:sp>
      <p:sp>
        <p:nvSpPr>
          <p:cNvPr id="299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6480" cy="4198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CustomShape 19"/>
          <p:cNvSpPr/>
          <p:nvPr/>
        </p:nvSpPr>
        <p:spPr>
          <a:xfrm>
            <a:off x="0" y="10155240"/>
            <a:ext cx="3264840" cy="52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6280" cy="3596040"/>
          </a:xfrm>
          <a:prstGeom prst="rect">
            <a:avLst/>
          </a:prstGeom>
          <a:ln w="0">
            <a:noFill/>
          </a:ln>
        </p:spPr>
      </p:sp>
      <p:sp>
        <p:nvSpPr>
          <p:cNvPr id="302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6480" cy="4198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CustomShape 24"/>
          <p:cNvSpPr/>
          <p:nvPr/>
        </p:nvSpPr>
        <p:spPr>
          <a:xfrm>
            <a:off x="0" y="10155240"/>
            <a:ext cx="3264840" cy="52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6280" cy="3596040"/>
          </a:xfrm>
          <a:prstGeom prst="rect">
            <a:avLst/>
          </a:prstGeom>
          <a:ln w="0">
            <a:noFill/>
          </a:ln>
        </p:spPr>
      </p:sp>
      <p:sp>
        <p:nvSpPr>
          <p:cNvPr id="305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6480" cy="4198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CustomShape 29"/>
          <p:cNvSpPr/>
          <p:nvPr/>
        </p:nvSpPr>
        <p:spPr>
          <a:xfrm>
            <a:off x="0" y="10155240"/>
            <a:ext cx="3264840" cy="52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6280" cy="3596040"/>
          </a:xfrm>
          <a:prstGeom prst="rect">
            <a:avLst/>
          </a:prstGeom>
          <a:ln w="0">
            <a:noFill/>
          </a:ln>
        </p:spPr>
      </p:sp>
      <p:sp>
        <p:nvSpPr>
          <p:cNvPr id="308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6480" cy="4198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CustomShape 34"/>
          <p:cNvSpPr/>
          <p:nvPr/>
        </p:nvSpPr>
        <p:spPr>
          <a:xfrm>
            <a:off x="0" y="10155240"/>
            <a:ext cx="3264840" cy="52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6280" cy="3596040"/>
          </a:xfrm>
          <a:prstGeom prst="rect">
            <a:avLst/>
          </a:prstGeom>
          <a:ln w="0">
            <a:noFill/>
          </a:ln>
        </p:spPr>
      </p:sp>
      <p:sp>
        <p:nvSpPr>
          <p:cNvPr id="311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6480" cy="4198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CustomShape 39"/>
          <p:cNvSpPr/>
          <p:nvPr/>
        </p:nvSpPr>
        <p:spPr>
          <a:xfrm>
            <a:off x="0" y="10155240"/>
            <a:ext cx="3264840" cy="52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6280" cy="3596040"/>
          </a:xfrm>
          <a:prstGeom prst="rect">
            <a:avLst/>
          </a:prstGeom>
          <a:ln w="0">
            <a:noFill/>
          </a:ln>
        </p:spPr>
      </p:sp>
      <p:sp>
        <p:nvSpPr>
          <p:cNvPr id="314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6480" cy="4198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CustomShape 44"/>
          <p:cNvSpPr/>
          <p:nvPr/>
        </p:nvSpPr>
        <p:spPr>
          <a:xfrm>
            <a:off x="0" y="10155240"/>
            <a:ext cx="3264840" cy="52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6280" cy="3596040"/>
          </a:xfrm>
          <a:prstGeom prst="rect">
            <a:avLst/>
          </a:prstGeom>
          <a:ln w="0">
            <a:noFill/>
          </a:ln>
        </p:spPr>
      </p:sp>
      <p:sp>
        <p:nvSpPr>
          <p:cNvPr id="317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6480" cy="4198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CustomShape 49"/>
          <p:cNvSpPr/>
          <p:nvPr/>
        </p:nvSpPr>
        <p:spPr>
          <a:xfrm>
            <a:off x="0" y="10155240"/>
            <a:ext cx="3264840" cy="52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6280" cy="3596040"/>
          </a:xfrm>
          <a:prstGeom prst="rect">
            <a:avLst/>
          </a:prstGeom>
          <a:ln w="0">
            <a:noFill/>
          </a:ln>
        </p:spPr>
      </p:sp>
      <p:sp>
        <p:nvSpPr>
          <p:cNvPr id="320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6480" cy="4198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CustomShape 84"/>
          <p:cNvSpPr/>
          <p:nvPr/>
        </p:nvSpPr>
        <p:spPr>
          <a:xfrm>
            <a:off x="0" y="10155240"/>
            <a:ext cx="3264840" cy="52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6280" cy="3596040"/>
          </a:xfrm>
          <a:prstGeom prst="rect">
            <a:avLst/>
          </a:prstGeom>
          <a:ln w="0">
            <a:noFill/>
          </a:ln>
        </p:spPr>
      </p:sp>
      <p:sp>
        <p:nvSpPr>
          <p:cNvPr id="323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6480" cy="4198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CustomShape 54"/>
          <p:cNvSpPr/>
          <p:nvPr/>
        </p:nvSpPr>
        <p:spPr>
          <a:xfrm>
            <a:off x="0" y="10155240"/>
            <a:ext cx="3264840" cy="52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6280" cy="3596040"/>
          </a:xfrm>
          <a:prstGeom prst="rect">
            <a:avLst/>
          </a:prstGeom>
          <a:ln w="0">
            <a:noFill/>
          </a:ln>
        </p:spPr>
      </p:sp>
      <p:sp>
        <p:nvSpPr>
          <p:cNvPr id="326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6480" cy="4198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CustomShape 59"/>
          <p:cNvSpPr/>
          <p:nvPr/>
        </p:nvSpPr>
        <p:spPr>
          <a:xfrm>
            <a:off x="0" y="10155240"/>
            <a:ext cx="3264840" cy="52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6280" cy="3596040"/>
          </a:xfrm>
          <a:prstGeom prst="rect">
            <a:avLst/>
          </a:prstGeom>
          <a:ln w="0">
            <a:noFill/>
          </a:ln>
        </p:spPr>
      </p:sp>
      <p:sp>
        <p:nvSpPr>
          <p:cNvPr id="329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6480" cy="4198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CustomShape 64"/>
          <p:cNvSpPr/>
          <p:nvPr/>
        </p:nvSpPr>
        <p:spPr>
          <a:xfrm>
            <a:off x="0" y="10155240"/>
            <a:ext cx="3264840" cy="52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6280" cy="3596040"/>
          </a:xfrm>
          <a:prstGeom prst="rect">
            <a:avLst/>
          </a:prstGeom>
          <a:ln w="0">
            <a:noFill/>
          </a:ln>
        </p:spPr>
      </p:sp>
      <p:sp>
        <p:nvSpPr>
          <p:cNvPr id="332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6480" cy="4198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CustomShape 69"/>
          <p:cNvSpPr/>
          <p:nvPr/>
        </p:nvSpPr>
        <p:spPr>
          <a:xfrm>
            <a:off x="0" y="10155240"/>
            <a:ext cx="3264840" cy="52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laceHolder 1"/>
          <p:cNvSpPr>
            <a:spLocks noGrp="1"/>
          </p:cNvSpPr>
          <p:nvPr>
            <p:ph type="sldImg"/>
          </p:nvPr>
        </p:nvSpPr>
        <p:spPr>
          <a:xfrm>
            <a:off x="1376280" y="1336680"/>
            <a:ext cx="4796280" cy="3596040"/>
          </a:xfrm>
          <a:prstGeom prst="rect">
            <a:avLst/>
          </a:prstGeom>
          <a:ln w="0">
            <a:noFill/>
          </a:ln>
        </p:spPr>
      </p:sp>
      <p:sp>
        <p:nvSpPr>
          <p:cNvPr id="335" name="PlaceHolder 2"/>
          <p:cNvSpPr>
            <a:spLocks noGrp="1"/>
          </p:cNvSpPr>
          <p:nvPr>
            <p:ph type="body"/>
          </p:nvPr>
        </p:nvSpPr>
        <p:spPr>
          <a:xfrm>
            <a:off x="756000" y="5145120"/>
            <a:ext cx="6036480" cy="4198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CustomShape 74"/>
          <p:cNvSpPr/>
          <p:nvPr/>
        </p:nvSpPr>
        <p:spPr>
          <a:xfrm>
            <a:off x="0" y="10155240"/>
            <a:ext cx="3264840" cy="52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Prof. André Hochuli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5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PlaceHolder 4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CustomShape 1"/>
          <p:cNvSpPr/>
          <p:nvPr/>
        </p:nvSpPr>
        <p:spPr>
          <a:xfrm>
            <a:off x="0" y="3150000"/>
            <a:ext cx="9708840" cy="124884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stomShape 1"/>
          <p:cNvSpPr/>
          <p:nvPr/>
        </p:nvSpPr>
        <p:spPr>
          <a:xfrm>
            <a:off x="0" y="3150000"/>
            <a:ext cx="9708840" cy="124884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ustomShape 1"/>
          <p:cNvSpPr/>
          <p:nvPr/>
        </p:nvSpPr>
        <p:spPr>
          <a:xfrm>
            <a:off x="0" y="3150000"/>
            <a:ext cx="9708840" cy="124884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ustomShape 1"/>
          <p:cNvSpPr/>
          <p:nvPr/>
        </p:nvSpPr>
        <p:spPr>
          <a:xfrm>
            <a:off x="0" y="3150000"/>
            <a:ext cx="9708840" cy="124884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ustomShape 1"/>
          <p:cNvSpPr/>
          <p:nvPr/>
        </p:nvSpPr>
        <p:spPr>
          <a:xfrm>
            <a:off x="0" y="3150000"/>
            <a:ext cx="9708840" cy="124884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ustomShape 1"/>
          <p:cNvSpPr/>
          <p:nvPr/>
        </p:nvSpPr>
        <p:spPr>
          <a:xfrm>
            <a:off x="0" y="3150000"/>
            <a:ext cx="9708840" cy="124884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CustomShape 1"/>
          <p:cNvSpPr/>
          <p:nvPr/>
        </p:nvSpPr>
        <p:spPr>
          <a:xfrm>
            <a:off x="0" y="3150000"/>
            <a:ext cx="9708840" cy="124884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CustomShape 1"/>
          <p:cNvSpPr/>
          <p:nvPr/>
        </p:nvSpPr>
        <p:spPr>
          <a:xfrm>
            <a:off x="0" y="3150000"/>
            <a:ext cx="9708840" cy="124884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CustomShape 1"/>
          <p:cNvSpPr/>
          <p:nvPr/>
        </p:nvSpPr>
        <p:spPr>
          <a:xfrm>
            <a:off x="0" y="3150000"/>
            <a:ext cx="9708840" cy="124884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CustomShape 1"/>
          <p:cNvSpPr/>
          <p:nvPr/>
        </p:nvSpPr>
        <p:spPr>
          <a:xfrm>
            <a:off x="0" y="3150000"/>
            <a:ext cx="9708840" cy="124884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CustomShape 1"/>
          <p:cNvSpPr/>
          <p:nvPr/>
        </p:nvSpPr>
        <p:spPr>
          <a:xfrm>
            <a:off x="0" y="3150000"/>
            <a:ext cx="9708840" cy="124884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CustomShape 1"/>
          <p:cNvSpPr/>
          <p:nvPr/>
        </p:nvSpPr>
        <p:spPr>
          <a:xfrm>
            <a:off x="0" y="3150000"/>
            <a:ext cx="9708840" cy="124884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CustomShape 1"/>
          <p:cNvSpPr/>
          <p:nvPr/>
        </p:nvSpPr>
        <p:spPr>
          <a:xfrm>
            <a:off x="0" y="180000"/>
            <a:ext cx="9708840" cy="124884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1" name="CustomShape 2"/>
          <p:cNvSpPr/>
          <p:nvPr/>
        </p:nvSpPr>
        <p:spPr>
          <a:xfrm>
            <a:off x="7560000" y="6840000"/>
            <a:ext cx="2508840" cy="52884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2" name="CustomShape 3"/>
          <p:cNvSpPr/>
          <p:nvPr/>
        </p:nvSpPr>
        <p:spPr>
          <a:xfrm>
            <a:off x="900000" y="6840000"/>
            <a:ext cx="6468840" cy="52884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3" name="CustomShape 4"/>
          <p:cNvSpPr/>
          <p:nvPr/>
        </p:nvSpPr>
        <p:spPr>
          <a:xfrm>
            <a:off x="180000" y="6840000"/>
            <a:ext cx="528840" cy="52884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ustomShape 1"/>
          <p:cNvSpPr/>
          <p:nvPr/>
        </p:nvSpPr>
        <p:spPr>
          <a:xfrm>
            <a:off x="0" y="180000"/>
            <a:ext cx="9708840" cy="124884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3" name="CustomShape 2"/>
          <p:cNvSpPr/>
          <p:nvPr/>
        </p:nvSpPr>
        <p:spPr>
          <a:xfrm>
            <a:off x="7560000" y="6840000"/>
            <a:ext cx="2508840" cy="52884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4" name="CustomShape 3"/>
          <p:cNvSpPr/>
          <p:nvPr/>
        </p:nvSpPr>
        <p:spPr>
          <a:xfrm>
            <a:off x="900000" y="6840000"/>
            <a:ext cx="6468840" cy="52884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5" name="CustomShape 4"/>
          <p:cNvSpPr/>
          <p:nvPr/>
        </p:nvSpPr>
        <p:spPr>
          <a:xfrm>
            <a:off x="180000" y="6840000"/>
            <a:ext cx="528840" cy="52884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CustomShape 1"/>
          <p:cNvSpPr/>
          <p:nvPr/>
        </p:nvSpPr>
        <p:spPr>
          <a:xfrm>
            <a:off x="0" y="180000"/>
            <a:ext cx="9708840" cy="124884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3" name="CustomShape 2"/>
          <p:cNvSpPr/>
          <p:nvPr/>
        </p:nvSpPr>
        <p:spPr>
          <a:xfrm>
            <a:off x="7560000" y="6840000"/>
            <a:ext cx="2508840" cy="52884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4" name="CustomShape 3"/>
          <p:cNvSpPr/>
          <p:nvPr/>
        </p:nvSpPr>
        <p:spPr>
          <a:xfrm>
            <a:off x="900000" y="6840000"/>
            <a:ext cx="6468840" cy="52884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5" name="CustomShape 4"/>
          <p:cNvSpPr/>
          <p:nvPr/>
        </p:nvSpPr>
        <p:spPr>
          <a:xfrm>
            <a:off x="180000" y="6840000"/>
            <a:ext cx="528840" cy="52884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5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CustomShape 1"/>
          <p:cNvSpPr/>
          <p:nvPr/>
        </p:nvSpPr>
        <p:spPr>
          <a:xfrm>
            <a:off x="0" y="180000"/>
            <a:ext cx="9708840" cy="124884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7" name="CustomShape 2"/>
          <p:cNvSpPr/>
          <p:nvPr/>
        </p:nvSpPr>
        <p:spPr>
          <a:xfrm>
            <a:off x="7560000" y="6840000"/>
            <a:ext cx="2508840" cy="52884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8" name="CustomShape 3"/>
          <p:cNvSpPr/>
          <p:nvPr/>
        </p:nvSpPr>
        <p:spPr>
          <a:xfrm>
            <a:off x="900000" y="6840000"/>
            <a:ext cx="6468840" cy="52884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9" name="CustomShape 4"/>
          <p:cNvSpPr/>
          <p:nvPr/>
        </p:nvSpPr>
        <p:spPr>
          <a:xfrm>
            <a:off x="180000" y="6840000"/>
            <a:ext cx="528840" cy="52884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CustomShape 1"/>
          <p:cNvSpPr/>
          <p:nvPr/>
        </p:nvSpPr>
        <p:spPr>
          <a:xfrm>
            <a:off x="0" y="180000"/>
            <a:ext cx="9708840" cy="124884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11" name="CustomShape 2"/>
          <p:cNvSpPr/>
          <p:nvPr/>
        </p:nvSpPr>
        <p:spPr>
          <a:xfrm>
            <a:off x="7560000" y="6840000"/>
            <a:ext cx="2508840" cy="52884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12" name="CustomShape 3"/>
          <p:cNvSpPr/>
          <p:nvPr/>
        </p:nvSpPr>
        <p:spPr>
          <a:xfrm>
            <a:off x="900000" y="6840000"/>
            <a:ext cx="6468840" cy="52884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3" name="CustomShape 4"/>
          <p:cNvSpPr/>
          <p:nvPr/>
        </p:nvSpPr>
        <p:spPr>
          <a:xfrm>
            <a:off x="180000" y="6840000"/>
            <a:ext cx="528840" cy="52884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CustomShape 1"/>
          <p:cNvSpPr/>
          <p:nvPr/>
        </p:nvSpPr>
        <p:spPr>
          <a:xfrm>
            <a:off x="0" y="180000"/>
            <a:ext cx="9708840" cy="124884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17" name="CustomShape 2"/>
          <p:cNvSpPr/>
          <p:nvPr/>
        </p:nvSpPr>
        <p:spPr>
          <a:xfrm>
            <a:off x="7560000" y="6840000"/>
            <a:ext cx="2508840" cy="52884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18" name="CustomShape 3"/>
          <p:cNvSpPr/>
          <p:nvPr/>
        </p:nvSpPr>
        <p:spPr>
          <a:xfrm>
            <a:off x="900000" y="6840000"/>
            <a:ext cx="6468840" cy="52884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9" name="CustomShape 4"/>
          <p:cNvSpPr/>
          <p:nvPr/>
        </p:nvSpPr>
        <p:spPr>
          <a:xfrm>
            <a:off x="180000" y="6840000"/>
            <a:ext cx="528840" cy="52884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CustomShape 1"/>
          <p:cNvSpPr/>
          <p:nvPr/>
        </p:nvSpPr>
        <p:spPr>
          <a:xfrm>
            <a:off x="0" y="180000"/>
            <a:ext cx="9708840" cy="124884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25" name="CustomShape 2"/>
          <p:cNvSpPr/>
          <p:nvPr/>
        </p:nvSpPr>
        <p:spPr>
          <a:xfrm>
            <a:off x="7560000" y="6840000"/>
            <a:ext cx="2508840" cy="52884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26" name="CustomShape 3"/>
          <p:cNvSpPr/>
          <p:nvPr/>
        </p:nvSpPr>
        <p:spPr>
          <a:xfrm>
            <a:off x="900000" y="6840000"/>
            <a:ext cx="6468840" cy="52884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7" name="CustomShape 4"/>
          <p:cNvSpPr/>
          <p:nvPr/>
        </p:nvSpPr>
        <p:spPr>
          <a:xfrm>
            <a:off x="180000" y="6840000"/>
            <a:ext cx="528840" cy="52884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2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CustomShape 1"/>
          <p:cNvSpPr/>
          <p:nvPr/>
        </p:nvSpPr>
        <p:spPr>
          <a:xfrm>
            <a:off x="0" y="180000"/>
            <a:ext cx="9708840" cy="124884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3" name="CustomShape 2"/>
          <p:cNvSpPr/>
          <p:nvPr/>
        </p:nvSpPr>
        <p:spPr>
          <a:xfrm>
            <a:off x="7560000" y="6840000"/>
            <a:ext cx="2508840" cy="52884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4" name="CustomShape 3"/>
          <p:cNvSpPr/>
          <p:nvPr/>
        </p:nvSpPr>
        <p:spPr>
          <a:xfrm>
            <a:off x="900000" y="6840000"/>
            <a:ext cx="6468840" cy="52884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5" name="CustomShape 4"/>
          <p:cNvSpPr/>
          <p:nvPr/>
        </p:nvSpPr>
        <p:spPr>
          <a:xfrm>
            <a:off x="180000" y="6840000"/>
            <a:ext cx="528840" cy="52884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CustomShape 1"/>
          <p:cNvSpPr/>
          <p:nvPr/>
        </p:nvSpPr>
        <p:spPr>
          <a:xfrm>
            <a:off x="0" y="180000"/>
            <a:ext cx="9708840" cy="124884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3" name="CustomShape 2"/>
          <p:cNvSpPr/>
          <p:nvPr/>
        </p:nvSpPr>
        <p:spPr>
          <a:xfrm>
            <a:off x="7560000" y="6840000"/>
            <a:ext cx="2508840" cy="52884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4" name="CustomShape 3"/>
          <p:cNvSpPr/>
          <p:nvPr/>
        </p:nvSpPr>
        <p:spPr>
          <a:xfrm>
            <a:off x="900000" y="6840000"/>
            <a:ext cx="6468840" cy="52884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5" name="CustomShape 4"/>
          <p:cNvSpPr/>
          <p:nvPr/>
        </p:nvSpPr>
        <p:spPr>
          <a:xfrm>
            <a:off x="180000" y="6840000"/>
            <a:ext cx="528840" cy="52884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CustomShape 1"/>
          <p:cNvSpPr/>
          <p:nvPr/>
        </p:nvSpPr>
        <p:spPr>
          <a:xfrm>
            <a:off x="0" y="180000"/>
            <a:ext cx="9708840" cy="124884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9" name="CustomShape 2"/>
          <p:cNvSpPr/>
          <p:nvPr/>
        </p:nvSpPr>
        <p:spPr>
          <a:xfrm>
            <a:off x="7560000" y="6840000"/>
            <a:ext cx="2508840" cy="52884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0" name="CustomShape 3"/>
          <p:cNvSpPr/>
          <p:nvPr/>
        </p:nvSpPr>
        <p:spPr>
          <a:xfrm>
            <a:off x="900000" y="6840000"/>
            <a:ext cx="6468840" cy="52884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1" name="CustomShape 4"/>
          <p:cNvSpPr/>
          <p:nvPr/>
        </p:nvSpPr>
        <p:spPr>
          <a:xfrm>
            <a:off x="180000" y="6840000"/>
            <a:ext cx="528840" cy="52884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2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CustomShape 1"/>
          <p:cNvSpPr/>
          <p:nvPr/>
        </p:nvSpPr>
        <p:spPr>
          <a:xfrm>
            <a:off x="0" y="180000"/>
            <a:ext cx="9708840" cy="124884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3" name="CustomShape 2"/>
          <p:cNvSpPr/>
          <p:nvPr/>
        </p:nvSpPr>
        <p:spPr>
          <a:xfrm>
            <a:off x="7560000" y="6840000"/>
            <a:ext cx="2508840" cy="52884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4" name="CustomShape 3"/>
          <p:cNvSpPr/>
          <p:nvPr/>
        </p:nvSpPr>
        <p:spPr>
          <a:xfrm>
            <a:off x="900000" y="6840000"/>
            <a:ext cx="6468840" cy="52884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5" name="CustomShape 4"/>
          <p:cNvSpPr/>
          <p:nvPr/>
        </p:nvSpPr>
        <p:spPr>
          <a:xfrm>
            <a:off x="180000" y="6840000"/>
            <a:ext cx="528840" cy="52884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3" r:id="rId2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CustomShape 1"/>
          <p:cNvSpPr/>
          <p:nvPr/>
        </p:nvSpPr>
        <p:spPr>
          <a:xfrm>
            <a:off x="0" y="180000"/>
            <a:ext cx="9708840" cy="124884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5" name="CustomShape 2"/>
          <p:cNvSpPr/>
          <p:nvPr/>
        </p:nvSpPr>
        <p:spPr>
          <a:xfrm>
            <a:off x="7560000" y="6840000"/>
            <a:ext cx="2508840" cy="52884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6" name="CustomShape 3"/>
          <p:cNvSpPr/>
          <p:nvPr/>
        </p:nvSpPr>
        <p:spPr>
          <a:xfrm>
            <a:off x="900000" y="6840000"/>
            <a:ext cx="6468840" cy="52884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7" name="CustomShape 4"/>
          <p:cNvSpPr/>
          <p:nvPr/>
        </p:nvSpPr>
        <p:spPr>
          <a:xfrm>
            <a:off x="180000" y="6840000"/>
            <a:ext cx="528840" cy="52884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4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5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hyperlink" Target="mailto:gustavo.hochuli@pucpr.br" TargetMode="External"/><Relationship Id="rId2" Type="http://schemas.openxmlformats.org/officeDocument/2006/relationships/hyperlink" Target="mailto:aghochuli@ppgia.pucpr.br" TargetMode="External"/><Relationship Id="rId3" Type="http://schemas.openxmlformats.org/officeDocument/2006/relationships/hyperlink" Target="https://github.com/andrehochuli/teaching" TargetMode="External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7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7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7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7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7.xml"/><Relationship Id="rId4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5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17.xml"/><Relationship Id="rId5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7.xml"/><Relationship Id="rId4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7.xml"/><Relationship Id="rId4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7.xml"/><Relationship Id="rId4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7.xml"/><Relationship Id="rId4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7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hyperlink" Target="https://github.com/andrehochuli/teaching/blob/main/%5BESPEC%5D%20Fundamentos%20Aprendizagem%20M&#225;quina/T&#243;pico%2003%20-%20Aprendizado-Supervisionado%20-%20Arvores/T&#243;pico_03_Aprendizado_Supervisionado_Arvores_Decis&#227;o.ipynb" TargetMode="External"/><Relationship Id="rId2" Type="http://schemas.openxmlformats.org/officeDocument/2006/relationships/slideLayout" Target="../slideLayouts/slideLayout17.xml"/><Relationship Id="rId3" Type="http://schemas.openxmlformats.org/officeDocument/2006/relationships/notesSlide" Target="../notesSlides/notesSlide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CustomShape 1"/>
          <p:cNvSpPr/>
          <p:nvPr/>
        </p:nvSpPr>
        <p:spPr>
          <a:xfrm>
            <a:off x="360000" y="3330000"/>
            <a:ext cx="9348840" cy="88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Árvores de Decisão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CustomShape 2"/>
          <p:cNvSpPr/>
          <p:nvPr/>
        </p:nvSpPr>
        <p:spPr>
          <a:xfrm>
            <a:off x="540000" y="4680000"/>
            <a:ext cx="9168840" cy="250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pt-BR" sz="22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Prof. André Gustavo Hochuli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2200" spc="-1" strike="noStrike" u="sng">
                <a:solidFill>
                  <a:srgbClr val="0000ff"/>
                </a:solidFill>
                <a:uFillTx/>
                <a:latin typeface="Latin Modern Sans"/>
                <a:ea typeface="DejaVu Sans"/>
                <a:hlinkClick r:id="rId1"/>
              </a:rPr>
              <a:t>gustavo.hochuli@pucpr.br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2200" spc="-1" strike="noStrike" u="sng">
                <a:solidFill>
                  <a:srgbClr val="0000ff"/>
                </a:solidFill>
                <a:uFillTx/>
                <a:latin typeface="Latin Modern Sans"/>
                <a:ea typeface="DejaVu Sans"/>
                <a:hlinkClick r:id="rId2"/>
              </a:rPr>
              <a:t>aghochuli@ppgia.pucpr.br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2200" spc="-1" strike="noStrike" u="sng">
                <a:solidFill>
                  <a:srgbClr val="0000ff"/>
                </a:solidFill>
                <a:uFillTx/>
                <a:latin typeface="Latin Modern Sans"/>
                <a:ea typeface="DejaVu Sans"/>
                <a:hlinkClick r:id="rId3"/>
              </a:rPr>
              <a:t>github.com/andrehochuli/teaching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CustomShape 1"/>
          <p:cNvSpPr/>
          <p:nvPr/>
        </p:nvSpPr>
        <p:spPr>
          <a:xfrm>
            <a:off x="360000" y="360000"/>
            <a:ext cx="9348840" cy="88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3200" spc="-1" strike="noStrike">
                <a:solidFill>
                  <a:srgbClr val="ffffff"/>
                </a:solidFill>
                <a:latin typeface="Latin Modern Sans"/>
                <a:ea typeface="DejaVu Sans"/>
              </a:rPr>
              <a:t>Plano de Aula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CustomShape 4"/>
          <p:cNvSpPr/>
          <p:nvPr/>
        </p:nvSpPr>
        <p:spPr>
          <a:xfrm>
            <a:off x="360000" y="1980000"/>
            <a:ext cx="9168840" cy="466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216000" indent="-212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Discussões Iniciais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16000" indent="-212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Árvores de Decisão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Entropia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Ganho de Informação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16000" indent="-212400">
              <a:lnSpc>
                <a:spcPct val="100000"/>
              </a:lnSpc>
              <a:spcAft>
                <a:spcPts val="114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Exercícios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CustomShape 2"/>
          <p:cNvSpPr/>
          <p:nvPr/>
        </p:nvSpPr>
        <p:spPr>
          <a:xfrm>
            <a:off x="897120" y="6886080"/>
            <a:ext cx="643608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Aprendizado de Máquina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CustomShape 3"/>
          <p:cNvSpPr/>
          <p:nvPr/>
        </p:nvSpPr>
        <p:spPr>
          <a:xfrm>
            <a:off x="7608600" y="6886080"/>
            <a:ext cx="227412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Árvores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CustomShape 8"/>
          <p:cNvSpPr/>
          <p:nvPr/>
        </p:nvSpPr>
        <p:spPr>
          <a:xfrm>
            <a:off x="360000" y="360000"/>
            <a:ext cx="9348840" cy="88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2600" spc="-1" strike="noStrike">
                <a:solidFill>
                  <a:srgbClr val="ffffff"/>
                </a:solidFill>
                <a:latin typeface="Source Sans Pro Black"/>
                <a:ea typeface="DejaVu Sans"/>
              </a:rPr>
              <a:t>Discussões Iniciais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CustomShape 9"/>
          <p:cNvSpPr/>
          <p:nvPr/>
        </p:nvSpPr>
        <p:spPr>
          <a:xfrm>
            <a:off x="360000" y="1980000"/>
            <a:ext cx="9168840" cy="466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CustomShape 10"/>
          <p:cNvSpPr/>
          <p:nvPr/>
        </p:nvSpPr>
        <p:spPr>
          <a:xfrm>
            <a:off x="897120" y="6886080"/>
            <a:ext cx="643608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Aprendizado de Máquina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CustomShape 11"/>
          <p:cNvSpPr/>
          <p:nvPr/>
        </p:nvSpPr>
        <p:spPr>
          <a:xfrm>
            <a:off x="7608600" y="6886080"/>
            <a:ext cx="227412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Árvores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"/>
          <p:cNvSpPr/>
          <p:nvPr/>
        </p:nvSpPr>
        <p:spPr>
          <a:xfrm>
            <a:off x="342360" y="1529280"/>
            <a:ext cx="6770160" cy="535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KNN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3" name="" descr=""/>
          <p:cNvPicPr/>
          <p:nvPr/>
        </p:nvPicPr>
        <p:blipFill>
          <a:blip r:embed="rId1"/>
          <a:srcRect l="3004" t="7623" r="-2059" b="0"/>
          <a:stretch/>
        </p:blipFill>
        <p:spPr>
          <a:xfrm>
            <a:off x="4114800" y="2372760"/>
            <a:ext cx="3329640" cy="2883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CustomShape 6"/>
          <p:cNvSpPr/>
          <p:nvPr/>
        </p:nvSpPr>
        <p:spPr>
          <a:xfrm>
            <a:off x="360000" y="360000"/>
            <a:ext cx="9348840" cy="88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2600" spc="-1" strike="noStrike">
                <a:solidFill>
                  <a:srgbClr val="ffffff"/>
                </a:solidFill>
                <a:latin typeface="Source Sans Pro Black"/>
                <a:ea typeface="DejaVu Sans"/>
              </a:rPr>
              <a:t>Árvores de Decisão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CustomShape 7"/>
          <p:cNvSpPr/>
          <p:nvPr/>
        </p:nvSpPr>
        <p:spPr>
          <a:xfrm>
            <a:off x="360000" y="1980000"/>
            <a:ext cx="9168840" cy="466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CustomShape 12"/>
          <p:cNvSpPr/>
          <p:nvPr/>
        </p:nvSpPr>
        <p:spPr>
          <a:xfrm>
            <a:off x="897120" y="6886080"/>
            <a:ext cx="643608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Aprendizado de Máquina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CustomShape 13"/>
          <p:cNvSpPr/>
          <p:nvPr/>
        </p:nvSpPr>
        <p:spPr>
          <a:xfrm>
            <a:off x="7608600" y="6886080"/>
            <a:ext cx="227412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Árvores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"/>
          <p:cNvSpPr/>
          <p:nvPr/>
        </p:nvSpPr>
        <p:spPr>
          <a:xfrm>
            <a:off x="327960" y="1553760"/>
            <a:ext cx="9190080" cy="512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Estrutura Hierárquica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Cada nodo é responsável por um nível de decisão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9" name="" descr=""/>
          <p:cNvPicPr/>
          <p:nvPr/>
        </p:nvPicPr>
        <p:blipFill>
          <a:blip r:embed="rId1"/>
          <a:stretch/>
        </p:blipFill>
        <p:spPr>
          <a:xfrm>
            <a:off x="2171520" y="2815560"/>
            <a:ext cx="6130080" cy="3834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" descr=""/>
          <p:cNvPicPr/>
          <p:nvPr/>
        </p:nvPicPr>
        <p:blipFill>
          <a:blip r:embed="rId1"/>
          <a:stretch/>
        </p:blipFill>
        <p:spPr>
          <a:xfrm>
            <a:off x="5091120" y="3344040"/>
            <a:ext cx="4548960" cy="2777400"/>
          </a:xfrm>
          <a:prstGeom prst="rect">
            <a:avLst/>
          </a:prstGeom>
          <a:ln w="0">
            <a:noFill/>
          </a:ln>
        </p:spPr>
      </p:pic>
      <p:sp>
        <p:nvSpPr>
          <p:cNvPr id="201" name="CustomShape 15"/>
          <p:cNvSpPr/>
          <p:nvPr/>
        </p:nvSpPr>
        <p:spPr>
          <a:xfrm>
            <a:off x="360000" y="360000"/>
            <a:ext cx="9348840" cy="88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2600" spc="-1" strike="noStrike">
                <a:solidFill>
                  <a:srgbClr val="ffffff"/>
                </a:solidFill>
                <a:latin typeface="Source Sans Pro Black"/>
                <a:ea typeface="DejaVu Sans"/>
              </a:rPr>
              <a:t>Árvores de Decisão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CustomShape 16"/>
          <p:cNvSpPr/>
          <p:nvPr/>
        </p:nvSpPr>
        <p:spPr>
          <a:xfrm>
            <a:off x="360000" y="1980000"/>
            <a:ext cx="9168840" cy="466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CustomShape 17"/>
          <p:cNvSpPr/>
          <p:nvPr/>
        </p:nvSpPr>
        <p:spPr>
          <a:xfrm>
            <a:off x="897120" y="6886080"/>
            <a:ext cx="643608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Aprendizado de Máquina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CustomShape 18"/>
          <p:cNvSpPr/>
          <p:nvPr/>
        </p:nvSpPr>
        <p:spPr>
          <a:xfrm>
            <a:off x="7608600" y="6886080"/>
            <a:ext cx="227412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Árvores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"/>
          <p:cNvSpPr/>
          <p:nvPr/>
        </p:nvSpPr>
        <p:spPr>
          <a:xfrm>
            <a:off x="327960" y="1553760"/>
            <a:ext cx="9190080" cy="512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Como definir atributos relevantes?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Como definir a hierarquia entre os atributos?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6" name="" descr=""/>
          <p:cNvPicPr/>
          <p:nvPr/>
        </p:nvPicPr>
        <p:blipFill>
          <a:blip r:embed="rId2"/>
          <a:stretch/>
        </p:blipFill>
        <p:spPr>
          <a:xfrm>
            <a:off x="505440" y="2927160"/>
            <a:ext cx="3649320" cy="3330360"/>
          </a:xfrm>
          <a:prstGeom prst="rect">
            <a:avLst/>
          </a:prstGeom>
          <a:ln w="0">
            <a:noFill/>
          </a:ln>
        </p:spPr>
      </p:pic>
      <p:sp>
        <p:nvSpPr>
          <p:cNvPr id="207" name=""/>
          <p:cNvSpPr/>
          <p:nvPr/>
        </p:nvSpPr>
        <p:spPr>
          <a:xfrm>
            <a:off x="4343400" y="3429000"/>
            <a:ext cx="1370520" cy="6847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?????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CustomShape 20"/>
          <p:cNvSpPr/>
          <p:nvPr/>
        </p:nvSpPr>
        <p:spPr>
          <a:xfrm>
            <a:off x="360000" y="360000"/>
            <a:ext cx="9348840" cy="88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2600" spc="-1" strike="noStrike">
                <a:solidFill>
                  <a:srgbClr val="ffffff"/>
                </a:solidFill>
                <a:latin typeface="Source Sans Pro Black"/>
                <a:ea typeface="DejaVu Sans"/>
              </a:rPr>
              <a:t>Árvores de Decisão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CustomShape 21"/>
          <p:cNvSpPr/>
          <p:nvPr/>
        </p:nvSpPr>
        <p:spPr>
          <a:xfrm>
            <a:off x="360000" y="1980000"/>
            <a:ext cx="9168840" cy="466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CustomShape 22"/>
          <p:cNvSpPr/>
          <p:nvPr/>
        </p:nvSpPr>
        <p:spPr>
          <a:xfrm>
            <a:off x="897120" y="6886080"/>
            <a:ext cx="643608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Aprendizado de Máquina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CustomShape 23"/>
          <p:cNvSpPr/>
          <p:nvPr/>
        </p:nvSpPr>
        <p:spPr>
          <a:xfrm>
            <a:off x="7608600" y="6886080"/>
            <a:ext cx="227412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Árvores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"/>
          <p:cNvSpPr/>
          <p:nvPr/>
        </p:nvSpPr>
        <p:spPr>
          <a:xfrm>
            <a:off x="327960" y="1553760"/>
            <a:ext cx="9190080" cy="512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Como definir atributos relevantes e limiares?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Como definir a hierarquia entre os atributos?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Entropia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Ganho de Informação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Gain(S, A) = Entropy(S) - ∑[ p(Sv) * Entropy(Sv) ]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3" name="" descr=""/>
          <p:cNvPicPr/>
          <p:nvPr/>
        </p:nvPicPr>
        <p:blipFill>
          <a:blip r:embed="rId1"/>
          <a:stretch/>
        </p:blipFill>
        <p:spPr>
          <a:xfrm>
            <a:off x="1345680" y="3785400"/>
            <a:ext cx="2772000" cy="777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CustomShape 25"/>
          <p:cNvSpPr/>
          <p:nvPr/>
        </p:nvSpPr>
        <p:spPr>
          <a:xfrm>
            <a:off x="360000" y="360000"/>
            <a:ext cx="9348840" cy="88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2600" spc="-1" strike="noStrike">
                <a:solidFill>
                  <a:srgbClr val="ffffff"/>
                </a:solidFill>
                <a:latin typeface="Source Sans Pro Black"/>
                <a:ea typeface="DejaVu Sans"/>
              </a:rPr>
              <a:t>Árvores de Decisão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CustomShape 26"/>
          <p:cNvSpPr/>
          <p:nvPr/>
        </p:nvSpPr>
        <p:spPr>
          <a:xfrm>
            <a:off x="360000" y="1980000"/>
            <a:ext cx="9168840" cy="466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CustomShape 27"/>
          <p:cNvSpPr/>
          <p:nvPr/>
        </p:nvSpPr>
        <p:spPr>
          <a:xfrm>
            <a:off x="897120" y="6886080"/>
            <a:ext cx="643608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Aprendizado de Máquina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CustomShape 28"/>
          <p:cNvSpPr/>
          <p:nvPr/>
        </p:nvSpPr>
        <p:spPr>
          <a:xfrm>
            <a:off x="7608600" y="6886080"/>
            <a:ext cx="227412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Árvores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"/>
          <p:cNvSpPr/>
          <p:nvPr/>
        </p:nvSpPr>
        <p:spPr>
          <a:xfrm>
            <a:off x="327960" y="1517760"/>
            <a:ext cx="9190080" cy="512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Entropia: Grau de Incerteza ou Desordem dos </a:t>
            </a:r>
            <a:r>
              <a:rPr b="1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DADOS</a:t>
            </a:r>
            <a:r>
              <a:rPr b="0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S = Dataset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C = Número de Classes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P</a:t>
            </a:r>
            <a:r>
              <a:rPr b="0" lang="pt-BR" sz="1600" spc="-1" strike="noStrike" baseline="-8000">
                <a:solidFill>
                  <a:srgbClr val="1c1c1c"/>
                </a:solidFill>
                <a:latin typeface="Latin Modern Sans"/>
                <a:ea typeface="DejaVu Sans"/>
              </a:rPr>
              <a:t>i</a:t>
            </a: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= proporção da classe ‘i’ no conjunto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E = 1 (Entropia Máxima)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9" name="" descr=""/>
          <p:cNvPicPr/>
          <p:nvPr/>
        </p:nvPicPr>
        <p:blipFill>
          <a:blip r:embed="rId1"/>
          <a:stretch/>
        </p:blipFill>
        <p:spPr>
          <a:xfrm>
            <a:off x="757440" y="2510640"/>
            <a:ext cx="2772000" cy="777600"/>
          </a:xfrm>
          <a:prstGeom prst="rect">
            <a:avLst/>
          </a:prstGeom>
          <a:ln w="0">
            <a:noFill/>
          </a:ln>
        </p:spPr>
      </p:pic>
      <p:pic>
        <p:nvPicPr>
          <p:cNvPr id="220" name="" descr=""/>
          <p:cNvPicPr/>
          <p:nvPr/>
        </p:nvPicPr>
        <p:blipFill>
          <a:blip r:embed="rId2"/>
          <a:stretch/>
        </p:blipFill>
        <p:spPr>
          <a:xfrm>
            <a:off x="5266080" y="2514600"/>
            <a:ext cx="3649320" cy="3330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" descr=""/>
          <p:cNvPicPr/>
          <p:nvPr/>
        </p:nvPicPr>
        <p:blipFill>
          <a:blip r:embed="rId1"/>
          <a:srcRect l="0" t="937" r="838" b="-1197"/>
          <a:stretch/>
        </p:blipFill>
        <p:spPr>
          <a:xfrm>
            <a:off x="6386040" y="4146480"/>
            <a:ext cx="2930040" cy="2559600"/>
          </a:xfrm>
          <a:prstGeom prst="rect">
            <a:avLst/>
          </a:prstGeom>
          <a:ln w="0">
            <a:noFill/>
          </a:ln>
        </p:spPr>
      </p:pic>
      <p:sp>
        <p:nvSpPr>
          <p:cNvPr id="222" name="CustomShape 30"/>
          <p:cNvSpPr/>
          <p:nvPr/>
        </p:nvSpPr>
        <p:spPr>
          <a:xfrm>
            <a:off x="360000" y="360000"/>
            <a:ext cx="9348840" cy="88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2600" spc="-1" strike="noStrike">
                <a:solidFill>
                  <a:srgbClr val="ffffff"/>
                </a:solidFill>
                <a:latin typeface="Source Sans Pro Black"/>
                <a:ea typeface="DejaVu Sans"/>
              </a:rPr>
              <a:t>Árvores de Decisão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CustomShape 31"/>
          <p:cNvSpPr/>
          <p:nvPr/>
        </p:nvSpPr>
        <p:spPr>
          <a:xfrm>
            <a:off x="360000" y="1980000"/>
            <a:ext cx="9168840" cy="466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CustomShape 32"/>
          <p:cNvSpPr/>
          <p:nvPr/>
        </p:nvSpPr>
        <p:spPr>
          <a:xfrm>
            <a:off x="897120" y="6886080"/>
            <a:ext cx="643608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Aprendizado de Máquina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CustomShape 33"/>
          <p:cNvSpPr/>
          <p:nvPr/>
        </p:nvSpPr>
        <p:spPr>
          <a:xfrm>
            <a:off x="7608600" y="6886080"/>
            <a:ext cx="227412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Árvores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"/>
          <p:cNvSpPr/>
          <p:nvPr/>
        </p:nvSpPr>
        <p:spPr>
          <a:xfrm>
            <a:off x="327960" y="1553760"/>
            <a:ext cx="9190080" cy="512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Calcular a entropia do conjunto abaixo: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50 bolas vermelhas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50 bolas azuis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	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425"/>
              </a:spcAf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spcBef>
                <a:spcPts val="340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E = [-p(vermelha) * log2(p(vermelha))] + [- p(azul) * log2(p(azul))]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spcBef>
                <a:spcPts val="340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E = [-0.5 * log2(0.5)] + [-0.5 * log2(0.5)]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spcBef>
                <a:spcPts val="340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E = [-0.5 * (-1)] + [- 0.5 * (-1)] = 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425"/>
              </a:spcAf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340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E para 98 vermelhas e 2 azuis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spcBef>
                <a:spcPts val="340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E = [-0.98 * log2(0.98)] + [-0.02 * log2(0.02)]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spcBef>
                <a:spcPts val="340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E = 0.141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425"/>
              </a:spcAf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425"/>
              </a:spcAf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7" name="" descr=""/>
          <p:cNvPicPr/>
          <p:nvPr/>
        </p:nvPicPr>
        <p:blipFill>
          <a:blip r:embed="rId2"/>
          <a:stretch/>
        </p:blipFill>
        <p:spPr>
          <a:xfrm>
            <a:off x="1037520" y="3120840"/>
            <a:ext cx="2404440" cy="674280"/>
          </a:xfrm>
          <a:prstGeom prst="rect">
            <a:avLst/>
          </a:prstGeom>
          <a:ln w="0">
            <a:noFill/>
          </a:ln>
        </p:spPr>
      </p:pic>
      <p:pic>
        <p:nvPicPr>
          <p:cNvPr id="228" name="" descr=""/>
          <p:cNvPicPr/>
          <p:nvPr/>
        </p:nvPicPr>
        <p:blipFill>
          <a:blip r:embed="rId3"/>
          <a:stretch/>
        </p:blipFill>
        <p:spPr>
          <a:xfrm>
            <a:off x="5196600" y="1924920"/>
            <a:ext cx="4406040" cy="1798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CustomShape 35"/>
          <p:cNvSpPr/>
          <p:nvPr/>
        </p:nvSpPr>
        <p:spPr>
          <a:xfrm>
            <a:off x="360000" y="360000"/>
            <a:ext cx="9348840" cy="88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2600" spc="-1" strike="noStrike">
                <a:solidFill>
                  <a:srgbClr val="ffffff"/>
                </a:solidFill>
                <a:latin typeface="Source Sans Pro Black"/>
                <a:ea typeface="DejaVu Sans"/>
              </a:rPr>
              <a:t>Árvores de Decisão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CustomShape 36"/>
          <p:cNvSpPr/>
          <p:nvPr/>
        </p:nvSpPr>
        <p:spPr>
          <a:xfrm>
            <a:off x="360000" y="1980000"/>
            <a:ext cx="9168840" cy="466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CustomShape 37"/>
          <p:cNvSpPr/>
          <p:nvPr/>
        </p:nvSpPr>
        <p:spPr>
          <a:xfrm>
            <a:off x="897120" y="6886080"/>
            <a:ext cx="643608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Aprendizado de Máquina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CustomShape 38"/>
          <p:cNvSpPr/>
          <p:nvPr/>
        </p:nvSpPr>
        <p:spPr>
          <a:xfrm>
            <a:off x="7608600" y="6886080"/>
            <a:ext cx="227412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Árvores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"/>
          <p:cNvSpPr/>
          <p:nvPr/>
        </p:nvSpPr>
        <p:spPr>
          <a:xfrm>
            <a:off x="327960" y="1553760"/>
            <a:ext cx="9190080" cy="512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Entropia vs Probabilidade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340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Probabilidade: Chance ou Incerteza relacionada a um </a:t>
            </a:r>
            <a:r>
              <a:rPr b="1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evento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340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Entropia: Incerteza ou Desordem associada a um conjunto de</a:t>
            </a:r>
            <a:r>
              <a:rPr b="0" lang="pt-BR" sz="15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</a:t>
            </a:r>
            <a:r>
              <a:rPr b="1" lang="pt-BR" sz="15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dados</a:t>
            </a:r>
            <a:r>
              <a:rPr b="0" lang="pt-BR" sz="15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Dado 50 bolas vermelhas e 50 bolas azuis, então:</a:t>
            </a:r>
            <a:r>
              <a:rPr b="0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	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340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Entropia = 1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340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Probabilidade Vermelha = 50%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340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Probabilidade Azul = 50%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425"/>
              </a:spcAf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Dado 98 bolas vermelhas e 2 bolas azuis, então:</a:t>
            </a:r>
            <a:r>
              <a:rPr b="0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	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340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Entropia Conjunto = 0.141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340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Probabilidade Vermelha = 98%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340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Probabilidade Azul = 2%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425"/>
              </a:spcAf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425"/>
              </a:spcAf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425"/>
              </a:spcAf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425"/>
              </a:spcAf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CustomShape 40"/>
          <p:cNvSpPr/>
          <p:nvPr/>
        </p:nvSpPr>
        <p:spPr>
          <a:xfrm>
            <a:off x="360000" y="360000"/>
            <a:ext cx="9348840" cy="88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2600" spc="-1" strike="noStrike">
                <a:solidFill>
                  <a:srgbClr val="ffffff"/>
                </a:solidFill>
                <a:latin typeface="Source Sans Pro Black"/>
                <a:ea typeface="DejaVu Sans"/>
              </a:rPr>
              <a:t>Árvores de Decisão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CustomShape 41"/>
          <p:cNvSpPr/>
          <p:nvPr/>
        </p:nvSpPr>
        <p:spPr>
          <a:xfrm>
            <a:off x="360000" y="1980000"/>
            <a:ext cx="9168840" cy="466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CustomShape 42"/>
          <p:cNvSpPr/>
          <p:nvPr/>
        </p:nvSpPr>
        <p:spPr>
          <a:xfrm>
            <a:off x="897120" y="6886080"/>
            <a:ext cx="643608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Aprendizado de Máquina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CustomShape 43"/>
          <p:cNvSpPr/>
          <p:nvPr/>
        </p:nvSpPr>
        <p:spPr>
          <a:xfrm>
            <a:off x="7608600" y="6886080"/>
            <a:ext cx="227412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Árvores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"/>
          <p:cNvSpPr/>
          <p:nvPr/>
        </p:nvSpPr>
        <p:spPr>
          <a:xfrm>
            <a:off x="327960" y="1553760"/>
            <a:ext cx="9190080" cy="512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Ganho de Informação: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Gain(S, A) = Entropy(S) - ∑[ p(Sv) * Entropy(Sv) ]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‘</a:t>
            </a:r>
            <a:r>
              <a:rPr b="0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A’ é o atributo que está sendo avaliado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‘</a:t>
            </a:r>
            <a:r>
              <a:rPr b="0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Sv’ é o subconjunto dos dados que corresponde ao valor v do atributo 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‘</a:t>
            </a:r>
            <a:r>
              <a:rPr b="0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p(Sv)’ é a proporção dos valores em ‘Sv’ em relação ao número de valores no conjunto de dados ‘S’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‘</a:t>
            </a:r>
            <a:r>
              <a:rPr b="0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Entropy(S)’ e ‘Entropy(Sv)’ são as entropias do conjunto de dados original e dos subconjuntos resultantes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CustomShape 45"/>
          <p:cNvSpPr/>
          <p:nvPr/>
        </p:nvSpPr>
        <p:spPr>
          <a:xfrm>
            <a:off x="360000" y="360000"/>
            <a:ext cx="9348840" cy="88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2600" spc="-1" strike="noStrike">
                <a:solidFill>
                  <a:srgbClr val="ffffff"/>
                </a:solidFill>
                <a:latin typeface="Source Sans Pro Black"/>
                <a:ea typeface="DejaVu Sans"/>
              </a:rPr>
              <a:t>Árvores de Decisão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CustomShape 46"/>
          <p:cNvSpPr/>
          <p:nvPr/>
        </p:nvSpPr>
        <p:spPr>
          <a:xfrm>
            <a:off x="360000" y="1980000"/>
            <a:ext cx="9168840" cy="466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CustomShape 47"/>
          <p:cNvSpPr/>
          <p:nvPr/>
        </p:nvSpPr>
        <p:spPr>
          <a:xfrm>
            <a:off x="897120" y="6886080"/>
            <a:ext cx="643608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Aprendizado de Máquina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CustomShape 48"/>
          <p:cNvSpPr/>
          <p:nvPr/>
        </p:nvSpPr>
        <p:spPr>
          <a:xfrm>
            <a:off x="7608600" y="6886080"/>
            <a:ext cx="227412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Árvores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"/>
          <p:cNvSpPr/>
          <p:nvPr/>
        </p:nvSpPr>
        <p:spPr>
          <a:xfrm>
            <a:off x="327600" y="1553760"/>
            <a:ext cx="9190080" cy="512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Calculando a entropia da classe "play tennis":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5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Probabilidade de jogar tênis: 9/14 (Yes) , 5/14 (No)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5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Entropia 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5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(9/14) * log2(9/14) - (5/14) * log2(5/14) = 0.940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"/>
          <p:cNvSpPr/>
          <p:nvPr/>
        </p:nvSpPr>
        <p:spPr>
          <a:xfrm>
            <a:off x="3501720" y="1623960"/>
            <a:ext cx="6261840" cy="35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Gain(S, A) = Entropy(S) - ∑[ p(Sv) * Entropy(Sv) ]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5" name="" descr=""/>
          <p:cNvPicPr/>
          <p:nvPr/>
        </p:nvPicPr>
        <p:blipFill>
          <a:blip r:embed="rId1"/>
          <a:stretch/>
        </p:blipFill>
        <p:spPr>
          <a:xfrm>
            <a:off x="5984280" y="1973520"/>
            <a:ext cx="3581280" cy="4798800"/>
          </a:xfrm>
          <a:prstGeom prst="rect">
            <a:avLst/>
          </a:prstGeom>
          <a:ln w="0">
            <a:noFill/>
          </a:ln>
        </p:spPr>
      </p:pic>
      <p:pic>
        <p:nvPicPr>
          <p:cNvPr id="246" name="" descr=""/>
          <p:cNvPicPr/>
          <p:nvPr/>
        </p:nvPicPr>
        <p:blipFill>
          <a:blip r:embed="rId2"/>
          <a:stretch/>
        </p:blipFill>
        <p:spPr>
          <a:xfrm>
            <a:off x="540000" y="1553760"/>
            <a:ext cx="2052000" cy="575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CustomShape 80"/>
          <p:cNvSpPr/>
          <p:nvPr/>
        </p:nvSpPr>
        <p:spPr>
          <a:xfrm>
            <a:off x="360000" y="360000"/>
            <a:ext cx="9348840" cy="88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2600" spc="-1" strike="noStrike">
                <a:solidFill>
                  <a:srgbClr val="ffffff"/>
                </a:solidFill>
                <a:latin typeface="Source Sans Pro Black"/>
                <a:ea typeface="DejaVu Sans"/>
              </a:rPr>
              <a:t>Árvores de Decisão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CustomShape 81"/>
          <p:cNvSpPr/>
          <p:nvPr/>
        </p:nvSpPr>
        <p:spPr>
          <a:xfrm>
            <a:off x="360000" y="1980000"/>
            <a:ext cx="9168840" cy="466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CustomShape 82"/>
          <p:cNvSpPr/>
          <p:nvPr/>
        </p:nvSpPr>
        <p:spPr>
          <a:xfrm>
            <a:off x="897120" y="6886080"/>
            <a:ext cx="643608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Aprendizado de Máquina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CustomShape 83"/>
          <p:cNvSpPr/>
          <p:nvPr/>
        </p:nvSpPr>
        <p:spPr>
          <a:xfrm>
            <a:off x="7608600" y="6886080"/>
            <a:ext cx="227412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Árvores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"/>
          <p:cNvSpPr/>
          <p:nvPr/>
        </p:nvSpPr>
        <p:spPr>
          <a:xfrm>
            <a:off x="327600" y="1553760"/>
            <a:ext cx="9190080" cy="512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Calculando a entropia para cada valor do atributo "humidity":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5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Humidity = High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5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Probabilidade de jogar tênis: 3/7 (Yes), 4/7 (No)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5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Entropia 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3" marL="864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5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- (3/7) * log2(3/7) - (4/7) * log2(4/7) = 0.985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5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Humidity = Normal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5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Probabilidade de jogar tênis: 6/7 (Yes),  1/7 (No)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Entropia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3" marL="864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-(6/7) * log2(6/7) - (1/7) * log2(1/7) = 0.592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Ganho de informação: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	</a:t>
            </a:r>
            <a:r>
              <a:rPr b="0" lang="pt-BR" sz="15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0.940 - [(7/14)*0.985 + (7/14)*0.592] = 0.151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2" name="" descr=""/>
          <p:cNvPicPr/>
          <p:nvPr/>
        </p:nvPicPr>
        <p:blipFill>
          <a:blip r:embed="rId1"/>
          <a:stretch/>
        </p:blipFill>
        <p:spPr>
          <a:xfrm>
            <a:off x="6247080" y="2325600"/>
            <a:ext cx="3318480" cy="4446720"/>
          </a:xfrm>
          <a:prstGeom prst="rect">
            <a:avLst/>
          </a:prstGeom>
          <a:ln w="0">
            <a:noFill/>
          </a:ln>
        </p:spPr>
      </p:pic>
      <p:sp>
        <p:nvSpPr>
          <p:cNvPr id="253" name=""/>
          <p:cNvSpPr/>
          <p:nvPr/>
        </p:nvSpPr>
        <p:spPr>
          <a:xfrm>
            <a:off x="3501720" y="1623960"/>
            <a:ext cx="6261840" cy="35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Gain(S, A) = Entropy(S) - ∑[ p(Sv) * Entropy(Sv) ]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4" name="" descr=""/>
          <p:cNvPicPr/>
          <p:nvPr/>
        </p:nvPicPr>
        <p:blipFill>
          <a:blip r:embed="rId2"/>
          <a:stretch/>
        </p:blipFill>
        <p:spPr>
          <a:xfrm>
            <a:off x="540360" y="1554120"/>
            <a:ext cx="1437840" cy="402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CustomShape 50"/>
          <p:cNvSpPr/>
          <p:nvPr/>
        </p:nvSpPr>
        <p:spPr>
          <a:xfrm>
            <a:off x="360000" y="360000"/>
            <a:ext cx="9348840" cy="88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2600" spc="-1" strike="noStrike">
                <a:solidFill>
                  <a:srgbClr val="ffffff"/>
                </a:solidFill>
                <a:latin typeface="Source Sans Pro Black"/>
                <a:ea typeface="DejaVu Sans"/>
              </a:rPr>
              <a:t>Árvores de Decisão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CustomShape 52"/>
          <p:cNvSpPr/>
          <p:nvPr/>
        </p:nvSpPr>
        <p:spPr>
          <a:xfrm>
            <a:off x="897120" y="6886080"/>
            <a:ext cx="643608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Aprendizado de Máquina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CustomShape 53"/>
          <p:cNvSpPr/>
          <p:nvPr/>
        </p:nvSpPr>
        <p:spPr>
          <a:xfrm>
            <a:off x="7608600" y="6886080"/>
            <a:ext cx="227412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Árvores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"/>
          <p:cNvSpPr/>
          <p:nvPr/>
        </p:nvSpPr>
        <p:spPr>
          <a:xfrm>
            <a:off x="327600" y="1553760"/>
            <a:ext cx="9190080" cy="512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Calculando a entropia para cada valor do atributo "outlook":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Outlook = Sunny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Probabilidade de jogar tênis: 2/5 (Yes), 3/5 (No)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Entropia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3" marL="864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- (2/5) * log2(2/5) - (3/5) * log2(3/5) = 0.971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Outlook = Overcast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Probabilidade de jogar tênis: 4/4 (Yes), 0/4 (No)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Entropia = 0 (já que todos jogaram tênis)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Outlook = Rainy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Probabilidade de jogar tênis: 3/5 (Yes), 2/5 (No)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Entropia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3" marL="864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- (3/5) * log2(3/5) - (2/5) * log2(2/5) = 0.971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Ganho de informação = </a:t>
            </a:r>
            <a:r>
              <a:rPr b="0" lang="pt-BR" sz="16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0.940 - [(5/14)*0.971 + (4/14)*0 + (5/14)*0.971] = 0.247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9" name="" descr=""/>
          <p:cNvPicPr/>
          <p:nvPr/>
        </p:nvPicPr>
        <p:blipFill>
          <a:blip r:embed="rId1"/>
          <a:stretch/>
        </p:blipFill>
        <p:spPr>
          <a:xfrm>
            <a:off x="6463800" y="2325600"/>
            <a:ext cx="3101760" cy="4156200"/>
          </a:xfrm>
          <a:prstGeom prst="rect">
            <a:avLst/>
          </a:prstGeom>
          <a:ln w="0">
            <a:noFill/>
          </a:ln>
        </p:spPr>
      </p:pic>
      <p:sp>
        <p:nvSpPr>
          <p:cNvPr id="260" name=""/>
          <p:cNvSpPr/>
          <p:nvPr/>
        </p:nvSpPr>
        <p:spPr>
          <a:xfrm>
            <a:off x="3501720" y="1623960"/>
            <a:ext cx="6261840" cy="35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Gain(S, A) = Entropy(S) - ∑[ p(Sv) * Entropy(Sv) ]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1" name="" descr=""/>
          <p:cNvPicPr/>
          <p:nvPr/>
        </p:nvPicPr>
        <p:blipFill>
          <a:blip r:embed="rId2"/>
          <a:stretch/>
        </p:blipFill>
        <p:spPr>
          <a:xfrm>
            <a:off x="540720" y="1554120"/>
            <a:ext cx="1437840" cy="402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CustomShape 55"/>
          <p:cNvSpPr/>
          <p:nvPr/>
        </p:nvSpPr>
        <p:spPr>
          <a:xfrm>
            <a:off x="360000" y="360000"/>
            <a:ext cx="9348840" cy="88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2600" spc="-1" strike="noStrike">
                <a:solidFill>
                  <a:srgbClr val="ffffff"/>
                </a:solidFill>
                <a:latin typeface="Source Sans Pro Black"/>
                <a:ea typeface="DejaVu Sans"/>
              </a:rPr>
              <a:t>Árvores de Decisão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CustomShape 56"/>
          <p:cNvSpPr/>
          <p:nvPr/>
        </p:nvSpPr>
        <p:spPr>
          <a:xfrm>
            <a:off x="360000" y="1980000"/>
            <a:ext cx="9168840" cy="466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CustomShape 57"/>
          <p:cNvSpPr/>
          <p:nvPr/>
        </p:nvSpPr>
        <p:spPr>
          <a:xfrm>
            <a:off x="897120" y="6886080"/>
            <a:ext cx="643608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Aprendizado de Máquina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CustomShape 58"/>
          <p:cNvSpPr/>
          <p:nvPr/>
        </p:nvSpPr>
        <p:spPr>
          <a:xfrm>
            <a:off x="7608600" y="6886080"/>
            <a:ext cx="227412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Árvores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"/>
          <p:cNvSpPr/>
          <p:nvPr/>
        </p:nvSpPr>
        <p:spPr>
          <a:xfrm>
            <a:off x="327960" y="1553760"/>
            <a:ext cx="9190080" cy="512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Resumindo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Gain (Tennis, Humidity) = 0.151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Gain (Tennis, Outlook) = 0.247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Logo, Outlook tem mais ganho de informação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7" name="" descr=""/>
          <p:cNvPicPr/>
          <p:nvPr/>
        </p:nvPicPr>
        <p:blipFill>
          <a:blip r:embed="rId1"/>
          <a:stretch/>
        </p:blipFill>
        <p:spPr>
          <a:xfrm>
            <a:off x="6275160" y="2185560"/>
            <a:ext cx="3318480" cy="4446720"/>
          </a:xfrm>
          <a:prstGeom prst="rect">
            <a:avLst/>
          </a:prstGeom>
          <a:ln w="0">
            <a:noFill/>
          </a:ln>
        </p:spPr>
      </p:pic>
      <p:sp>
        <p:nvSpPr>
          <p:cNvPr id="268" name=""/>
          <p:cNvSpPr/>
          <p:nvPr/>
        </p:nvSpPr>
        <p:spPr>
          <a:xfrm>
            <a:off x="3501720" y="1623960"/>
            <a:ext cx="6261840" cy="35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Gain(S, A) = Entropy(S) - ∑[ p(Sv) * Entropy(Sv) ]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9" name="" descr=""/>
          <p:cNvPicPr/>
          <p:nvPr/>
        </p:nvPicPr>
        <p:blipFill>
          <a:blip r:embed="rId2"/>
          <a:stretch/>
        </p:blipFill>
        <p:spPr>
          <a:xfrm>
            <a:off x="540720" y="1554120"/>
            <a:ext cx="1437840" cy="402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CustomShape 60"/>
          <p:cNvSpPr/>
          <p:nvPr/>
        </p:nvSpPr>
        <p:spPr>
          <a:xfrm>
            <a:off x="360000" y="360000"/>
            <a:ext cx="9348840" cy="88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2600" spc="-1" strike="noStrike">
                <a:solidFill>
                  <a:srgbClr val="ffffff"/>
                </a:solidFill>
                <a:latin typeface="Source Sans Pro Black"/>
                <a:ea typeface="DejaVu Sans"/>
              </a:rPr>
              <a:t>Árvores de Decisão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CustomShape 61"/>
          <p:cNvSpPr/>
          <p:nvPr/>
        </p:nvSpPr>
        <p:spPr>
          <a:xfrm>
            <a:off x="360000" y="1980000"/>
            <a:ext cx="9168840" cy="466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CustomShape 62"/>
          <p:cNvSpPr/>
          <p:nvPr/>
        </p:nvSpPr>
        <p:spPr>
          <a:xfrm>
            <a:off x="897120" y="6886080"/>
            <a:ext cx="643608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Aprendizado de Máquina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CustomShape 63"/>
          <p:cNvSpPr/>
          <p:nvPr/>
        </p:nvSpPr>
        <p:spPr>
          <a:xfrm>
            <a:off x="7608600" y="6886080"/>
            <a:ext cx="227412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Árvores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"/>
          <p:cNvSpPr/>
          <p:nvPr/>
        </p:nvSpPr>
        <p:spPr>
          <a:xfrm>
            <a:off x="327960" y="1553760"/>
            <a:ext cx="9190080" cy="512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Quando parar de construir a árvore?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De maneira breve: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5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Quando todos os nós folha são puros 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5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(nós folha têm dados que pertencem a uma única classe).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5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Quando um determinado critério é atingido (I.E Altura, tempo...)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5" name="" descr=""/>
          <p:cNvPicPr/>
          <p:nvPr/>
        </p:nvPicPr>
        <p:blipFill>
          <a:blip r:embed="rId1"/>
          <a:stretch/>
        </p:blipFill>
        <p:spPr>
          <a:xfrm>
            <a:off x="3060000" y="3918600"/>
            <a:ext cx="4548960" cy="2777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CustomShape 65"/>
          <p:cNvSpPr/>
          <p:nvPr/>
        </p:nvSpPr>
        <p:spPr>
          <a:xfrm>
            <a:off x="360000" y="360000"/>
            <a:ext cx="9348840" cy="88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2600" spc="-1" strike="noStrike">
                <a:solidFill>
                  <a:srgbClr val="ffffff"/>
                </a:solidFill>
                <a:latin typeface="Source Sans Pro Black"/>
                <a:ea typeface="DejaVu Sans"/>
              </a:rPr>
              <a:t>Árvores de Decisão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CustomShape 66"/>
          <p:cNvSpPr/>
          <p:nvPr/>
        </p:nvSpPr>
        <p:spPr>
          <a:xfrm>
            <a:off x="360000" y="1980000"/>
            <a:ext cx="9168840" cy="466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CustomShape 67"/>
          <p:cNvSpPr/>
          <p:nvPr/>
        </p:nvSpPr>
        <p:spPr>
          <a:xfrm>
            <a:off x="897120" y="6886080"/>
            <a:ext cx="643608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Aprendizado de Máquina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CustomShape 68"/>
          <p:cNvSpPr/>
          <p:nvPr/>
        </p:nvSpPr>
        <p:spPr>
          <a:xfrm>
            <a:off x="7608600" y="6886080"/>
            <a:ext cx="227412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Árvores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"/>
          <p:cNvSpPr/>
          <p:nvPr/>
        </p:nvSpPr>
        <p:spPr>
          <a:xfrm>
            <a:off x="327960" y="1553760"/>
            <a:ext cx="9190080" cy="512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Vantagens: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Interpretabilidade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Velocidade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Desvantagens: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Overfitting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Sensibilidade a dados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Dificuldade em capturar relações complexas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CustomShape 70"/>
          <p:cNvSpPr/>
          <p:nvPr/>
        </p:nvSpPr>
        <p:spPr>
          <a:xfrm>
            <a:off x="360000" y="360000"/>
            <a:ext cx="9348840" cy="88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pt-BR" sz="2600" spc="-1" strike="noStrike">
                <a:solidFill>
                  <a:srgbClr val="ffffff"/>
                </a:solidFill>
                <a:latin typeface="Source Sans Pro Black"/>
                <a:ea typeface="DejaVu Sans"/>
              </a:rPr>
              <a:t>Árvores de Decisão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CustomShape 71"/>
          <p:cNvSpPr/>
          <p:nvPr/>
        </p:nvSpPr>
        <p:spPr>
          <a:xfrm>
            <a:off x="360000" y="1980000"/>
            <a:ext cx="9168840" cy="466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140"/>
              </a:spcAf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CustomShape 72"/>
          <p:cNvSpPr/>
          <p:nvPr/>
        </p:nvSpPr>
        <p:spPr>
          <a:xfrm>
            <a:off x="897120" y="6886080"/>
            <a:ext cx="643608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Aprendizado de Máquina - Prof. André Hochuli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CustomShape 73"/>
          <p:cNvSpPr/>
          <p:nvPr/>
        </p:nvSpPr>
        <p:spPr>
          <a:xfrm>
            <a:off x="7608600" y="6886080"/>
            <a:ext cx="227412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  <a:ea typeface="DejaVu Sans"/>
              </a:rPr>
              <a:t>Árvores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"/>
          <p:cNvSpPr/>
          <p:nvPr/>
        </p:nvSpPr>
        <p:spPr>
          <a:xfrm>
            <a:off x="327960" y="1553760"/>
            <a:ext cx="9190080" cy="512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Let’s</a:t>
            </a:r>
            <a:r>
              <a:rPr b="0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Code</a:t>
            </a:r>
            <a:r>
              <a:rPr b="0" lang="pt-BR" sz="1800" spc="-1" strike="noStrike">
                <a:solidFill>
                  <a:srgbClr val="1c1c1c"/>
                </a:solidFill>
                <a:latin typeface="Latin Modern Sans"/>
                <a:ea typeface="DejaVu Sans"/>
              </a:rPr>
              <a:t>: </a:t>
            </a:r>
            <a:r>
              <a:rPr b="0" lang="pt-BR" sz="1800" spc="-1" strike="noStrike" u="sng">
                <a:solidFill>
                  <a:srgbClr val="0000ff"/>
                </a:solidFill>
                <a:uFillTx/>
                <a:latin typeface="Latin Modern Sans"/>
                <a:ea typeface="DejaVu Sans"/>
                <a:hlinkClick r:id="rId1"/>
              </a:rPr>
              <a:t>Tópico_03_Aprendizado_Supervisionado_Arvores_Decisão.ipynb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Aula 01 - Visão Computacional &amp; Processamento de Imagens</Template>
  <TotalTime>567</TotalTime>
  <Application>LibreOffice/24.2.7.2$Linux_X86_64 LibreOffice_project/420$Build-2</Application>
  <AppVersion>15.0000</AppVersion>
  <Words>702</Words>
  <Paragraphs>202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2022-09-17T02:35:38Z</dcterms:created>
  <dc:creator>Andre Gustavo Hochuli</dc:creator>
  <dc:description/>
  <dc:language>en-US</dc:language>
  <cp:lastModifiedBy/>
  <dcterms:modified xsi:type="dcterms:W3CDTF">2025-10-25T10:20:21Z</dcterms:modified>
  <cp:revision>52</cp:revision>
  <dc:subject/>
  <dc:title>Apresentação do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0</vt:i4>
  </property>
  <property fmtid="{D5CDD505-2E9C-101B-9397-08002B2CF9AE}" pid="3" name="HyperlinksChanged">
    <vt:bool>0</vt:bool>
  </property>
  <property fmtid="{D5CDD505-2E9C-101B-9397-08002B2CF9AE}" pid="4" name="KSOProductBuildVer">
    <vt:lpwstr>1033-11.1.0.10161</vt:lpwstr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26</vt:i4>
  </property>
  <property fmtid="{D5CDD505-2E9C-101B-9397-08002B2CF9AE}" pid="8" name="PresentationFormat">
    <vt:lpwstr>Personalizar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26</vt:i4>
  </property>
</Properties>
</file>