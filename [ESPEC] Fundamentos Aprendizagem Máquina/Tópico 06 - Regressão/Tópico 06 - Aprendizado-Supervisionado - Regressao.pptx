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5.png" ContentType="image/png"/>
  <Override PartName="/ppt/media/image6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06287DD-CD33-4998-B183-07F1C38E72A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ustomShape 3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3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5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ustomShape 1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ustomShape 1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ustomShape 2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ustomShape 2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3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3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4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ustomShape 4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5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ustomShape 5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6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CustomShape 6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ustomShape 7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CustomShape 8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ustomShape 7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ustomShape 8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hyperlink" Target="https://github.com/andrehochuli/teaching" TargetMode="Externa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AprendizadoMaquina/T&#243;pico%2002%20-%20Aprendizado%20Supervisionado/06%20-%20Regress&#227;o/Topico_02_Regress&#227;o.ipynb" TargetMode="External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60000" y="333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Regressão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540000" y="4680000"/>
            <a:ext cx="9166680" cy="25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3"/>
              </a:rPr>
              <a:t>github.com/andrehochuli/teaching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Regressão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8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vs Classificação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9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1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1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Classificação: Determina uma classe (0,1,2,3)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Regressão: Determina valores contínuos (preço, clima, vendas, logística, sinais...)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2004480" y="2880000"/>
            <a:ext cx="6093360" cy="30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6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vs Classificação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ustomShape 7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1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1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Regressão: Compreender a relação entre as características dos dados (variáveis independentes) e a variável dependente (target).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Encontrar a função (f) que aproxima o conjunto {X} em {Y} contínuo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Regressão Linear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Regressão Não Linear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Polinomial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Exponencial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…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..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3057840" y="3657600"/>
            <a:ext cx="5628960" cy="2928240"/>
          </a:xfrm>
          <a:prstGeom prst="rect">
            <a:avLst/>
          </a:prstGeom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2"/>
          <a:stretch/>
        </p:blipFill>
        <p:spPr>
          <a:xfrm>
            <a:off x="2991240" y="2921040"/>
            <a:ext cx="2495160" cy="58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- KNN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1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1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1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Considere o dataset para determinar o peso de uma pessoa: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360000" y="2700000"/>
            <a:ext cx="4368600" cy="2445840"/>
          </a:xfrm>
          <a:prstGeom prst="rect">
            <a:avLst/>
          </a:prstGeom>
          <a:ln w="0">
            <a:noFill/>
          </a:ln>
        </p:spPr>
      </p:pic>
      <p:pic>
        <p:nvPicPr>
          <p:cNvPr id="219" name="" descr=""/>
          <p:cNvPicPr/>
          <p:nvPr/>
        </p:nvPicPr>
        <p:blipFill>
          <a:blip r:embed="rId2"/>
          <a:stretch/>
        </p:blipFill>
        <p:spPr>
          <a:xfrm>
            <a:off x="4860000" y="2532600"/>
            <a:ext cx="4677840" cy="286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2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- KNN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2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ustomShape 2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Dado K vizinhos, computa-se a média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K=3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K=5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4140000" y="2103120"/>
            <a:ext cx="5436360" cy="4626720"/>
          </a:xfrm>
          <a:prstGeom prst="rect">
            <a:avLst/>
          </a:prstGeom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2"/>
          <a:stretch/>
        </p:blipFill>
        <p:spPr>
          <a:xfrm>
            <a:off x="540000" y="2700000"/>
            <a:ext cx="1769040" cy="702360"/>
          </a:xfrm>
          <a:prstGeom prst="rect">
            <a:avLst/>
          </a:prstGeom>
          <a:ln w="0">
            <a:noFill/>
          </a:ln>
        </p:spPr>
      </p:pic>
      <p:pic>
        <p:nvPicPr>
          <p:cNvPr id="227" name="" descr=""/>
          <p:cNvPicPr/>
          <p:nvPr/>
        </p:nvPicPr>
        <p:blipFill>
          <a:blip r:embed="rId3"/>
          <a:stretch/>
        </p:blipFill>
        <p:spPr>
          <a:xfrm>
            <a:off x="540000" y="4140000"/>
            <a:ext cx="2569320" cy="711720"/>
          </a:xfrm>
          <a:prstGeom prst="rect">
            <a:avLst/>
          </a:prstGeom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4"/>
          <a:srcRect l="0" t="0" r="0" b="41554"/>
          <a:stretch/>
        </p:blipFill>
        <p:spPr>
          <a:xfrm>
            <a:off x="7457040" y="4140000"/>
            <a:ext cx="2208240" cy="90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2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2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2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2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avaliar o erro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Mean-Square-Error (MSE)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1"/>
          <a:stretch/>
        </p:blipFill>
        <p:spPr>
          <a:xfrm>
            <a:off x="500040" y="2880000"/>
            <a:ext cx="2557800" cy="14378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35" name=""/>
          <p:cNvGraphicFramePr/>
          <p:nvPr/>
        </p:nvGraphicFramePr>
        <p:xfrm>
          <a:off x="3960000" y="2018160"/>
          <a:ext cx="5399640" cy="2434320"/>
        </p:xfrm>
        <a:graphic>
          <a:graphicData uri="http://schemas.openxmlformats.org/drawingml/2006/table">
            <a:tbl>
              <a:tblPr/>
              <a:tblGrid>
                <a:gridCol w="1038600"/>
                <a:gridCol w="1038600"/>
                <a:gridCol w="1038240"/>
                <a:gridCol w="1243800"/>
                <a:gridCol w="1040760"/>
              </a:tblGrid>
              <a:tr h="347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Height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Weight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Predicted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Diff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347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5.9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47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4.5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5.3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4776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5.1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160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59.4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2160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RMSE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7.71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pic>
        <p:nvPicPr>
          <p:cNvPr id="236" name="" descr=""/>
          <p:cNvPicPr/>
          <p:nvPr/>
        </p:nvPicPr>
        <p:blipFill>
          <a:blip r:embed="rId2"/>
          <a:stretch/>
        </p:blipFill>
        <p:spPr>
          <a:xfrm>
            <a:off x="438480" y="4743720"/>
            <a:ext cx="2761920" cy="1657080"/>
          </a:xfrm>
          <a:prstGeom prst="rect">
            <a:avLst/>
          </a:prstGeom>
          <a:ln w="0">
            <a:noFill/>
          </a:ln>
        </p:spPr>
      </p:pic>
      <p:sp>
        <p:nvSpPr>
          <p:cNvPr id="237" name=""/>
          <p:cNvSpPr txBox="1"/>
          <p:nvPr/>
        </p:nvSpPr>
        <p:spPr>
          <a:xfrm>
            <a:off x="339480" y="4343400"/>
            <a:ext cx="3089520" cy="64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Root Mean-Square-Error (RMSE)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3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- Árvores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3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3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3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146880" y="1474200"/>
            <a:ext cx="5110920" cy="355500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2"/>
          <a:stretch/>
        </p:blipFill>
        <p:spPr>
          <a:xfrm>
            <a:off x="5314320" y="3143880"/>
            <a:ext cx="4389480" cy="302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3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- Árvores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3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3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ustomShape 3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Determina a homogeneidade pelo do desvio padrão, média e coeficiente de variação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1260000" y="2520000"/>
            <a:ext cx="7358760" cy="359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4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- Árvores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ustomShape 4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4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ustomShape 4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Desvio padrão para dois atributos: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" descr=""/>
          <p:cNvPicPr/>
          <p:nvPr/>
        </p:nvPicPr>
        <p:blipFill>
          <a:blip r:embed="rId1"/>
          <a:srcRect l="0" t="9106" r="0" b="0"/>
          <a:stretch/>
        </p:blipFill>
        <p:spPr>
          <a:xfrm>
            <a:off x="720000" y="2520000"/>
            <a:ext cx="7386120" cy="413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4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ustomShape 4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4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ustomShape 4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Redução do Desvio Padrão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 maior SDR é escolhido como raiz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4680000" y="1725840"/>
            <a:ext cx="3777840" cy="576000"/>
          </a:xfrm>
          <a:prstGeom prst="rect">
            <a:avLst/>
          </a:prstGeom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2"/>
          <a:stretch/>
        </p:blipFill>
        <p:spPr>
          <a:xfrm>
            <a:off x="4289040" y="2196000"/>
            <a:ext cx="4708800" cy="748800"/>
          </a:xfrm>
          <a:prstGeom prst="rect">
            <a:avLst/>
          </a:prstGeom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3"/>
          <a:stretch/>
        </p:blipFill>
        <p:spPr>
          <a:xfrm>
            <a:off x="2223000" y="3456720"/>
            <a:ext cx="5586840" cy="329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5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5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5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ustomShape 5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escolher o critério de parada?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900000" y="2404800"/>
            <a:ext cx="7722360" cy="389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5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5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5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5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Considere um limiar de CV &lt; 10% ou count &lt;=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Overcast =&gt; OK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Rainy e Sunny ainda precisam de ‘divisões’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1"/>
          <a:stretch/>
        </p:blipFill>
        <p:spPr>
          <a:xfrm>
            <a:off x="408600" y="3585960"/>
            <a:ext cx="8769240" cy="235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6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6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6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CustomShape 6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Sunny: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‘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Windy’ é determinante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Maior SDR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CV &lt; 10% ou count &lt;=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" descr=""/>
          <p:cNvPicPr/>
          <p:nvPr/>
        </p:nvPicPr>
        <p:blipFill>
          <a:blip r:embed="rId1"/>
          <a:stretch/>
        </p:blipFill>
        <p:spPr>
          <a:xfrm>
            <a:off x="3240000" y="867960"/>
            <a:ext cx="5937840" cy="3269880"/>
          </a:xfrm>
          <a:prstGeom prst="rect">
            <a:avLst/>
          </a:prstGeom>
          <a:ln w="0">
            <a:noFill/>
          </a:ln>
        </p:spPr>
      </p:pic>
      <p:pic>
        <p:nvPicPr>
          <p:cNvPr id="283" name="" descr=""/>
          <p:cNvPicPr/>
          <p:nvPr/>
        </p:nvPicPr>
        <p:blipFill>
          <a:blip r:embed="rId2"/>
          <a:stretch/>
        </p:blipFill>
        <p:spPr>
          <a:xfrm>
            <a:off x="360000" y="3960000"/>
            <a:ext cx="5649840" cy="268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" descr=""/>
          <p:cNvPicPr/>
          <p:nvPr/>
        </p:nvPicPr>
        <p:blipFill>
          <a:blip r:embed="rId1"/>
          <a:stretch/>
        </p:blipFill>
        <p:spPr>
          <a:xfrm>
            <a:off x="342360" y="3780000"/>
            <a:ext cx="6297840" cy="2874240"/>
          </a:xfrm>
          <a:prstGeom prst="rect">
            <a:avLst/>
          </a:prstGeom>
          <a:ln w="0">
            <a:noFill/>
          </a:ln>
        </p:spPr>
      </p:pic>
      <p:sp>
        <p:nvSpPr>
          <p:cNvPr id="285" name="CustomShape 6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ustomShape 6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CustomShape 6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ustomShape 6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Rainy: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‘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Temp’ é determinante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Maior SDR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CV &lt; 10% ou count &lt;=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" descr=""/>
          <p:cNvPicPr/>
          <p:nvPr/>
        </p:nvPicPr>
        <p:blipFill>
          <a:blip r:embed="rId2"/>
          <a:stretch/>
        </p:blipFill>
        <p:spPr>
          <a:xfrm>
            <a:off x="3361680" y="900000"/>
            <a:ext cx="6165000" cy="348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7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– SVM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7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7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7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1"/>
          <a:stretch/>
        </p:blipFill>
        <p:spPr>
          <a:xfrm>
            <a:off x="2160000" y="2038680"/>
            <a:ext cx="5856120" cy="425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8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– MLP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8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ustomShape 8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CustomShape 8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59840" y="1475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Perceptron – Classificação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Perceptron - Regressão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1"/>
          <a:stretch/>
        </p:blipFill>
        <p:spPr>
          <a:xfrm>
            <a:off x="2520000" y="2207160"/>
            <a:ext cx="4317840" cy="1930680"/>
          </a:xfrm>
          <a:prstGeom prst="rect">
            <a:avLst/>
          </a:prstGeom>
          <a:ln w="0">
            <a:noFill/>
          </a:ln>
        </p:spPr>
      </p:pic>
      <p:pic>
        <p:nvPicPr>
          <p:cNvPr id="304" name="" descr=""/>
          <p:cNvPicPr/>
          <p:nvPr/>
        </p:nvPicPr>
        <p:blipFill>
          <a:blip r:embed="rId2"/>
          <a:stretch/>
        </p:blipFill>
        <p:spPr>
          <a:xfrm>
            <a:off x="2551680" y="4696200"/>
            <a:ext cx="4286160" cy="193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7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Regressão – MLP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7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7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CustomShape 7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159840" y="1475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MLP – Classificação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3056400" y="2592360"/>
            <a:ext cx="4044960" cy="364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8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Lets Code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ustomShape 8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CustomShape 8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8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Regressão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159840" y="1475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Abordaremos a construção dos modelos de regressão utilizando um dataset para prever preços de casas.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Acompanhe e crie sua implementação em conjunto com o professor.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Código base em:  </a:t>
            </a:r>
            <a:r>
              <a:rPr b="0" lang="pt-BR" sz="16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Tópico 02 - Regressão.ipynb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Aula 01 - Visão Computacional &amp; Processamento de Imagens</Template>
  <TotalTime>1473</TotalTime>
  <Application>LibreOffice/24.2.7.2$Linux_X86_64 LibreOffice_project/420$Build-2</Application>
  <AppVersion>15.0000</AppVersion>
  <Words>702</Words>
  <Paragraphs>202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2022-09-17T02:35:38Z</dcterms:created>
  <dc:creator>Andre Gustavo Hochuli</dc:creator>
  <dc:description/>
  <dc:language>en-US</dc:language>
  <cp:lastModifiedBy/>
  <dcterms:modified xsi:type="dcterms:W3CDTF">2025-11-07T13:08:56Z</dcterms:modified>
  <cp:revision>75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26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26</vt:i4>
  </property>
</Properties>
</file>