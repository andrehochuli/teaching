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</p:sldMasterIdLst>
  <p:notesMasterIdLst>
    <p:notesMasterId r:id="rId38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</p:sldIdLst>
  <p:sldSz cx="10080625" cy="7559675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EAE1829-8809-4F56-8C83-56136B9B31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720" cy="37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ustomShape 3"/>
          <p:cNvSpPr/>
          <p:nvPr/>
        </p:nvSpPr>
        <p:spPr>
          <a:xfrm>
            <a:off x="0" y="9119520"/>
            <a:ext cx="3159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360" cy="37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CustomShape 3"/>
          <p:cNvSpPr/>
          <p:nvPr/>
        </p:nvSpPr>
        <p:spPr>
          <a:xfrm>
            <a:off x="0" y="9119520"/>
            <a:ext cx="315936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360" cy="37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CustomShape 3"/>
          <p:cNvSpPr/>
          <p:nvPr/>
        </p:nvSpPr>
        <p:spPr>
          <a:xfrm>
            <a:off x="0" y="9119520"/>
            <a:ext cx="3159360" cy="4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720" cy="37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CustomShape 3"/>
          <p:cNvSpPr/>
          <p:nvPr/>
        </p:nvSpPr>
        <p:spPr>
          <a:xfrm>
            <a:off x="0" y="9119520"/>
            <a:ext cx="3159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720" cy="37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CustomShape 3"/>
          <p:cNvSpPr/>
          <p:nvPr/>
        </p:nvSpPr>
        <p:spPr>
          <a:xfrm>
            <a:off x="0" y="9119520"/>
            <a:ext cx="3159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720" cy="37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CustomShape 3"/>
          <p:cNvSpPr/>
          <p:nvPr/>
        </p:nvSpPr>
        <p:spPr>
          <a:xfrm>
            <a:off x="0" y="9119520"/>
            <a:ext cx="3159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720" cy="37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CustomShape 3"/>
          <p:cNvSpPr/>
          <p:nvPr/>
        </p:nvSpPr>
        <p:spPr>
          <a:xfrm>
            <a:off x="0" y="9119520"/>
            <a:ext cx="3159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1498680" y="1200240"/>
            <a:ext cx="4308840" cy="323100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731520" y="4620240"/>
            <a:ext cx="5841720" cy="377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CustomShape 3"/>
          <p:cNvSpPr/>
          <p:nvPr/>
        </p:nvSpPr>
        <p:spPr>
          <a:xfrm>
            <a:off x="0" y="9119520"/>
            <a:ext cx="31597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520" rIns="83520" tIns="41760" bIns="41760" anchor="b">
            <a:noAutofit/>
          </a:bodyPr>
          <a:p>
            <a:pPr>
              <a:lnSpc>
                <a:spcPct val="100000"/>
              </a:lnSpc>
            </a:pPr>
            <a:r>
              <a:rPr b="0" lang="pt-BR" sz="11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7720" cy="359748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7200" cy="41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CustomShape 3"/>
          <p:cNvSpPr/>
          <p:nvPr/>
        </p:nvSpPr>
        <p:spPr>
          <a:xfrm>
            <a:off x="0" y="10155240"/>
            <a:ext cx="326556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0" y="3150000"/>
            <a:ext cx="9709560" cy="12495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0" y="180000"/>
            <a:ext cx="9709200" cy="124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7560000" y="6840000"/>
            <a:ext cx="2509200" cy="5292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CustomShape 3"/>
          <p:cNvSpPr/>
          <p:nvPr/>
        </p:nvSpPr>
        <p:spPr>
          <a:xfrm>
            <a:off x="900000" y="6840000"/>
            <a:ext cx="6469200" cy="5292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4"/>
          <p:cNvSpPr/>
          <p:nvPr/>
        </p:nvSpPr>
        <p:spPr>
          <a:xfrm>
            <a:off x="180000" y="6840000"/>
            <a:ext cx="529200" cy="5292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0" y="180000"/>
            <a:ext cx="9709560" cy="124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7560000" y="6840000"/>
            <a:ext cx="2509560" cy="5295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00000" y="6840000"/>
            <a:ext cx="6469560" cy="5295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180000" y="6840000"/>
            <a:ext cx="529560" cy="5295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LH6OIn2lBaI" TargetMode="External"/><Relationship Id="rId2" Type="http://schemas.openxmlformats.org/officeDocument/2006/relationships/hyperlink" Target="https://www.youtube.com/watch?v=ymG4kzAjeyY" TargetMode="External"/><Relationship Id="rId3" Type="http://schemas.openxmlformats.org/officeDocument/2006/relationships/slideLayout" Target="../slideLayouts/slideLayout29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360000" y="333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Tópico 04 –  Estruturas de Repetição (While)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2"/>
          <p:cNvSpPr/>
          <p:nvPr/>
        </p:nvSpPr>
        <p:spPr>
          <a:xfrm>
            <a:off x="540000" y="4680000"/>
            <a:ext cx="9169560" cy="25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360000" y="360000"/>
            <a:ext cx="9349200" cy="8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360000" y="1980000"/>
            <a:ext cx="9169200" cy="46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Estruturas de Repetição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Laço While (Enquanto)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756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897120" y="6886080"/>
            <a:ext cx="64364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4"/>
          <p:cNvSpPr/>
          <p:nvPr/>
        </p:nvSpPr>
        <p:spPr>
          <a:xfrm>
            <a:off x="7608600" y="6886080"/>
            <a:ext cx="227448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tretch/>
        </p:blipFill>
        <p:spPr>
          <a:xfrm>
            <a:off x="2471040" y="3534120"/>
            <a:ext cx="5268240" cy="1865160"/>
          </a:xfrm>
          <a:prstGeom prst="rect">
            <a:avLst/>
          </a:prstGeom>
          <a:ln w="0">
            <a:noFill/>
          </a:ln>
        </p:spPr>
      </p:pic>
      <p:sp>
        <p:nvSpPr>
          <p:cNvPr id="313" name="CustomShape 38"/>
          <p:cNvSpPr/>
          <p:nvPr/>
        </p:nvSpPr>
        <p:spPr>
          <a:xfrm>
            <a:off x="2912040" y="5106600"/>
            <a:ext cx="292680" cy="292680"/>
          </a:xfrm>
          <a:prstGeom prst="ellipse">
            <a:avLst/>
          </a:prstGeom>
          <a:solidFill>
            <a:srgbClr val="3faf4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CustomShape 39"/>
          <p:cNvSpPr/>
          <p:nvPr/>
        </p:nvSpPr>
        <p:spPr>
          <a:xfrm>
            <a:off x="2471040" y="5106600"/>
            <a:ext cx="292680" cy="292680"/>
          </a:xfrm>
          <a:prstGeom prst="ellipse">
            <a:avLst/>
          </a:prstGeom>
          <a:solidFill>
            <a:srgbClr val="3faf4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CustomShape 29"/>
          <p:cNvSpPr/>
          <p:nvPr/>
        </p:nvSpPr>
        <p:spPr>
          <a:xfrm>
            <a:off x="3376800" y="5106600"/>
            <a:ext cx="292680" cy="292680"/>
          </a:xfrm>
          <a:prstGeom prst="ellipse">
            <a:avLst/>
          </a:prstGeom>
          <a:solidFill>
            <a:srgbClr val="3faf4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CustomShape 7"/>
          <p:cNvSpPr/>
          <p:nvPr/>
        </p:nvSpPr>
        <p:spPr>
          <a:xfrm>
            <a:off x="3808800" y="5106600"/>
            <a:ext cx="292680" cy="292680"/>
          </a:xfrm>
          <a:prstGeom prst="ellipse">
            <a:avLst/>
          </a:prstGeom>
          <a:solidFill>
            <a:srgbClr val="3faf4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ustomShape 1"/>
          <p:cNvSpPr/>
          <p:nvPr/>
        </p:nvSpPr>
        <p:spPr>
          <a:xfrm>
            <a:off x="360000" y="360000"/>
            <a:ext cx="9349200" cy="8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Debate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ustomShape 2"/>
          <p:cNvSpPr/>
          <p:nvPr/>
        </p:nvSpPr>
        <p:spPr>
          <a:xfrm>
            <a:off x="360000" y="1980000"/>
            <a:ext cx="9169200" cy="46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fazer a média de 2 valores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fazer a média de 5 valores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fazer a média de 10 valores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fazer a média de 100 valores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080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fazer a média de N valores 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756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CustomShape 3"/>
          <p:cNvSpPr/>
          <p:nvPr/>
        </p:nvSpPr>
        <p:spPr>
          <a:xfrm>
            <a:off x="897120" y="6886080"/>
            <a:ext cx="643644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ustomShape 4"/>
          <p:cNvSpPr/>
          <p:nvPr/>
        </p:nvSpPr>
        <p:spPr>
          <a:xfrm>
            <a:off x="7608600" y="6886080"/>
            <a:ext cx="227448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360000" y="36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Estruturas de Repetição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897120" y="6886080"/>
            <a:ext cx="64368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CustomShape 3"/>
          <p:cNvSpPr/>
          <p:nvPr/>
        </p:nvSpPr>
        <p:spPr>
          <a:xfrm>
            <a:off x="7608600" y="6886080"/>
            <a:ext cx="22748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4"/>
          <p:cNvSpPr/>
          <p:nvPr/>
        </p:nvSpPr>
        <p:spPr>
          <a:xfrm>
            <a:off x="4919760" y="335160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11"/>
          <p:cNvSpPr/>
          <p:nvPr/>
        </p:nvSpPr>
        <p:spPr>
          <a:xfrm flipH="1" rot="10800000">
            <a:off x="17998920" y="11131200"/>
            <a:ext cx="69696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CustomShape 15"/>
          <p:cNvSpPr/>
          <p:nvPr/>
        </p:nvSpPr>
        <p:spPr>
          <a:xfrm rot="10800000">
            <a:off x="16095600" y="11131200"/>
            <a:ext cx="73332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360000" y="1705680"/>
            <a:ext cx="9169560" cy="46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Repete a execução de um bloco de código até que a condição de parada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seja atingida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Cada repetição/passo é denominada </a:t>
            </a:r>
            <a:r>
              <a:rPr b="1" i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iteração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É aplicado quando existe a necessidade de executar uma tarefa inúmeras vezes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Login e Senha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Triggers / Gatilhos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Cálculos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Etc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Losango 1"/>
          <p:cNvSpPr/>
          <p:nvPr/>
        </p:nvSpPr>
        <p:spPr>
          <a:xfrm>
            <a:off x="5839920" y="4119840"/>
            <a:ext cx="2079000" cy="1080000"/>
          </a:xfrm>
          <a:prstGeom prst="diamond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Condição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Fluxograma: Processo Predefinido 2"/>
          <p:cNvSpPr/>
          <p:nvPr/>
        </p:nvSpPr>
        <p:spPr>
          <a:xfrm>
            <a:off x="5992560" y="5656320"/>
            <a:ext cx="1773000" cy="478440"/>
          </a:xfrm>
          <a:prstGeom prst="flowChartPredefinedProcess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Código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Conector de Seta Reta 6"/>
          <p:cNvSpPr/>
          <p:nvPr/>
        </p:nvSpPr>
        <p:spPr>
          <a:xfrm>
            <a:off x="6880680" y="5202720"/>
            <a:ext cx="360" cy="450720"/>
          </a:xfrm>
          <a:custGeom>
            <a:avLst/>
            <a:gdLst>
              <a:gd name="textAreaLeft" fmla="*/ 0 w 360"/>
              <a:gd name="textAreaRight" fmla="*/ 720 w 360"/>
              <a:gd name="textAreaTop" fmla="*/ 0 h 450720"/>
              <a:gd name="textAreaBottom" fmla="*/ 451080 h 450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Conector: Angulado 16"/>
          <p:cNvSpPr/>
          <p:nvPr/>
        </p:nvSpPr>
        <p:spPr>
          <a:xfrm rot="10800000">
            <a:off x="5842440" y="4664160"/>
            <a:ext cx="150120" cy="1232640"/>
          </a:xfrm>
          <a:prstGeom prst="bentConnector3">
            <a:avLst>
              <a:gd name="adj1" fmla="val 345036"/>
            </a:avLst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Conector reto 20"/>
          <p:cNvSpPr/>
          <p:nvPr/>
        </p:nvSpPr>
        <p:spPr>
          <a:xfrm>
            <a:off x="7921440" y="4661280"/>
            <a:ext cx="558720" cy="36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onector reto 22"/>
          <p:cNvSpPr/>
          <p:nvPr/>
        </p:nvSpPr>
        <p:spPr>
          <a:xfrm>
            <a:off x="8479080" y="4674240"/>
            <a:ext cx="360" cy="176400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Conector de Seta Reta 25"/>
          <p:cNvSpPr/>
          <p:nvPr/>
        </p:nvSpPr>
        <p:spPr>
          <a:xfrm flipH="1">
            <a:off x="5234040" y="6438240"/>
            <a:ext cx="3239280" cy="360"/>
          </a:xfrm>
          <a:custGeom>
            <a:avLst/>
            <a:gdLst>
              <a:gd name="textAreaLeft" fmla="*/ 360 w 3239280"/>
              <a:gd name="textAreaRight" fmla="*/ 3240000 w 323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eta: para Baixo 62"/>
          <p:cNvSpPr/>
          <p:nvPr/>
        </p:nvSpPr>
        <p:spPr>
          <a:xfrm>
            <a:off x="5171760" y="3351600"/>
            <a:ext cx="62280" cy="3534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CaixaDeTexto 32"/>
          <p:cNvSpPr/>
          <p:nvPr/>
        </p:nvSpPr>
        <p:spPr>
          <a:xfrm>
            <a:off x="6986520" y="5217840"/>
            <a:ext cx="64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aixaDeTexto 71"/>
          <p:cNvSpPr/>
          <p:nvPr/>
        </p:nvSpPr>
        <p:spPr>
          <a:xfrm>
            <a:off x="7828200" y="4269600"/>
            <a:ext cx="74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False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aixaDeTexto 28"/>
          <p:cNvSpPr/>
          <p:nvPr/>
        </p:nvSpPr>
        <p:spPr>
          <a:xfrm rot="5378400">
            <a:off x="4075560" y="5074920"/>
            <a:ext cx="179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Fluxo Principal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onector: Angulado 46"/>
          <p:cNvSpPr/>
          <p:nvPr/>
        </p:nvSpPr>
        <p:spPr>
          <a:xfrm>
            <a:off x="5204520" y="3844080"/>
            <a:ext cx="1673280" cy="272880"/>
          </a:xfrm>
          <a:prstGeom prst="bentConnector2">
            <a:avLst/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360000" y="36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Laço While (Enquanto)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2"/>
          <p:cNvSpPr/>
          <p:nvPr/>
        </p:nvSpPr>
        <p:spPr>
          <a:xfrm>
            <a:off x="897120" y="6886080"/>
            <a:ext cx="64368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3"/>
          <p:cNvSpPr/>
          <p:nvPr/>
        </p:nvSpPr>
        <p:spPr>
          <a:xfrm>
            <a:off x="7608600" y="6886080"/>
            <a:ext cx="22748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ustomShape 4"/>
          <p:cNvSpPr/>
          <p:nvPr/>
        </p:nvSpPr>
        <p:spPr>
          <a:xfrm>
            <a:off x="948240" y="291204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11"/>
          <p:cNvSpPr/>
          <p:nvPr/>
        </p:nvSpPr>
        <p:spPr>
          <a:xfrm flipH="1" rot="10800000">
            <a:off x="17998920" y="11131200"/>
            <a:ext cx="69696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CustomShape 15"/>
          <p:cNvSpPr/>
          <p:nvPr/>
        </p:nvSpPr>
        <p:spPr>
          <a:xfrm rot="10800000">
            <a:off x="16095600" y="11131200"/>
            <a:ext cx="73332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CustomShape 2"/>
          <p:cNvSpPr/>
          <p:nvPr/>
        </p:nvSpPr>
        <p:spPr>
          <a:xfrm>
            <a:off x="360000" y="1705680"/>
            <a:ext cx="9169560" cy="46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Repete (itera) um bloco de código 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enquanto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a condição for verdadeira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Enquanto o usuário não digitar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eta: para a Direita 5"/>
          <p:cNvSpPr/>
          <p:nvPr/>
        </p:nvSpPr>
        <p:spPr>
          <a:xfrm>
            <a:off x="4602600" y="4135320"/>
            <a:ext cx="1489680" cy="43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CaixaDeTexto 7"/>
          <p:cNvSpPr/>
          <p:nvPr/>
        </p:nvSpPr>
        <p:spPr>
          <a:xfrm>
            <a:off x="4660200" y="3696840"/>
            <a:ext cx="1238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Codificação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Retângulo 8"/>
          <p:cNvSpPr/>
          <p:nvPr/>
        </p:nvSpPr>
        <p:spPr>
          <a:xfrm>
            <a:off x="6462720" y="3414240"/>
            <a:ext cx="2943720" cy="232200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x = 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while (x != 10):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x = input("Digite um valor: ")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x = int(x)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print(x)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print("X == 10, fim....")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CustomShape 4"/>
          <p:cNvSpPr/>
          <p:nvPr/>
        </p:nvSpPr>
        <p:spPr>
          <a:xfrm>
            <a:off x="672840" y="284076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Losango 24"/>
          <p:cNvSpPr/>
          <p:nvPr/>
        </p:nvSpPr>
        <p:spPr>
          <a:xfrm>
            <a:off x="1593360" y="3609000"/>
            <a:ext cx="2079000" cy="1080000"/>
          </a:xfrm>
          <a:prstGeom prst="diamond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Condição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Fluxograma: Processo Predefinido 26"/>
          <p:cNvSpPr/>
          <p:nvPr/>
        </p:nvSpPr>
        <p:spPr>
          <a:xfrm>
            <a:off x="1746000" y="5145480"/>
            <a:ext cx="1773000" cy="478440"/>
          </a:xfrm>
          <a:prstGeom prst="flowChartPredefinedProcess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Código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Conector de Seta Reta 27"/>
          <p:cNvSpPr/>
          <p:nvPr/>
        </p:nvSpPr>
        <p:spPr>
          <a:xfrm>
            <a:off x="2634120" y="4691880"/>
            <a:ext cx="360" cy="450720"/>
          </a:xfrm>
          <a:custGeom>
            <a:avLst/>
            <a:gdLst>
              <a:gd name="textAreaLeft" fmla="*/ 0 w 360"/>
              <a:gd name="textAreaRight" fmla="*/ 720 w 360"/>
              <a:gd name="textAreaTop" fmla="*/ 0 h 450720"/>
              <a:gd name="textAreaBottom" fmla="*/ 451080 h 450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Conector: Angulado 28"/>
          <p:cNvSpPr/>
          <p:nvPr/>
        </p:nvSpPr>
        <p:spPr>
          <a:xfrm rot="10800000">
            <a:off x="1595880" y="4153680"/>
            <a:ext cx="150120" cy="1232640"/>
          </a:xfrm>
          <a:prstGeom prst="bentConnector3">
            <a:avLst>
              <a:gd name="adj1" fmla="val 345036"/>
            </a:avLst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Conector reto 29"/>
          <p:cNvSpPr/>
          <p:nvPr/>
        </p:nvSpPr>
        <p:spPr>
          <a:xfrm>
            <a:off x="3674880" y="4150440"/>
            <a:ext cx="558360" cy="36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onector reto 30"/>
          <p:cNvSpPr/>
          <p:nvPr/>
        </p:nvSpPr>
        <p:spPr>
          <a:xfrm>
            <a:off x="4232160" y="4163400"/>
            <a:ext cx="360" cy="176400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Conector de Seta Reta 31"/>
          <p:cNvSpPr/>
          <p:nvPr/>
        </p:nvSpPr>
        <p:spPr>
          <a:xfrm flipH="1">
            <a:off x="987480" y="5927400"/>
            <a:ext cx="3239280" cy="360"/>
          </a:xfrm>
          <a:custGeom>
            <a:avLst/>
            <a:gdLst>
              <a:gd name="textAreaLeft" fmla="*/ 360 w 3239280"/>
              <a:gd name="textAreaRight" fmla="*/ 3240000 w 323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eta: para Baixo 33"/>
          <p:cNvSpPr/>
          <p:nvPr/>
        </p:nvSpPr>
        <p:spPr>
          <a:xfrm>
            <a:off x="925200" y="2840760"/>
            <a:ext cx="62280" cy="3534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CaixaDeTexto 34"/>
          <p:cNvSpPr/>
          <p:nvPr/>
        </p:nvSpPr>
        <p:spPr>
          <a:xfrm>
            <a:off x="2739960" y="4707000"/>
            <a:ext cx="64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CaixaDeTexto 35"/>
          <p:cNvSpPr/>
          <p:nvPr/>
        </p:nvSpPr>
        <p:spPr>
          <a:xfrm>
            <a:off x="3581280" y="3758760"/>
            <a:ext cx="74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False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CaixaDeTexto 36"/>
          <p:cNvSpPr/>
          <p:nvPr/>
        </p:nvSpPr>
        <p:spPr>
          <a:xfrm>
            <a:off x="325440" y="2505600"/>
            <a:ext cx="1539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Fluxo Principal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Conector: Angulado 37"/>
          <p:cNvSpPr/>
          <p:nvPr/>
        </p:nvSpPr>
        <p:spPr>
          <a:xfrm>
            <a:off x="957960" y="3333240"/>
            <a:ext cx="1673280" cy="272880"/>
          </a:xfrm>
          <a:prstGeom prst="bentConnector2">
            <a:avLst/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ustomShape 1"/>
          <p:cNvSpPr/>
          <p:nvPr/>
        </p:nvSpPr>
        <p:spPr>
          <a:xfrm>
            <a:off x="360000" y="36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Laço While (Enquanto)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CustomShape 2"/>
          <p:cNvSpPr/>
          <p:nvPr/>
        </p:nvSpPr>
        <p:spPr>
          <a:xfrm>
            <a:off x="897120" y="6886080"/>
            <a:ext cx="64368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ustomShape 3"/>
          <p:cNvSpPr/>
          <p:nvPr/>
        </p:nvSpPr>
        <p:spPr>
          <a:xfrm>
            <a:off x="7608600" y="6886080"/>
            <a:ext cx="22748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ustomShape 4"/>
          <p:cNvSpPr/>
          <p:nvPr/>
        </p:nvSpPr>
        <p:spPr>
          <a:xfrm>
            <a:off x="948240" y="291204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CustomShape 11"/>
          <p:cNvSpPr/>
          <p:nvPr/>
        </p:nvSpPr>
        <p:spPr>
          <a:xfrm flipH="1" rot="10800000">
            <a:off x="17998920" y="11131200"/>
            <a:ext cx="69696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CustomShape 15"/>
          <p:cNvSpPr/>
          <p:nvPr/>
        </p:nvSpPr>
        <p:spPr>
          <a:xfrm rot="10800000">
            <a:off x="16095600" y="11131200"/>
            <a:ext cx="73332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CustomShape 2"/>
          <p:cNvSpPr/>
          <p:nvPr/>
        </p:nvSpPr>
        <p:spPr>
          <a:xfrm>
            <a:off x="360000" y="1705680"/>
            <a:ext cx="9169560" cy="46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Repete (itera) um bloco de código 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enquanto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a condição for verdadeira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Enquanto o resultado for menor que 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eta: para a Direita 5"/>
          <p:cNvSpPr/>
          <p:nvPr/>
        </p:nvSpPr>
        <p:spPr>
          <a:xfrm>
            <a:off x="4592880" y="4135320"/>
            <a:ext cx="1489680" cy="43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CaixaDeTexto 7"/>
          <p:cNvSpPr/>
          <p:nvPr/>
        </p:nvSpPr>
        <p:spPr>
          <a:xfrm>
            <a:off x="4650480" y="3696840"/>
            <a:ext cx="1238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Codificação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etângulo 8"/>
          <p:cNvSpPr/>
          <p:nvPr/>
        </p:nvSpPr>
        <p:spPr>
          <a:xfrm>
            <a:off x="6282720" y="3006000"/>
            <a:ext cx="3335040" cy="273060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res = 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while (res &lt; 100):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num = input("Digite um valor: ")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res = (num * 10) / 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print(res)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CustomShape 4"/>
          <p:cNvSpPr/>
          <p:nvPr/>
        </p:nvSpPr>
        <p:spPr>
          <a:xfrm>
            <a:off x="672840" y="284076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Losango 24"/>
          <p:cNvSpPr/>
          <p:nvPr/>
        </p:nvSpPr>
        <p:spPr>
          <a:xfrm>
            <a:off x="1593360" y="3609000"/>
            <a:ext cx="2079000" cy="1080000"/>
          </a:xfrm>
          <a:prstGeom prst="diamond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Condição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Fluxograma: Processo Predefinido 26"/>
          <p:cNvSpPr/>
          <p:nvPr/>
        </p:nvSpPr>
        <p:spPr>
          <a:xfrm>
            <a:off x="1746000" y="5145480"/>
            <a:ext cx="1773000" cy="478440"/>
          </a:xfrm>
          <a:prstGeom prst="flowChartPredefinedProcess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Código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Conector de Seta Reta 27"/>
          <p:cNvSpPr/>
          <p:nvPr/>
        </p:nvSpPr>
        <p:spPr>
          <a:xfrm>
            <a:off x="2634120" y="4691880"/>
            <a:ext cx="360" cy="450720"/>
          </a:xfrm>
          <a:custGeom>
            <a:avLst/>
            <a:gdLst>
              <a:gd name="textAreaLeft" fmla="*/ 0 w 360"/>
              <a:gd name="textAreaRight" fmla="*/ 720 w 360"/>
              <a:gd name="textAreaTop" fmla="*/ 0 h 450720"/>
              <a:gd name="textAreaBottom" fmla="*/ 451080 h 450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Conector: Angulado 28"/>
          <p:cNvSpPr/>
          <p:nvPr/>
        </p:nvSpPr>
        <p:spPr>
          <a:xfrm rot="10800000">
            <a:off x="1595880" y="4153680"/>
            <a:ext cx="150120" cy="1232640"/>
          </a:xfrm>
          <a:prstGeom prst="bentConnector3">
            <a:avLst>
              <a:gd name="adj1" fmla="val 345036"/>
            </a:avLst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Conector reto 29"/>
          <p:cNvSpPr/>
          <p:nvPr/>
        </p:nvSpPr>
        <p:spPr>
          <a:xfrm>
            <a:off x="3674880" y="4150440"/>
            <a:ext cx="558360" cy="36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Conector reto 30"/>
          <p:cNvSpPr/>
          <p:nvPr/>
        </p:nvSpPr>
        <p:spPr>
          <a:xfrm>
            <a:off x="4232160" y="4163400"/>
            <a:ext cx="360" cy="176400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onector de Seta Reta 31"/>
          <p:cNvSpPr/>
          <p:nvPr/>
        </p:nvSpPr>
        <p:spPr>
          <a:xfrm flipH="1">
            <a:off x="987480" y="5927400"/>
            <a:ext cx="3239280" cy="360"/>
          </a:xfrm>
          <a:custGeom>
            <a:avLst/>
            <a:gdLst>
              <a:gd name="textAreaLeft" fmla="*/ 360 w 3239280"/>
              <a:gd name="textAreaRight" fmla="*/ 3240000 w 323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eta: para Baixo 33"/>
          <p:cNvSpPr/>
          <p:nvPr/>
        </p:nvSpPr>
        <p:spPr>
          <a:xfrm>
            <a:off x="925200" y="2840760"/>
            <a:ext cx="62280" cy="3534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CaixaDeTexto 34"/>
          <p:cNvSpPr/>
          <p:nvPr/>
        </p:nvSpPr>
        <p:spPr>
          <a:xfrm>
            <a:off x="2739960" y="4707000"/>
            <a:ext cx="64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aixaDeTexto 35"/>
          <p:cNvSpPr/>
          <p:nvPr/>
        </p:nvSpPr>
        <p:spPr>
          <a:xfrm>
            <a:off x="3581280" y="3758760"/>
            <a:ext cx="74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False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aixaDeTexto 36"/>
          <p:cNvSpPr/>
          <p:nvPr/>
        </p:nvSpPr>
        <p:spPr>
          <a:xfrm>
            <a:off x="325440" y="2505600"/>
            <a:ext cx="1539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Fluxo Principal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Conector: Angulado 37"/>
          <p:cNvSpPr/>
          <p:nvPr/>
        </p:nvSpPr>
        <p:spPr>
          <a:xfrm>
            <a:off x="957960" y="3333240"/>
            <a:ext cx="1673280" cy="272880"/>
          </a:xfrm>
          <a:prstGeom prst="bentConnector2">
            <a:avLst/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/>
          <p:cNvSpPr/>
          <p:nvPr/>
        </p:nvSpPr>
        <p:spPr>
          <a:xfrm>
            <a:off x="360000" y="36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Laço While (Enquanto)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CustomShape 2"/>
          <p:cNvSpPr/>
          <p:nvPr/>
        </p:nvSpPr>
        <p:spPr>
          <a:xfrm>
            <a:off x="897120" y="6886080"/>
            <a:ext cx="64368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CustomShape 3"/>
          <p:cNvSpPr/>
          <p:nvPr/>
        </p:nvSpPr>
        <p:spPr>
          <a:xfrm>
            <a:off x="7608600" y="6886080"/>
            <a:ext cx="22748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4"/>
          <p:cNvSpPr/>
          <p:nvPr/>
        </p:nvSpPr>
        <p:spPr>
          <a:xfrm>
            <a:off x="948240" y="291204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ustomShape 11"/>
          <p:cNvSpPr/>
          <p:nvPr/>
        </p:nvSpPr>
        <p:spPr>
          <a:xfrm flipH="1" rot="10800000">
            <a:off x="17998920" y="11131200"/>
            <a:ext cx="69696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CustomShape 15"/>
          <p:cNvSpPr/>
          <p:nvPr/>
        </p:nvSpPr>
        <p:spPr>
          <a:xfrm rot="10800000">
            <a:off x="16095600" y="11131200"/>
            <a:ext cx="73332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CustomShape 2"/>
          <p:cNvSpPr/>
          <p:nvPr/>
        </p:nvSpPr>
        <p:spPr>
          <a:xfrm>
            <a:off x="360000" y="1705680"/>
            <a:ext cx="9169560" cy="46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Utilizando um contador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64760"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eta: para a Direita 5"/>
          <p:cNvSpPr/>
          <p:nvPr/>
        </p:nvSpPr>
        <p:spPr>
          <a:xfrm>
            <a:off x="4651200" y="4135320"/>
            <a:ext cx="1489680" cy="43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CaixaDeTexto 7"/>
          <p:cNvSpPr/>
          <p:nvPr/>
        </p:nvSpPr>
        <p:spPr>
          <a:xfrm>
            <a:off x="4708800" y="3696840"/>
            <a:ext cx="1238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Codificação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etângulo 8"/>
          <p:cNvSpPr/>
          <p:nvPr/>
        </p:nvSpPr>
        <p:spPr>
          <a:xfrm>
            <a:off x="6511320" y="3006000"/>
            <a:ext cx="2943720" cy="273060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x = 0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while (x != 500):   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print(x)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   </a:t>
            </a: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x = x + 1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.....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CustomShape 4"/>
          <p:cNvSpPr/>
          <p:nvPr/>
        </p:nvSpPr>
        <p:spPr>
          <a:xfrm>
            <a:off x="672840" y="284076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Losango 24"/>
          <p:cNvSpPr/>
          <p:nvPr/>
        </p:nvSpPr>
        <p:spPr>
          <a:xfrm>
            <a:off x="1593360" y="3609000"/>
            <a:ext cx="2079000" cy="1080000"/>
          </a:xfrm>
          <a:prstGeom prst="diamond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Condição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Fluxograma: Processo Predefinido 26"/>
          <p:cNvSpPr/>
          <p:nvPr/>
        </p:nvSpPr>
        <p:spPr>
          <a:xfrm>
            <a:off x="1746000" y="5145480"/>
            <a:ext cx="1773000" cy="478440"/>
          </a:xfrm>
          <a:prstGeom prst="flowChartPredefinedProcess">
            <a:avLst/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600" spc="-1" strike="noStrike">
                <a:solidFill>
                  <a:srgbClr val="ffffff"/>
                </a:solidFill>
                <a:latin typeface="Arial"/>
                <a:ea typeface="DejaVu Sans"/>
              </a:rPr>
              <a:t>Código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Conector de Seta Reta 27"/>
          <p:cNvSpPr/>
          <p:nvPr/>
        </p:nvSpPr>
        <p:spPr>
          <a:xfrm>
            <a:off x="2634120" y="4691880"/>
            <a:ext cx="360" cy="450720"/>
          </a:xfrm>
          <a:custGeom>
            <a:avLst/>
            <a:gdLst>
              <a:gd name="textAreaLeft" fmla="*/ 0 w 360"/>
              <a:gd name="textAreaRight" fmla="*/ 720 w 360"/>
              <a:gd name="textAreaTop" fmla="*/ 0 h 450720"/>
              <a:gd name="textAreaBottom" fmla="*/ 451080 h 45072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onector: Angulado 28"/>
          <p:cNvSpPr/>
          <p:nvPr/>
        </p:nvSpPr>
        <p:spPr>
          <a:xfrm rot="10800000">
            <a:off x="1595880" y="4153680"/>
            <a:ext cx="150120" cy="1232640"/>
          </a:xfrm>
          <a:prstGeom prst="bentConnector3">
            <a:avLst>
              <a:gd name="adj1" fmla="val 345036"/>
            </a:avLst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onector reto 29"/>
          <p:cNvSpPr/>
          <p:nvPr/>
        </p:nvSpPr>
        <p:spPr>
          <a:xfrm>
            <a:off x="3674880" y="4150440"/>
            <a:ext cx="558360" cy="36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Conector reto 30"/>
          <p:cNvSpPr/>
          <p:nvPr/>
        </p:nvSpPr>
        <p:spPr>
          <a:xfrm>
            <a:off x="4232160" y="4163400"/>
            <a:ext cx="360" cy="1764000"/>
          </a:xfrm>
          <a:prstGeom prst="line">
            <a:avLst/>
          </a:prstGeom>
          <a:ln>
            <a:solidFill>
              <a:srgbClr val="4a7e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onector de Seta Reta 31"/>
          <p:cNvSpPr/>
          <p:nvPr/>
        </p:nvSpPr>
        <p:spPr>
          <a:xfrm flipH="1">
            <a:off x="987480" y="5927400"/>
            <a:ext cx="3239280" cy="360"/>
          </a:xfrm>
          <a:custGeom>
            <a:avLst/>
            <a:gdLst>
              <a:gd name="textAreaLeft" fmla="*/ 360 w 3239280"/>
              <a:gd name="textAreaRight" fmla="*/ 3240000 w 323928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eta: para Baixo 33"/>
          <p:cNvSpPr/>
          <p:nvPr/>
        </p:nvSpPr>
        <p:spPr>
          <a:xfrm>
            <a:off x="925200" y="2840760"/>
            <a:ext cx="62280" cy="3534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CaixaDeTexto 34"/>
          <p:cNvSpPr/>
          <p:nvPr/>
        </p:nvSpPr>
        <p:spPr>
          <a:xfrm>
            <a:off x="2739960" y="4707000"/>
            <a:ext cx="64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CaixaDeTexto 35"/>
          <p:cNvSpPr/>
          <p:nvPr/>
        </p:nvSpPr>
        <p:spPr>
          <a:xfrm>
            <a:off x="3581280" y="3758760"/>
            <a:ext cx="74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False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CaixaDeTexto 36"/>
          <p:cNvSpPr/>
          <p:nvPr/>
        </p:nvSpPr>
        <p:spPr>
          <a:xfrm>
            <a:off x="325440" y="2505600"/>
            <a:ext cx="1539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DejaVu Sans"/>
              </a:rPr>
              <a:t>Fluxo Principal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Conector: Angulado 37"/>
          <p:cNvSpPr/>
          <p:nvPr/>
        </p:nvSpPr>
        <p:spPr>
          <a:xfrm>
            <a:off x="957960" y="3333240"/>
            <a:ext cx="1673280" cy="272880"/>
          </a:xfrm>
          <a:prstGeom prst="bentConnector2">
            <a:avLst/>
          </a:prstGeom>
          <a:noFill/>
          <a:ln>
            <a:solidFill>
              <a:srgbClr val="4a7ebb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CustomShape 1"/>
          <p:cNvSpPr/>
          <p:nvPr/>
        </p:nvSpPr>
        <p:spPr>
          <a:xfrm>
            <a:off x="360000" y="36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Codificação Dialogada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CustomShape 2"/>
          <p:cNvSpPr/>
          <p:nvPr/>
        </p:nvSpPr>
        <p:spPr>
          <a:xfrm>
            <a:off x="897120" y="6886080"/>
            <a:ext cx="64368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CustomShape 3"/>
          <p:cNvSpPr/>
          <p:nvPr/>
        </p:nvSpPr>
        <p:spPr>
          <a:xfrm>
            <a:off x="7608600" y="6886080"/>
            <a:ext cx="22748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CustomShape 11"/>
          <p:cNvSpPr/>
          <p:nvPr/>
        </p:nvSpPr>
        <p:spPr>
          <a:xfrm flipH="1" rot="10800000">
            <a:off x="17998920" y="11131200"/>
            <a:ext cx="69696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CustomShape 15"/>
          <p:cNvSpPr/>
          <p:nvPr/>
        </p:nvSpPr>
        <p:spPr>
          <a:xfrm rot="10800000">
            <a:off x="16095600" y="11131200"/>
            <a:ext cx="733320" cy="3535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CustomShape 2"/>
          <p:cNvSpPr/>
          <p:nvPr/>
        </p:nvSpPr>
        <p:spPr>
          <a:xfrm>
            <a:off x="360000" y="1705680"/>
            <a:ext cx="9169560" cy="46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Calcule a média de 5 números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Calcule a média de N números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 o usuário digitar zero, encerra o calculo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Entre 0 e 100, informe: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Imprima os números pares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Informe se o número é par ou impar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Apresente a soma dos números pares e dos números impares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 soma de todos os múltiplos de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0844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Sistema de Login e Senha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360000" y="360000"/>
            <a:ext cx="93495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Considerações Finais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CustomShape 2"/>
          <p:cNvSpPr/>
          <p:nvPr/>
        </p:nvSpPr>
        <p:spPr>
          <a:xfrm>
            <a:off x="897120" y="6886080"/>
            <a:ext cx="643680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Raciocínio Algorítmico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CustomShape 3"/>
          <p:cNvSpPr/>
          <p:nvPr/>
        </p:nvSpPr>
        <p:spPr>
          <a:xfrm>
            <a:off x="7608600" y="6886080"/>
            <a:ext cx="22748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Tópico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CustomShape 4"/>
          <p:cNvSpPr/>
          <p:nvPr/>
        </p:nvSpPr>
        <p:spPr>
          <a:xfrm>
            <a:off x="4026600" y="2912040"/>
            <a:ext cx="337932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ustomShape 5"/>
          <p:cNvSpPr/>
          <p:nvPr/>
        </p:nvSpPr>
        <p:spPr>
          <a:xfrm flipH="1" rot="16200000">
            <a:off x="2737800" y="4174560"/>
            <a:ext cx="397800" cy="175428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rgbClr val="4f81bd"/>
          </a:solidFill>
          <a:ln w="2556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CustomShape 6"/>
          <p:cNvSpPr/>
          <p:nvPr/>
        </p:nvSpPr>
        <p:spPr>
          <a:xfrm>
            <a:off x="503640" y="1731240"/>
            <a:ext cx="9169920" cy="4746240"/>
          </a:xfrm>
          <a:prstGeom prst="rect">
            <a:avLst/>
          </a:prstGeom>
          <a:solidFill>
            <a:srgbClr val="ffffff"/>
          </a:solidFill>
          <a:ln w="25560">
            <a:solidFill>
              <a:srgbClr val="f796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782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Estruturas de repetição executam inúmeras vezes um bloco de código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782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 de Fixação: Tópico 04 – Exercícios de Fixação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782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Perdeu a aula ? Quer outra explicação ? Segue alguns links: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782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8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 Guanabara – While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7828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b="0" lang="pt-BR" sz="18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Pythonando - While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3519</TotalTime>
  <Application>LibreOffice/24.2.7.2$Linux_X86_64 LibreOffice_project/420$Build-2</Application>
  <AppVersion>15.0000</AppVersion>
  <Words>517</Words>
  <Paragraphs>146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2021-10-14T21:32:43Z</cp:lastPrinted>
  <dcterms:modified xsi:type="dcterms:W3CDTF">2026-03-25T10:38:20Z</dcterms:modified>
  <cp:revision>133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9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9</vt:i4>
  </property>
</Properties>
</file>