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8.xml" ContentType="application/vnd.openxmlformats-officedocument.theme+xml"/>
  <Override PartName="/ppt/theme/theme16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</p:sldMasterIdLst>
  <p:notesMasterIdLst>
    <p:notesMasterId r:id="rId29"/>
  </p:notes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208110-970C-47D1-80EE-D08FA53A223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106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75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ustomShape 5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14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ustomShape 19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24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CustomShape 29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ustomShape 116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CustomShape 34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ustomShape 39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ustomShape 44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CustomShape 49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54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ustomShape 59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CustomShape 65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70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CustomShape 82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1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www.youtube.com/watch?v=xC2tYIZvmgc" TargetMode="External"/><Relationship Id="rId3" Type="http://schemas.openxmlformats.org/officeDocument/2006/relationships/slideLayout" Target="../slideLayouts/slideLayout26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6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6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360000" y="333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Fundamentos de Algoritmos e Estrutura de Dados – Lecture 06 – Max Flow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540000" y="4680000"/>
            <a:ext cx="9171000" cy="25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Lecture 05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Busca em Grafos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Caminho Mínimo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Lecture 06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Fluxo Máximo: Ford-Fulkerson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Dinâmica de Grupos com Mentoria do Professor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62"/>
          <p:cNvSpPr/>
          <p:nvPr/>
        </p:nvSpPr>
        <p:spPr>
          <a:xfrm>
            <a:off x="360000" y="333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Problema de Fluxo Máximo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Algoritmo de 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7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Fluxo Máximo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7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7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ustomShape 7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77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Como otimizar a distribuição de recursos em redes (grafos) para maximizar o fluxo total entre origem e destino, considerando restrições de capacidade 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Redes de tráfego (maximizar veiculos que passam de um ponto a outro sem congestionamento).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Redes de dados (maximizar pacotes transmitidos entre servidores).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Logística de transporte (maximizar mercadorias distribuídas de um depósito a lojas).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Distribuição de Energia, etc.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rcRect l="0" t="20141" r="0" b="8015"/>
          <a:stretch/>
        </p:blipFill>
        <p:spPr>
          <a:xfrm>
            <a:off x="4293720" y="4343400"/>
            <a:ext cx="4620960" cy="230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8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9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CustomShape 10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CustomShape 11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76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Busque um caminho da origem ao destino com capacidade disponível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Determine o gargalo (capacidade mínima) do caminho.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Repetir ou finalizar: 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Repita até não haver mais caminhos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1212480" y="4344120"/>
            <a:ext cx="3587400" cy="2055960"/>
          </a:xfrm>
          <a:prstGeom prst="rect">
            <a:avLst/>
          </a:prstGeom>
          <a:ln w="0">
            <a:noFill/>
          </a:ln>
        </p:spPr>
      </p:pic>
      <p:sp>
        <p:nvSpPr>
          <p:cNvPr id="216" name=""/>
          <p:cNvSpPr/>
          <p:nvPr/>
        </p:nvSpPr>
        <p:spPr>
          <a:xfrm>
            <a:off x="5486400" y="4800600"/>
            <a:ext cx="434268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Agradecimento ao Igor pela elaboração do material de suporte!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/>
              </a:rPr>
              <a:t>https://www.youtube.com/watch?v=xC2tYIZvmgc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5029200" y="54864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6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7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12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13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4129920" y="3822120"/>
            <a:ext cx="4098960" cy="2349360"/>
          </a:xfrm>
          <a:prstGeom prst="rect">
            <a:avLst/>
          </a:prstGeom>
          <a:ln w="0">
            <a:noFill/>
          </a:ln>
        </p:spPr>
      </p:pic>
      <p:sp>
        <p:nvSpPr>
          <p:cNvPr id="223" name=""/>
          <p:cNvSpPr/>
          <p:nvPr/>
        </p:nvSpPr>
        <p:spPr>
          <a:xfrm>
            <a:off x="360000" y="1748880"/>
            <a:ext cx="9469800" cy="23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Seja: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P={p1,p2,…,pk} o conjunto de caminhos aumentantes escolhidos pelo algoritmo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b(pi) o bottleneck (capacidade mínima residual) do caminho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 Então o fluxo máximo total pode ser escrito como: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>
            <a:off x="914400" y="4343400"/>
            <a:ext cx="2500920" cy="114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5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CustomShape 16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ustomShape 17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18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2"/>
          <a:stretch/>
        </p:blipFill>
        <p:spPr>
          <a:xfrm>
            <a:off x="4800600" y="3857040"/>
            <a:ext cx="4874760" cy="2793960"/>
          </a:xfrm>
          <a:prstGeom prst="rect">
            <a:avLst/>
          </a:prstGeom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3"/>
          <a:srcRect l="0" t="0" r="0" b="62437"/>
          <a:stretch/>
        </p:blipFill>
        <p:spPr>
          <a:xfrm>
            <a:off x="7739280" y="1600200"/>
            <a:ext cx="1404000" cy="684720"/>
          </a:xfrm>
          <a:prstGeom prst="rect">
            <a:avLst/>
          </a:prstGeom>
          <a:ln w="0">
            <a:noFill/>
          </a:ln>
        </p:spPr>
      </p:pic>
      <p:sp>
        <p:nvSpPr>
          <p:cNvPr id="232" name=""/>
          <p:cNvSpPr/>
          <p:nvPr/>
        </p:nvSpPr>
        <p:spPr>
          <a:xfrm>
            <a:off x="960840" y="4755600"/>
            <a:ext cx="338184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1. Busque um caminho da fonte ao destino com capacidade disponível.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029200" y="1980000"/>
            <a:ext cx="31291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2. Determine o gargalo (capacidade mínima) do caminho.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209280" y="3519720"/>
            <a:ext cx="2476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20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ustomShape 21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CustomShape 22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23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40" name="" descr=""/>
          <p:cNvPicPr/>
          <p:nvPr/>
        </p:nvPicPr>
        <p:blipFill>
          <a:blip r:embed="rId2"/>
          <a:stretch/>
        </p:blipFill>
        <p:spPr>
          <a:xfrm>
            <a:off x="4471920" y="3886200"/>
            <a:ext cx="4899960" cy="2742480"/>
          </a:xfrm>
          <a:prstGeom prst="rect">
            <a:avLst/>
          </a:prstGeom>
          <a:ln w="0">
            <a:noFill/>
          </a:ln>
        </p:spPr>
      </p:pic>
      <p:pic>
        <p:nvPicPr>
          <p:cNvPr id="241" name="" descr=""/>
          <p:cNvPicPr/>
          <p:nvPr/>
        </p:nvPicPr>
        <p:blipFill>
          <a:blip r:embed="rId3"/>
          <a:srcRect l="0" t="0" r="0" b="62437"/>
          <a:stretch/>
        </p:blipFill>
        <p:spPr>
          <a:xfrm>
            <a:off x="7739280" y="1600200"/>
            <a:ext cx="1404000" cy="684720"/>
          </a:xfrm>
          <a:prstGeom prst="rect">
            <a:avLst/>
          </a:prstGeom>
          <a:ln w="0">
            <a:noFill/>
          </a:ln>
        </p:spPr>
      </p:pic>
      <p:sp>
        <p:nvSpPr>
          <p:cNvPr id="242" name=""/>
          <p:cNvSpPr/>
          <p:nvPr/>
        </p:nvSpPr>
        <p:spPr>
          <a:xfrm>
            <a:off x="5486400" y="3448800"/>
            <a:ext cx="2476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25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26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27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28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4343400" y="3978360"/>
            <a:ext cx="4965120" cy="264420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3"/>
          <a:srcRect l="0" t="0" r="0" b="49950"/>
          <a:stretch/>
        </p:blipFill>
        <p:spPr>
          <a:xfrm>
            <a:off x="7739280" y="1600200"/>
            <a:ext cx="1404000" cy="913320"/>
          </a:xfrm>
          <a:prstGeom prst="rect">
            <a:avLst/>
          </a:prstGeom>
          <a:ln w="0">
            <a:noFill/>
          </a:ln>
        </p:spPr>
      </p:pic>
      <p:sp>
        <p:nvSpPr>
          <p:cNvPr id="250" name=""/>
          <p:cNvSpPr/>
          <p:nvPr/>
        </p:nvSpPr>
        <p:spPr>
          <a:xfrm>
            <a:off x="961200" y="4755960"/>
            <a:ext cx="338184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1. Busque um caminho da fonte ao destino com capacidade disponível.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5029560" y="1980360"/>
            <a:ext cx="31291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2. Determine o gargalo (capacidade mínima) do caminho.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12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113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ustomShape 114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115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57" name="" descr=""/>
          <p:cNvPicPr/>
          <p:nvPr/>
        </p:nvPicPr>
        <p:blipFill>
          <a:blip r:embed="rId2"/>
          <a:stretch/>
        </p:blipFill>
        <p:spPr>
          <a:xfrm>
            <a:off x="4228920" y="3886200"/>
            <a:ext cx="5013000" cy="2850840"/>
          </a:xfrm>
          <a:prstGeom prst="rect">
            <a:avLst/>
          </a:prstGeom>
          <a:ln w="0">
            <a:noFill/>
          </a:ln>
        </p:spPr>
      </p:pic>
      <p:pic>
        <p:nvPicPr>
          <p:cNvPr id="258" name="" descr=""/>
          <p:cNvPicPr/>
          <p:nvPr/>
        </p:nvPicPr>
        <p:blipFill>
          <a:blip r:embed="rId3"/>
          <a:srcRect l="0" t="0" r="0" b="49950"/>
          <a:stretch/>
        </p:blipFill>
        <p:spPr>
          <a:xfrm>
            <a:off x="7739280" y="1600200"/>
            <a:ext cx="1404000" cy="913320"/>
          </a:xfrm>
          <a:prstGeom prst="rect">
            <a:avLst/>
          </a:prstGeom>
          <a:ln w="0">
            <a:noFill/>
          </a:ln>
        </p:spPr>
      </p:pic>
      <p:sp>
        <p:nvSpPr>
          <p:cNvPr id="259" name=""/>
          <p:cNvSpPr/>
          <p:nvPr/>
        </p:nvSpPr>
        <p:spPr>
          <a:xfrm>
            <a:off x="5486400" y="3448800"/>
            <a:ext cx="2476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30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31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32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33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65" name="" descr=""/>
          <p:cNvPicPr/>
          <p:nvPr/>
        </p:nvPicPr>
        <p:blipFill>
          <a:blip r:embed="rId2"/>
          <a:stretch/>
        </p:blipFill>
        <p:spPr>
          <a:xfrm>
            <a:off x="4343400" y="3975480"/>
            <a:ext cx="5007960" cy="2685240"/>
          </a:xfrm>
          <a:prstGeom prst="rect">
            <a:avLst/>
          </a:prstGeom>
          <a:ln w="0">
            <a:noFill/>
          </a:ln>
        </p:spPr>
      </p:pic>
      <p:pic>
        <p:nvPicPr>
          <p:cNvPr id="266" name="" descr=""/>
          <p:cNvPicPr/>
          <p:nvPr/>
        </p:nvPicPr>
        <p:blipFill>
          <a:blip r:embed="rId3"/>
          <a:srcRect l="0" t="0" r="0" b="37448"/>
          <a:stretch/>
        </p:blipFill>
        <p:spPr>
          <a:xfrm>
            <a:off x="7739280" y="1600200"/>
            <a:ext cx="1404000" cy="1141920"/>
          </a:xfrm>
          <a:prstGeom prst="rect">
            <a:avLst/>
          </a:prstGeom>
          <a:ln w="0">
            <a:noFill/>
          </a:ln>
        </p:spPr>
      </p:pic>
      <p:sp>
        <p:nvSpPr>
          <p:cNvPr id="267" name=""/>
          <p:cNvSpPr/>
          <p:nvPr/>
        </p:nvSpPr>
        <p:spPr>
          <a:xfrm>
            <a:off x="961200" y="4755960"/>
            <a:ext cx="338184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1. Busque um caminho da fonte ao destino com capacidade disponível.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5029560" y="1980360"/>
            <a:ext cx="31291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2. Determine o gargalo (capacidade mínima) do caminho.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35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ustomShape 36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37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38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74" name="" descr=""/>
          <p:cNvPicPr/>
          <p:nvPr/>
        </p:nvPicPr>
        <p:blipFill>
          <a:blip r:embed="rId2"/>
          <a:stretch/>
        </p:blipFill>
        <p:spPr>
          <a:xfrm>
            <a:off x="4572000" y="4097880"/>
            <a:ext cx="4779360" cy="2562840"/>
          </a:xfrm>
          <a:prstGeom prst="rect">
            <a:avLst/>
          </a:prstGeom>
          <a:ln w="0">
            <a:noFill/>
          </a:ln>
        </p:spPr>
      </p:pic>
      <p:pic>
        <p:nvPicPr>
          <p:cNvPr id="275" name="" descr=""/>
          <p:cNvPicPr/>
          <p:nvPr/>
        </p:nvPicPr>
        <p:blipFill>
          <a:blip r:embed="rId3"/>
          <a:srcRect l="0" t="0" r="0" b="37448"/>
          <a:stretch/>
        </p:blipFill>
        <p:spPr>
          <a:xfrm>
            <a:off x="7739280" y="1600200"/>
            <a:ext cx="1404000" cy="1141920"/>
          </a:xfrm>
          <a:prstGeom prst="rect">
            <a:avLst/>
          </a:prstGeom>
          <a:ln w="0">
            <a:noFill/>
          </a:ln>
        </p:spPr>
      </p:pic>
      <p:sp>
        <p:nvSpPr>
          <p:cNvPr id="276" name=""/>
          <p:cNvSpPr/>
          <p:nvPr/>
        </p:nvSpPr>
        <p:spPr>
          <a:xfrm>
            <a:off x="5486400" y="3448800"/>
            <a:ext cx="2476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40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41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42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CustomShape 43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82" name="" descr=""/>
          <p:cNvPicPr/>
          <p:nvPr/>
        </p:nvPicPr>
        <p:blipFill>
          <a:blip r:embed="rId2"/>
          <a:stretch/>
        </p:blipFill>
        <p:spPr>
          <a:xfrm>
            <a:off x="3886200" y="3734280"/>
            <a:ext cx="5422320" cy="2888280"/>
          </a:xfrm>
          <a:prstGeom prst="rect">
            <a:avLst/>
          </a:prstGeom>
          <a:ln w="0">
            <a:noFill/>
          </a:ln>
        </p:spPr>
      </p:pic>
      <p:pic>
        <p:nvPicPr>
          <p:cNvPr id="283" name="" descr=""/>
          <p:cNvPicPr/>
          <p:nvPr/>
        </p:nvPicPr>
        <p:blipFill>
          <a:blip r:embed="rId3"/>
          <a:srcRect l="0" t="0" r="0" b="12430"/>
          <a:stretch/>
        </p:blipFill>
        <p:spPr>
          <a:xfrm>
            <a:off x="7739280" y="1600200"/>
            <a:ext cx="1404000" cy="1599120"/>
          </a:xfrm>
          <a:prstGeom prst="rect">
            <a:avLst/>
          </a:prstGeom>
          <a:ln w="0">
            <a:noFill/>
          </a:ln>
        </p:spPr>
      </p:pic>
      <p:sp>
        <p:nvSpPr>
          <p:cNvPr id="284" name=""/>
          <p:cNvSpPr/>
          <p:nvPr/>
        </p:nvSpPr>
        <p:spPr>
          <a:xfrm>
            <a:off x="961200" y="4755960"/>
            <a:ext cx="338184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1. Busque um caminho da fonte ao destino com capacidade disponível.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5029560" y="1980360"/>
            <a:ext cx="31291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2. Determine o gargalo (capacidade mínima) do caminho.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45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CustomShape 46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ustomShape 47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CustomShape 48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91" name="" descr=""/>
          <p:cNvPicPr/>
          <p:nvPr/>
        </p:nvPicPr>
        <p:blipFill>
          <a:blip r:embed="rId2"/>
          <a:stretch/>
        </p:blipFill>
        <p:spPr>
          <a:xfrm>
            <a:off x="3886200" y="3734280"/>
            <a:ext cx="5422320" cy="2888280"/>
          </a:xfrm>
          <a:prstGeom prst="rect">
            <a:avLst/>
          </a:prstGeom>
          <a:ln w="0">
            <a:noFill/>
          </a:ln>
        </p:spPr>
      </p:pic>
      <p:pic>
        <p:nvPicPr>
          <p:cNvPr id="292" name="" descr=""/>
          <p:cNvPicPr/>
          <p:nvPr/>
        </p:nvPicPr>
        <p:blipFill>
          <a:blip r:embed="rId3"/>
          <a:srcRect l="0" t="0" r="0" b="12430"/>
          <a:stretch/>
        </p:blipFill>
        <p:spPr>
          <a:xfrm>
            <a:off x="7739280" y="1600200"/>
            <a:ext cx="1404000" cy="1599120"/>
          </a:xfrm>
          <a:prstGeom prst="rect">
            <a:avLst/>
          </a:prstGeom>
          <a:ln w="0">
            <a:noFill/>
          </a:ln>
        </p:spPr>
      </p:pic>
      <p:sp>
        <p:nvSpPr>
          <p:cNvPr id="293" name=""/>
          <p:cNvSpPr/>
          <p:nvPr/>
        </p:nvSpPr>
        <p:spPr>
          <a:xfrm>
            <a:off x="5486400" y="3448800"/>
            <a:ext cx="2476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50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ustomShape 51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CustomShape 52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53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8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299" name="" descr=""/>
          <p:cNvPicPr/>
          <p:nvPr/>
        </p:nvPicPr>
        <p:blipFill>
          <a:blip r:embed="rId2"/>
          <a:stretch/>
        </p:blipFill>
        <p:spPr>
          <a:xfrm>
            <a:off x="4343400" y="3978000"/>
            <a:ext cx="4965120" cy="2644560"/>
          </a:xfrm>
          <a:prstGeom prst="rect">
            <a:avLst/>
          </a:prstGeom>
          <a:ln w="0">
            <a:noFill/>
          </a:ln>
        </p:spPr>
      </p:pic>
      <p:sp>
        <p:nvSpPr>
          <p:cNvPr id="300" name=""/>
          <p:cNvSpPr/>
          <p:nvPr/>
        </p:nvSpPr>
        <p:spPr>
          <a:xfrm>
            <a:off x="8915400" y="5594400"/>
            <a:ext cx="393120" cy="227880"/>
          </a:xfrm>
          <a:prstGeom prst="leftArrow">
            <a:avLst>
              <a:gd name="adj1" fmla="val 50000"/>
              <a:gd name="adj2" fmla="val 43071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" name=""/>
          <p:cNvSpPr/>
          <p:nvPr/>
        </p:nvSpPr>
        <p:spPr>
          <a:xfrm>
            <a:off x="6701400" y="6436800"/>
            <a:ext cx="456480" cy="221760"/>
          </a:xfrm>
          <a:prstGeom prst="rightArrow">
            <a:avLst>
              <a:gd name="adj1" fmla="val 50000"/>
              <a:gd name="adj2" fmla="val 51375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02" name="" descr=""/>
          <p:cNvPicPr/>
          <p:nvPr/>
        </p:nvPicPr>
        <p:blipFill>
          <a:blip r:embed="rId3"/>
          <a:srcRect l="0" t="0" r="0" b="12430"/>
          <a:stretch/>
        </p:blipFill>
        <p:spPr>
          <a:xfrm>
            <a:off x="7739280" y="1600200"/>
            <a:ext cx="1404000" cy="1599120"/>
          </a:xfrm>
          <a:prstGeom prst="rect">
            <a:avLst/>
          </a:prstGeom>
          <a:ln w="0">
            <a:noFill/>
          </a:ln>
        </p:spPr>
      </p:pic>
      <p:sp>
        <p:nvSpPr>
          <p:cNvPr id="303" name=""/>
          <p:cNvSpPr/>
          <p:nvPr/>
        </p:nvSpPr>
        <p:spPr>
          <a:xfrm>
            <a:off x="961200" y="4756320"/>
            <a:ext cx="338184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1. Busque um caminho da fonte ao destino com capacidade disponível.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ustomShape 55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56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57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58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309" name="" descr=""/>
          <p:cNvPicPr/>
          <p:nvPr/>
        </p:nvPicPr>
        <p:blipFill>
          <a:blip r:embed="rId2"/>
          <a:stretch/>
        </p:blipFill>
        <p:spPr>
          <a:xfrm>
            <a:off x="4184640" y="3886200"/>
            <a:ext cx="5033520" cy="2722320"/>
          </a:xfrm>
          <a:prstGeom prst="rect">
            <a:avLst/>
          </a:prstGeom>
          <a:ln w="0">
            <a:noFill/>
          </a:ln>
        </p:spPr>
      </p:pic>
      <p:pic>
        <p:nvPicPr>
          <p:cNvPr id="310" name="" descr=""/>
          <p:cNvPicPr/>
          <p:nvPr/>
        </p:nvPicPr>
        <p:blipFill>
          <a:blip r:embed="rId3"/>
          <a:srcRect l="0" t="0" r="0" b="-72"/>
          <a:stretch/>
        </p:blipFill>
        <p:spPr>
          <a:xfrm>
            <a:off x="7739280" y="1600200"/>
            <a:ext cx="1404000" cy="1827720"/>
          </a:xfrm>
          <a:prstGeom prst="rect">
            <a:avLst/>
          </a:prstGeom>
          <a:ln w="0">
            <a:noFill/>
          </a:ln>
        </p:spPr>
      </p:pic>
      <p:sp>
        <p:nvSpPr>
          <p:cNvPr id="311" name=""/>
          <p:cNvSpPr/>
          <p:nvPr/>
        </p:nvSpPr>
        <p:spPr>
          <a:xfrm>
            <a:off x="961200" y="4755960"/>
            <a:ext cx="3381840" cy="17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1. Busque um caminho da fonte ao destino com capacidade disponível.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5029560" y="1980360"/>
            <a:ext cx="31291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2. Determine o gargalo (capacidade mínima) do caminho.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60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CustomShape 61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6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6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318" name="" descr=""/>
          <p:cNvPicPr/>
          <p:nvPr/>
        </p:nvPicPr>
        <p:blipFill>
          <a:blip r:embed="rId2"/>
          <a:stretch/>
        </p:blipFill>
        <p:spPr>
          <a:xfrm>
            <a:off x="4114800" y="3848400"/>
            <a:ext cx="5103360" cy="2760120"/>
          </a:xfrm>
          <a:prstGeom prst="rect">
            <a:avLst/>
          </a:prstGeom>
          <a:ln w="0">
            <a:noFill/>
          </a:ln>
        </p:spPr>
      </p:pic>
      <p:pic>
        <p:nvPicPr>
          <p:cNvPr id="319" name="" descr=""/>
          <p:cNvPicPr/>
          <p:nvPr/>
        </p:nvPicPr>
        <p:blipFill>
          <a:blip r:embed="rId3"/>
          <a:srcRect l="0" t="0" r="0" b="-72"/>
          <a:stretch/>
        </p:blipFill>
        <p:spPr>
          <a:xfrm>
            <a:off x="7739280" y="1600560"/>
            <a:ext cx="1404000" cy="1827720"/>
          </a:xfrm>
          <a:prstGeom prst="rect">
            <a:avLst/>
          </a:prstGeom>
          <a:ln w="0">
            <a:noFill/>
          </a:ln>
        </p:spPr>
      </p:pic>
      <p:sp>
        <p:nvSpPr>
          <p:cNvPr id="320" name=""/>
          <p:cNvSpPr/>
          <p:nvPr/>
        </p:nvSpPr>
        <p:spPr>
          <a:xfrm>
            <a:off x="5486400" y="3376800"/>
            <a:ext cx="24768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rede residual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66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Ford-Fulkerson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67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68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69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1"/>
          <a:stretch/>
        </p:blipFill>
        <p:spPr>
          <a:xfrm>
            <a:off x="217440" y="1551600"/>
            <a:ext cx="4736160" cy="2714760"/>
          </a:xfrm>
          <a:prstGeom prst="rect">
            <a:avLst/>
          </a:prstGeom>
          <a:ln w="0">
            <a:noFill/>
          </a:ln>
        </p:spPr>
      </p:pic>
      <p:pic>
        <p:nvPicPr>
          <p:cNvPr id="326" name="" descr=""/>
          <p:cNvPicPr/>
          <p:nvPr/>
        </p:nvPicPr>
        <p:blipFill>
          <a:blip r:embed="rId2"/>
          <a:srcRect l="0" t="0" r="0" b="-72"/>
          <a:stretch/>
        </p:blipFill>
        <p:spPr>
          <a:xfrm>
            <a:off x="6629400" y="2057760"/>
            <a:ext cx="1404000" cy="1827720"/>
          </a:xfrm>
          <a:prstGeom prst="rect">
            <a:avLst/>
          </a:prstGeom>
          <a:ln w="0">
            <a:noFill/>
          </a:ln>
        </p:spPr>
      </p:pic>
      <p:pic>
        <p:nvPicPr>
          <p:cNvPr id="327" name="" descr=""/>
          <p:cNvPicPr/>
          <p:nvPr/>
        </p:nvPicPr>
        <p:blipFill>
          <a:blip r:embed="rId3"/>
          <a:stretch/>
        </p:blipFill>
        <p:spPr>
          <a:xfrm>
            <a:off x="3200400" y="4800600"/>
            <a:ext cx="2500920" cy="1142280"/>
          </a:xfrm>
          <a:prstGeom prst="rect">
            <a:avLst/>
          </a:prstGeom>
          <a:ln w="0">
            <a:noFill/>
          </a:ln>
        </p:spPr>
      </p:pic>
      <p:sp>
        <p:nvSpPr>
          <p:cNvPr id="328" name=""/>
          <p:cNvSpPr/>
          <p:nvPr/>
        </p:nvSpPr>
        <p:spPr>
          <a:xfrm>
            <a:off x="5943600" y="5029200"/>
            <a:ext cx="587520" cy="358920"/>
          </a:xfrm>
          <a:prstGeom prst="rightArrow">
            <a:avLst>
              <a:gd name="adj1" fmla="val 50000"/>
              <a:gd name="adj2" fmla="val 40891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>
            <a:off x="6629400" y="5029200"/>
            <a:ext cx="913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26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78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Let’s Code!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ustomShape 79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80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81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0" y="1305360"/>
            <a:ext cx="5171040" cy="4408920"/>
          </a:xfrm>
          <a:prstGeom prst="rect">
            <a:avLst/>
          </a:prstGeom>
          <a:ln w="0">
            <a:noFill/>
          </a:ln>
        </p:spPr>
      </p:pic>
      <p:pic>
        <p:nvPicPr>
          <p:cNvPr id="335" name="" descr=""/>
          <p:cNvPicPr/>
          <p:nvPr/>
        </p:nvPicPr>
        <p:blipFill>
          <a:blip r:embed="rId2"/>
          <a:stretch/>
        </p:blipFill>
        <p:spPr>
          <a:xfrm>
            <a:off x="5171760" y="3515040"/>
            <a:ext cx="4561560" cy="334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1642</TotalTime>
  <Application>LibreOffice/24.2.7.2$Linux_X86_64 LibreOffice_project/420$Build-2</Application>
  <AppVersion>15.0000</AppVersion>
  <Words>778</Words>
  <Paragraphs>278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2025-09-05T14:46:44Z</cp:lastPrinted>
  <dcterms:modified xsi:type="dcterms:W3CDTF">2026-04-10T11:38:24Z</dcterms:modified>
  <cp:revision>159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25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25</vt:i4>
  </property>
</Properties>
</file>