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26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9.xml" ContentType="application/vnd.openxmlformats-officedocument.theme+xml"/>
  <Override PartName="/ppt/theme/theme17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6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7.png" ContentType="image/png"/>
  <Override PartName="/ppt/media/image16.png" ContentType="image/png"/>
  <Override PartName="/ppt/media/image11.png" ContentType="image/png"/>
  <Override PartName="/ppt/media/image2.png" ContentType="image/png"/>
  <Override PartName="/ppt/media/image17.png" ContentType="image/png"/>
  <Override PartName="/ppt/media/image8.png" ContentType="image/png"/>
  <Override PartName="/ppt/media/image3.png" ContentType="image/png"/>
  <Override PartName="/ppt/media/image12.png" ContentType="image/png"/>
  <Override PartName="/ppt/media/image18.png" ContentType="image/png"/>
  <Override PartName="/ppt/media/image20.png" ContentType="image/png"/>
  <Override PartName="/ppt/media/image9.png" ContentType="image/png"/>
  <Override PartName="/ppt/media/image4.png" ContentType="image/png"/>
  <Override PartName="/ppt/media/image13.png" ContentType="image/png"/>
  <Override PartName="/ppt/media/image30.png" ContentType="image/png"/>
  <Override PartName="/ppt/media/image28.png" ContentType="image/png"/>
  <Override PartName="/ppt/media/image10.png" ContentType="image/png"/>
  <Override PartName="/ppt/media/image1.png" ContentType="image/png"/>
  <Override PartName="/ppt/media/image6.png" ContentType="image/png"/>
  <Override PartName="/ppt/media/image15.png" ContentType="image/png"/>
  <Override PartName="/ppt/media/image5.png" ContentType="image/png"/>
  <Override PartName="/ppt/media/image14.png" ContentType="image/png"/>
  <Override PartName="/ppt/media/image19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8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29.xml.rels" ContentType="application/vnd.openxmlformats-package.relationships+xml"/>
  <Override PartName="/ppt/slides/_rels/slide4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26.xml" ContentType="application/vnd.openxmlformats-officedocument.presentationml.slide+xml"/>
  <Override PartName="/ppt/slides/slide1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24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25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</p:sldMasterIdLst>
  <p:notesMasterIdLst>
    <p:notesMasterId r:id="rId30"/>
  </p:notesMasterIdLst>
  <p:sldIdLst>
    <p:sldId id="256" r:id="rId31"/>
    <p:sldId id="257" r:id="rId32"/>
    <p:sldId id="258" r:id="rId33"/>
    <p:sldId id="259" r:id="rId34"/>
    <p:sldId id="260" r:id="rId35"/>
    <p:sldId id="261" r:id="rId36"/>
    <p:sldId id="262" r:id="rId37"/>
    <p:sldId id="263" r:id="rId38"/>
    <p:sldId id="264" r:id="rId39"/>
    <p:sldId id="265" r:id="rId40"/>
    <p:sldId id="266" r:id="rId41"/>
    <p:sldId id="267" r:id="rId42"/>
    <p:sldId id="268" r:id="rId43"/>
    <p:sldId id="269" r:id="rId44"/>
    <p:sldId id="270" r:id="rId45"/>
    <p:sldId id="271" r:id="rId46"/>
    <p:sldId id="272" r:id="rId47"/>
    <p:sldId id="273" r:id="rId48"/>
    <p:sldId id="274" r:id="rId49"/>
    <p:sldId id="275" r:id="rId50"/>
    <p:sldId id="276" r:id="rId51"/>
    <p:sldId id="277" r:id="rId52"/>
    <p:sldId id="278" r:id="rId53"/>
    <p:sldId id="279" r:id="rId54"/>
    <p:sldId id="280" r:id="rId55"/>
    <p:sldId id="281" r:id="rId56"/>
    <p:sldId id="282" r:id="rId57"/>
    <p:sldId id="283" r:id="rId58"/>
    <p:sldId id="284" r:id="rId59"/>
  </p:sldIdLst>
  <p:sldSz cx="10080625" cy="7559675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notesMaster" Target="notesMasters/notesMaster1.xml"/><Relationship Id="rId31" Type="http://schemas.openxmlformats.org/officeDocument/2006/relationships/slide" Target="slides/slide1.xml"/><Relationship Id="rId32" Type="http://schemas.openxmlformats.org/officeDocument/2006/relationships/slide" Target="slides/slide2.xml"/><Relationship Id="rId33" Type="http://schemas.openxmlformats.org/officeDocument/2006/relationships/slide" Target="slides/slide3.xml"/><Relationship Id="rId34" Type="http://schemas.openxmlformats.org/officeDocument/2006/relationships/slide" Target="slides/slide4.xml"/><Relationship Id="rId35" Type="http://schemas.openxmlformats.org/officeDocument/2006/relationships/slide" Target="slides/slide5.xml"/><Relationship Id="rId36" Type="http://schemas.openxmlformats.org/officeDocument/2006/relationships/slide" Target="slides/slide6.xml"/><Relationship Id="rId37" Type="http://schemas.openxmlformats.org/officeDocument/2006/relationships/slide" Target="slides/slide7.xml"/><Relationship Id="rId38" Type="http://schemas.openxmlformats.org/officeDocument/2006/relationships/slide" Target="slides/slide8.xml"/><Relationship Id="rId39" Type="http://schemas.openxmlformats.org/officeDocument/2006/relationships/slide" Target="slides/slide9.xml"/><Relationship Id="rId40" Type="http://schemas.openxmlformats.org/officeDocument/2006/relationships/slide" Target="slides/slide10.xml"/><Relationship Id="rId41" Type="http://schemas.openxmlformats.org/officeDocument/2006/relationships/slide" Target="slides/slide11.xml"/><Relationship Id="rId42" Type="http://schemas.openxmlformats.org/officeDocument/2006/relationships/slide" Target="slides/slide12.xml"/><Relationship Id="rId43" Type="http://schemas.openxmlformats.org/officeDocument/2006/relationships/slide" Target="slides/slide13.xml"/><Relationship Id="rId44" Type="http://schemas.openxmlformats.org/officeDocument/2006/relationships/slide" Target="slides/slide14.xml"/><Relationship Id="rId45" Type="http://schemas.openxmlformats.org/officeDocument/2006/relationships/slide" Target="slides/slide15.xml"/><Relationship Id="rId46" Type="http://schemas.openxmlformats.org/officeDocument/2006/relationships/slide" Target="slides/slide16.xml"/><Relationship Id="rId47" Type="http://schemas.openxmlformats.org/officeDocument/2006/relationships/slide" Target="slides/slide17.xml"/><Relationship Id="rId48" Type="http://schemas.openxmlformats.org/officeDocument/2006/relationships/slide" Target="slides/slide18.xml"/><Relationship Id="rId49" Type="http://schemas.openxmlformats.org/officeDocument/2006/relationships/slide" Target="slides/slide19.xml"/><Relationship Id="rId50" Type="http://schemas.openxmlformats.org/officeDocument/2006/relationships/slide" Target="slides/slide20.xml"/><Relationship Id="rId51" Type="http://schemas.openxmlformats.org/officeDocument/2006/relationships/slide" Target="slides/slide21.xml"/><Relationship Id="rId52" Type="http://schemas.openxmlformats.org/officeDocument/2006/relationships/slide" Target="slides/slide22.xml"/><Relationship Id="rId53" Type="http://schemas.openxmlformats.org/officeDocument/2006/relationships/slide" Target="slides/slide23.xml"/><Relationship Id="rId54" Type="http://schemas.openxmlformats.org/officeDocument/2006/relationships/slide" Target="slides/slide24.xml"/><Relationship Id="rId55" Type="http://schemas.openxmlformats.org/officeDocument/2006/relationships/slide" Target="slides/slide25.xml"/><Relationship Id="rId56" Type="http://schemas.openxmlformats.org/officeDocument/2006/relationships/slide" Target="slides/slide26.xml"/><Relationship Id="rId57" Type="http://schemas.openxmlformats.org/officeDocument/2006/relationships/slide" Target="slides/slide27.xml"/><Relationship Id="rId58" Type="http://schemas.openxmlformats.org/officeDocument/2006/relationships/slide" Target="slides/slide28.xml"/><Relationship Id="rId59" Type="http://schemas.openxmlformats.org/officeDocument/2006/relationships/slide" Target="slides/slide29.xml"/><Relationship Id="rId6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9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6336D75-D809-4BA1-B28E-2B5D28A0379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CustomShape 3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CustomShape 3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CustomShape 3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CustomShape 3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CustomShape 73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CustomShape 68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CustomShape 63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CustomShape 102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CustomShape 48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CustomShape 78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CustomShape 53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CustomShape 83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CustomShape 58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CustomShape 88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CustomShape 3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CustomShape 93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CustomShape 3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CustomShape 107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CustomShape 112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CustomShape 3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CustomShape 3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9520" cy="359964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9000" cy="420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CustomShape 7"/>
          <p:cNvSpPr/>
          <p:nvPr/>
        </p:nvSpPr>
        <p:spPr>
          <a:xfrm>
            <a:off x="0" y="10155240"/>
            <a:ext cx="326736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9520" cy="359964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9000" cy="420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CustomShape 17"/>
          <p:cNvSpPr/>
          <p:nvPr/>
        </p:nvSpPr>
        <p:spPr>
          <a:xfrm>
            <a:off x="0" y="10155240"/>
            <a:ext cx="326736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9520" cy="359964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9000" cy="420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CustomShape 18"/>
          <p:cNvSpPr/>
          <p:nvPr/>
        </p:nvSpPr>
        <p:spPr>
          <a:xfrm>
            <a:off x="0" y="10155240"/>
            <a:ext cx="326736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9520" cy="359964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9000" cy="420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CustomShape 28"/>
          <p:cNvSpPr/>
          <p:nvPr/>
        </p:nvSpPr>
        <p:spPr>
          <a:xfrm>
            <a:off x="0" y="10155240"/>
            <a:ext cx="326736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9520" cy="359964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9000" cy="420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CustomShape 33"/>
          <p:cNvSpPr/>
          <p:nvPr/>
        </p:nvSpPr>
        <p:spPr>
          <a:xfrm>
            <a:off x="0" y="10155240"/>
            <a:ext cx="326736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9520" cy="359964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9000" cy="420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CustomShape 38"/>
          <p:cNvSpPr/>
          <p:nvPr/>
        </p:nvSpPr>
        <p:spPr>
          <a:xfrm>
            <a:off x="0" y="10155240"/>
            <a:ext cx="326736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9520" cy="359964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9000" cy="420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CustomShape 43"/>
          <p:cNvSpPr/>
          <p:nvPr/>
        </p:nvSpPr>
        <p:spPr>
          <a:xfrm>
            <a:off x="0" y="10155240"/>
            <a:ext cx="326736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8440" cy="359856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7920" cy="4200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CustomShape 6"/>
          <p:cNvSpPr/>
          <p:nvPr/>
        </p:nvSpPr>
        <p:spPr>
          <a:xfrm>
            <a:off x="0" y="10155240"/>
            <a:ext cx="3266280" cy="5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slideLayout" Target="../slideLayouts/slideLayout2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0" y="3150000"/>
            <a:ext cx="9710280" cy="125028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ustomShape 1"/>
          <p:cNvSpPr/>
          <p:nvPr/>
        </p:nvSpPr>
        <p:spPr>
          <a:xfrm>
            <a:off x="0" y="3150000"/>
            <a:ext cx="9710280" cy="125028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ustomShape 1"/>
          <p:cNvSpPr/>
          <p:nvPr/>
        </p:nvSpPr>
        <p:spPr>
          <a:xfrm>
            <a:off x="0" y="3150000"/>
            <a:ext cx="9710280" cy="125028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ustomShape 1"/>
          <p:cNvSpPr/>
          <p:nvPr/>
        </p:nvSpPr>
        <p:spPr>
          <a:xfrm>
            <a:off x="0" y="3150000"/>
            <a:ext cx="9710280" cy="125028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ustomShape 1"/>
          <p:cNvSpPr/>
          <p:nvPr/>
        </p:nvSpPr>
        <p:spPr>
          <a:xfrm>
            <a:off x="0" y="3150000"/>
            <a:ext cx="9710280" cy="125028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CustomShape 1"/>
          <p:cNvSpPr/>
          <p:nvPr/>
        </p:nvSpPr>
        <p:spPr>
          <a:xfrm>
            <a:off x="0" y="3150000"/>
            <a:ext cx="9710280" cy="125028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CustomShape 1"/>
          <p:cNvSpPr/>
          <p:nvPr/>
        </p:nvSpPr>
        <p:spPr>
          <a:xfrm>
            <a:off x="0" y="3150000"/>
            <a:ext cx="9710280" cy="125028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CustomShape 1"/>
          <p:cNvSpPr/>
          <p:nvPr/>
        </p:nvSpPr>
        <p:spPr>
          <a:xfrm>
            <a:off x="0" y="3150000"/>
            <a:ext cx="9710280" cy="125028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CustomShape 1"/>
          <p:cNvSpPr/>
          <p:nvPr/>
        </p:nvSpPr>
        <p:spPr>
          <a:xfrm>
            <a:off x="0" y="3150000"/>
            <a:ext cx="9710280" cy="125028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CustomShape 1"/>
          <p:cNvSpPr/>
          <p:nvPr/>
        </p:nvSpPr>
        <p:spPr>
          <a:xfrm>
            <a:off x="0" y="3150000"/>
            <a:ext cx="9710280" cy="125028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ustomShape 1"/>
          <p:cNvSpPr/>
          <p:nvPr/>
        </p:nvSpPr>
        <p:spPr>
          <a:xfrm>
            <a:off x="0" y="3150000"/>
            <a:ext cx="9710280" cy="125028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CustomShape 1"/>
          <p:cNvSpPr/>
          <p:nvPr/>
        </p:nvSpPr>
        <p:spPr>
          <a:xfrm>
            <a:off x="0" y="3150000"/>
            <a:ext cx="9710280" cy="125028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CustomShape 1"/>
          <p:cNvSpPr/>
          <p:nvPr/>
        </p:nvSpPr>
        <p:spPr>
          <a:xfrm>
            <a:off x="0" y="180000"/>
            <a:ext cx="9710280" cy="125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1" name="CustomShape 2"/>
          <p:cNvSpPr/>
          <p:nvPr/>
        </p:nvSpPr>
        <p:spPr>
          <a:xfrm>
            <a:off x="7560000" y="6840000"/>
            <a:ext cx="2510280" cy="53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2" name="CustomShape 3"/>
          <p:cNvSpPr/>
          <p:nvPr/>
        </p:nvSpPr>
        <p:spPr>
          <a:xfrm>
            <a:off x="900000" y="6840000"/>
            <a:ext cx="6470280" cy="53028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" name="CustomShape 4"/>
          <p:cNvSpPr/>
          <p:nvPr/>
        </p:nvSpPr>
        <p:spPr>
          <a:xfrm>
            <a:off x="180000" y="6840000"/>
            <a:ext cx="530280" cy="53028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0" y="180000"/>
            <a:ext cx="9710280" cy="125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7560000" y="6840000"/>
            <a:ext cx="2510280" cy="53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4" name="CustomShape 3"/>
          <p:cNvSpPr/>
          <p:nvPr/>
        </p:nvSpPr>
        <p:spPr>
          <a:xfrm>
            <a:off x="900000" y="6840000"/>
            <a:ext cx="6470280" cy="53028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5" name="CustomShape 4"/>
          <p:cNvSpPr/>
          <p:nvPr/>
        </p:nvSpPr>
        <p:spPr>
          <a:xfrm>
            <a:off x="180000" y="6840000"/>
            <a:ext cx="530280" cy="53028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CustomShape 1"/>
          <p:cNvSpPr/>
          <p:nvPr/>
        </p:nvSpPr>
        <p:spPr>
          <a:xfrm>
            <a:off x="0" y="180000"/>
            <a:ext cx="9710280" cy="125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9" name="CustomShape 2"/>
          <p:cNvSpPr/>
          <p:nvPr/>
        </p:nvSpPr>
        <p:spPr>
          <a:xfrm>
            <a:off x="7560000" y="6840000"/>
            <a:ext cx="2510280" cy="53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0" name="CustomShape 3"/>
          <p:cNvSpPr/>
          <p:nvPr/>
        </p:nvSpPr>
        <p:spPr>
          <a:xfrm>
            <a:off x="900000" y="6840000"/>
            <a:ext cx="6470280" cy="53028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1" name="CustomShape 4"/>
          <p:cNvSpPr/>
          <p:nvPr/>
        </p:nvSpPr>
        <p:spPr>
          <a:xfrm>
            <a:off x="180000" y="6840000"/>
            <a:ext cx="530280" cy="53028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ustomShape 1"/>
          <p:cNvSpPr/>
          <p:nvPr/>
        </p:nvSpPr>
        <p:spPr>
          <a:xfrm>
            <a:off x="0" y="180000"/>
            <a:ext cx="9710280" cy="125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9" name="CustomShape 2"/>
          <p:cNvSpPr/>
          <p:nvPr/>
        </p:nvSpPr>
        <p:spPr>
          <a:xfrm>
            <a:off x="7560000" y="6840000"/>
            <a:ext cx="2510280" cy="53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0" name="CustomShape 3"/>
          <p:cNvSpPr/>
          <p:nvPr/>
        </p:nvSpPr>
        <p:spPr>
          <a:xfrm>
            <a:off x="900000" y="6840000"/>
            <a:ext cx="6470280" cy="53028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1" name="CustomShape 4"/>
          <p:cNvSpPr/>
          <p:nvPr/>
        </p:nvSpPr>
        <p:spPr>
          <a:xfrm>
            <a:off x="180000" y="6840000"/>
            <a:ext cx="530280" cy="53028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CustomShape 1"/>
          <p:cNvSpPr/>
          <p:nvPr/>
        </p:nvSpPr>
        <p:spPr>
          <a:xfrm>
            <a:off x="0" y="180000"/>
            <a:ext cx="9710280" cy="125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3" name="CustomShape 2"/>
          <p:cNvSpPr/>
          <p:nvPr/>
        </p:nvSpPr>
        <p:spPr>
          <a:xfrm>
            <a:off x="7560000" y="6840000"/>
            <a:ext cx="2510280" cy="53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4" name="CustomShape 3"/>
          <p:cNvSpPr/>
          <p:nvPr/>
        </p:nvSpPr>
        <p:spPr>
          <a:xfrm>
            <a:off x="900000" y="6840000"/>
            <a:ext cx="6470280" cy="53028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" name="CustomShape 4"/>
          <p:cNvSpPr/>
          <p:nvPr/>
        </p:nvSpPr>
        <p:spPr>
          <a:xfrm>
            <a:off x="180000" y="6840000"/>
            <a:ext cx="530280" cy="53028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0" y="180000"/>
            <a:ext cx="9710280" cy="125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7560000" y="6840000"/>
            <a:ext cx="2510280" cy="53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8" name="CustomShape 3"/>
          <p:cNvSpPr/>
          <p:nvPr/>
        </p:nvSpPr>
        <p:spPr>
          <a:xfrm>
            <a:off x="900000" y="6840000"/>
            <a:ext cx="6470280" cy="53028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" name="CustomShape 4"/>
          <p:cNvSpPr/>
          <p:nvPr/>
        </p:nvSpPr>
        <p:spPr>
          <a:xfrm>
            <a:off x="180000" y="6840000"/>
            <a:ext cx="530280" cy="53028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CustomShape 1"/>
          <p:cNvSpPr/>
          <p:nvPr/>
        </p:nvSpPr>
        <p:spPr>
          <a:xfrm>
            <a:off x="0" y="180000"/>
            <a:ext cx="9710280" cy="125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3" name="CustomShape 2"/>
          <p:cNvSpPr/>
          <p:nvPr/>
        </p:nvSpPr>
        <p:spPr>
          <a:xfrm>
            <a:off x="7560000" y="6840000"/>
            <a:ext cx="2510280" cy="53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4" name="CustomShape 3"/>
          <p:cNvSpPr/>
          <p:nvPr/>
        </p:nvSpPr>
        <p:spPr>
          <a:xfrm>
            <a:off x="900000" y="6840000"/>
            <a:ext cx="6470280" cy="53028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" name="CustomShape 4"/>
          <p:cNvSpPr/>
          <p:nvPr/>
        </p:nvSpPr>
        <p:spPr>
          <a:xfrm>
            <a:off x="180000" y="6840000"/>
            <a:ext cx="530280" cy="53028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CustomShape 1"/>
          <p:cNvSpPr/>
          <p:nvPr/>
        </p:nvSpPr>
        <p:spPr>
          <a:xfrm>
            <a:off x="0" y="180000"/>
            <a:ext cx="9710280" cy="125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1" name="CustomShape 2"/>
          <p:cNvSpPr/>
          <p:nvPr/>
        </p:nvSpPr>
        <p:spPr>
          <a:xfrm>
            <a:off x="7560000" y="6840000"/>
            <a:ext cx="2510280" cy="53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2" name="CustomShape 3"/>
          <p:cNvSpPr/>
          <p:nvPr/>
        </p:nvSpPr>
        <p:spPr>
          <a:xfrm>
            <a:off x="900000" y="6840000"/>
            <a:ext cx="6470280" cy="53028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" name="CustomShape 4"/>
          <p:cNvSpPr/>
          <p:nvPr/>
        </p:nvSpPr>
        <p:spPr>
          <a:xfrm>
            <a:off x="180000" y="6840000"/>
            <a:ext cx="530280" cy="53028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0" y="180000"/>
            <a:ext cx="9710280" cy="125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7560000" y="6840000"/>
            <a:ext cx="2510280" cy="53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0" name="CustomShape 3"/>
          <p:cNvSpPr/>
          <p:nvPr/>
        </p:nvSpPr>
        <p:spPr>
          <a:xfrm>
            <a:off x="900000" y="6840000"/>
            <a:ext cx="6470280" cy="53028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1" name="CustomShape 4"/>
          <p:cNvSpPr/>
          <p:nvPr/>
        </p:nvSpPr>
        <p:spPr>
          <a:xfrm>
            <a:off x="180000" y="6840000"/>
            <a:ext cx="530280" cy="53028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CustomShape 1"/>
          <p:cNvSpPr/>
          <p:nvPr/>
        </p:nvSpPr>
        <p:spPr>
          <a:xfrm>
            <a:off x="0" y="180000"/>
            <a:ext cx="9710280" cy="125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9" name="CustomShape 2"/>
          <p:cNvSpPr/>
          <p:nvPr/>
        </p:nvSpPr>
        <p:spPr>
          <a:xfrm>
            <a:off x="7560000" y="6840000"/>
            <a:ext cx="2510280" cy="53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0" name="CustomShape 3"/>
          <p:cNvSpPr/>
          <p:nvPr/>
        </p:nvSpPr>
        <p:spPr>
          <a:xfrm>
            <a:off x="900000" y="6840000"/>
            <a:ext cx="6470280" cy="53028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" name="CustomShape 4"/>
          <p:cNvSpPr/>
          <p:nvPr/>
        </p:nvSpPr>
        <p:spPr>
          <a:xfrm>
            <a:off x="180000" y="6840000"/>
            <a:ext cx="530280" cy="53028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CustomShape 1"/>
          <p:cNvSpPr/>
          <p:nvPr/>
        </p:nvSpPr>
        <p:spPr>
          <a:xfrm>
            <a:off x="0" y="180000"/>
            <a:ext cx="9710280" cy="125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5" name="CustomShape 2"/>
          <p:cNvSpPr/>
          <p:nvPr/>
        </p:nvSpPr>
        <p:spPr>
          <a:xfrm>
            <a:off x="7560000" y="6840000"/>
            <a:ext cx="2510280" cy="53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6" name="CustomShape 3"/>
          <p:cNvSpPr/>
          <p:nvPr/>
        </p:nvSpPr>
        <p:spPr>
          <a:xfrm>
            <a:off x="900000" y="6840000"/>
            <a:ext cx="6470280" cy="53028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7" name="CustomShape 4"/>
          <p:cNvSpPr/>
          <p:nvPr/>
        </p:nvSpPr>
        <p:spPr>
          <a:xfrm>
            <a:off x="180000" y="6840000"/>
            <a:ext cx="530280" cy="53028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CustomShape 1"/>
          <p:cNvSpPr/>
          <p:nvPr/>
        </p:nvSpPr>
        <p:spPr>
          <a:xfrm>
            <a:off x="0" y="180000"/>
            <a:ext cx="9710280" cy="125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9" name="CustomShape 2"/>
          <p:cNvSpPr/>
          <p:nvPr/>
        </p:nvSpPr>
        <p:spPr>
          <a:xfrm>
            <a:off x="7560000" y="6840000"/>
            <a:ext cx="2510280" cy="53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0" name="CustomShape 3"/>
          <p:cNvSpPr/>
          <p:nvPr/>
        </p:nvSpPr>
        <p:spPr>
          <a:xfrm>
            <a:off x="900000" y="6840000"/>
            <a:ext cx="6470280" cy="53028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1" name="CustomShape 4"/>
          <p:cNvSpPr/>
          <p:nvPr/>
        </p:nvSpPr>
        <p:spPr>
          <a:xfrm>
            <a:off x="180000" y="6840000"/>
            <a:ext cx="530280" cy="53028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CustomShape 1"/>
          <p:cNvSpPr/>
          <p:nvPr/>
        </p:nvSpPr>
        <p:spPr>
          <a:xfrm>
            <a:off x="0" y="180000"/>
            <a:ext cx="9710280" cy="125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1" name="CustomShape 2"/>
          <p:cNvSpPr/>
          <p:nvPr/>
        </p:nvSpPr>
        <p:spPr>
          <a:xfrm>
            <a:off x="7560000" y="6840000"/>
            <a:ext cx="2510280" cy="53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2" name="CustomShape 3"/>
          <p:cNvSpPr/>
          <p:nvPr/>
        </p:nvSpPr>
        <p:spPr>
          <a:xfrm>
            <a:off x="900000" y="6840000"/>
            <a:ext cx="6470280" cy="53028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3" name="CustomShape 4"/>
          <p:cNvSpPr/>
          <p:nvPr/>
        </p:nvSpPr>
        <p:spPr>
          <a:xfrm>
            <a:off x="180000" y="6840000"/>
            <a:ext cx="530280" cy="53028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4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CustomShape 1"/>
          <p:cNvSpPr/>
          <p:nvPr/>
        </p:nvSpPr>
        <p:spPr>
          <a:xfrm>
            <a:off x="0" y="3150000"/>
            <a:ext cx="9711360" cy="125136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CustomShape 1"/>
          <p:cNvSpPr/>
          <p:nvPr/>
        </p:nvSpPr>
        <p:spPr>
          <a:xfrm>
            <a:off x="0" y="180000"/>
            <a:ext cx="9710280" cy="125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6" name="CustomShape 2"/>
          <p:cNvSpPr/>
          <p:nvPr/>
        </p:nvSpPr>
        <p:spPr>
          <a:xfrm>
            <a:off x="7560000" y="6840000"/>
            <a:ext cx="2510280" cy="53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7" name="CustomShape 3"/>
          <p:cNvSpPr/>
          <p:nvPr/>
        </p:nvSpPr>
        <p:spPr>
          <a:xfrm>
            <a:off x="900000" y="6840000"/>
            <a:ext cx="6470280" cy="53028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" name="CustomShape 4"/>
          <p:cNvSpPr/>
          <p:nvPr/>
        </p:nvSpPr>
        <p:spPr>
          <a:xfrm>
            <a:off x="180000" y="6840000"/>
            <a:ext cx="530280" cy="53028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CustomShape 1"/>
          <p:cNvSpPr/>
          <p:nvPr/>
        </p:nvSpPr>
        <p:spPr>
          <a:xfrm>
            <a:off x="0" y="180000"/>
            <a:ext cx="9710280" cy="125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2" name="CustomShape 2"/>
          <p:cNvSpPr/>
          <p:nvPr/>
        </p:nvSpPr>
        <p:spPr>
          <a:xfrm>
            <a:off x="7560000" y="6840000"/>
            <a:ext cx="2510280" cy="53028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3" name="CustomShape 3"/>
          <p:cNvSpPr/>
          <p:nvPr/>
        </p:nvSpPr>
        <p:spPr>
          <a:xfrm>
            <a:off x="900000" y="6840000"/>
            <a:ext cx="6470280" cy="53028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" name="CustomShape 4"/>
          <p:cNvSpPr/>
          <p:nvPr/>
        </p:nvSpPr>
        <p:spPr>
          <a:xfrm>
            <a:off x="180000" y="6840000"/>
            <a:ext cx="530280" cy="53028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mailto:gustavo.hochuli@pucpr.br" TargetMode="External"/><Relationship Id="rId2" Type="http://schemas.openxmlformats.org/officeDocument/2006/relationships/hyperlink" Target="mailto:aghochuli@ppgia.pucpr.br" TargetMode="Externa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7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7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8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8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7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27.xml"/><Relationship Id="rId6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7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27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8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28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slideLayout" Target="../slideLayouts/slideLayout27.xml"/><Relationship Id="rId7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27.xml"/><Relationship Id="rId5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27.xml"/><Relationship Id="rId5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hyperlink" Target="https://github.com/andrehochuli/teaching/blob/main/DataStructuresAndAlgorithms/Lecture%2003%20-%20Linked%20Lists%20and%20Hash%20Table/Lecture%2003%20-%20Linked%20Lists%20and%20Hash%20Table.ipynb" TargetMode="External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slideLayout" Target="../slideLayouts/slideLayout14.xml"/><Relationship Id="rId6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hyperlink" Target="https://github.com/andrehochuli/teaching/blob/main/DataStructuresAndAlgorithms/Lecture%2003%20-%20Linked%20Lists%20and%20Hash%20Table/Lecture%2003%20-%20Linked%20Lists%20and%20Hash%20Table.ipynb" TargetMode="External"/><Relationship Id="rId2" Type="http://schemas.openxmlformats.org/officeDocument/2006/relationships/slideLayout" Target="../slideLayouts/slideLayout27.xml"/><Relationship Id="rId3" Type="http://schemas.openxmlformats.org/officeDocument/2006/relationships/notesSlide" Target="../notesSlides/notesSlide2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CustomShape 1"/>
          <p:cNvSpPr/>
          <p:nvPr/>
        </p:nvSpPr>
        <p:spPr>
          <a:xfrm>
            <a:off x="360000" y="333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8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Fundamentos de Algoritmos e Estrutura de Dados </a:t>
            </a: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 </a:t>
            </a:r>
            <a:r>
              <a:rPr b="1" lang="pt-BR" sz="28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#3 - Listas Encadeadas e Tabela Hash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CustomShape 2"/>
          <p:cNvSpPr/>
          <p:nvPr/>
        </p:nvSpPr>
        <p:spPr>
          <a:xfrm>
            <a:off x="540000" y="4680000"/>
            <a:ext cx="9170280" cy="251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Prof. André Gustavo Hochuli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1"/>
              </a:rPr>
              <a:t>gustavo.hochuli@pucpr.br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2"/>
              </a:rPr>
              <a:t>aghochuli@ppgia.pucpr.br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CustomShape 1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Plano de Aula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CustomShape 2"/>
          <p:cNvSpPr/>
          <p:nvPr/>
        </p:nvSpPr>
        <p:spPr>
          <a:xfrm>
            <a:off x="360000" y="1980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Listas Encadeadas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Filas e Pilhas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Tabela Hash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Contextualização do Problema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Funções Hash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Colisões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Exercícios e Análises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CustomShape 3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CustomShape 4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CustomShape 1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Estruturas de Dados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CustomShape 3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CustomShape 4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2" name="Picture 6" descr="Classification of Data Structures in C"/>
          <p:cNvPicPr/>
          <p:nvPr/>
        </p:nvPicPr>
        <p:blipFill>
          <a:blip r:embed="rId1"/>
          <a:stretch/>
        </p:blipFill>
        <p:spPr>
          <a:xfrm>
            <a:off x="205920" y="1474920"/>
            <a:ext cx="9482040" cy="5082480"/>
          </a:xfrm>
          <a:prstGeom prst="rect">
            <a:avLst/>
          </a:prstGeom>
          <a:ln w="0">
            <a:noFill/>
          </a:ln>
        </p:spPr>
      </p:pic>
      <p:sp>
        <p:nvSpPr>
          <p:cNvPr id="213" name=""/>
          <p:cNvSpPr/>
          <p:nvPr/>
        </p:nvSpPr>
        <p:spPr>
          <a:xfrm rot="8716800">
            <a:off x="6568200" y="4603320"/>
            <a:ext cx="798120" cy="336240"/>
          </a:xfrm>
          <a:prstGeom prst="rightArrow">
            <a:avLst>
              <a:gd name="adj1" fmla="val 50000"/>
              <a:gd name="adj2" fmla="val 59159"/>
            </a:avLst>
          </a:prstGeom>
          <a:solidFill>
            <a:srgbClr val="ff0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CustomShape 1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Estruturas de Dados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CustomShape 2"/>
          <p:cNvSpPr/>
          <p:nvPr/>
        </p:nvSpPr>
        <p:spPr>
          <a:xfrm>
            <a:off x="360000" y="1980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NOTA: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Embora a </a:t>
            </a:r>
            <a:r>
              <a:rPr b="0" lang="pt-BR" sz="1800" spc="-1" strike="noStrike" u="sng">
                <a:solidFill>
                  <a:srgbClr val="1c1c1c"/>
                </a:solidFill>
                <a:uFillTx/>
                <a:latin typeface="Latin Modern Sans"/>
                <a:ea typeface="DejaVu Sans"/>
              </a:rPr>
              <a:t>linguagem C</a:t>
            </a:r>
            <a:r>
              <a:rPr b="0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seja tradicionalmente utilizada no ensino de Estruturas de Dados por permitir maior controle sobre memória e ponteiros, neste material adotamos </a:t>
            </a:r>
            <a:r>
              <a:rPr b="0" lang="pt-BR" sz="1800" spc="-1" strike="noStrike" u="sng">
                <a:solidFill>
                  <a:srgbClr val="1c1c1c"/>
                </a:solidFill>
                <a:uFillTx/>
                <a:latin typeface="Latin Modern Sans"/>
                <a:ea typeface="DejaVu Sans"/>
              </a:rPr>
              <a:t>Python e Programação Orientada a Objetos (POO)</a:t>
            </a:r>
            <a:r>
              <a:rPr b="0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com fins didáticos.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O objetivo é priorizar a </a:t>
            </a:r>
            <a:r>
              <a:rPr b="0" lang="pt-BR" sz="1800" spc="-1" strike="noStrike" u="sng">
                <a:solidFill>
                  <a:srgbClr val="1c1c1c"/>
                </a:solidFill>
                <a:uFillTx/>
                <a:latin typeface="Latin Modern Sans"/>
                <a:ea typeface="DejaVu Sans"/>
              </a:rPr>
              <a:t>compreensão conceitual</a:t>
            </a:r>
            <a:r>
              <a:rPr b="0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das estruturas e de seus algoritmos, utilizando abstrações que facilitam a aprendizagem. Essa abordagem permite ao estudante focar no raciocínio algorítmico e na arquitetura das estruturas, sem se prender inicialmente a detalhes de implementação de baixo nível.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CustomShape 3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CustomShape 4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CustomShape 69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Estruturas de Dados Estáticas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CustomShape 70"/>
          <p:cNvSpPr/>
          <p:nvPr/>
        </p:nvSpPr>
        <p:spPr>
          <a:xfrm>
            <a:off x="360000" y="1980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Alocação contígua (</a:t>
            </a:r>
            <a:r>
              <a:rPr b="1" i="1" lang="pt-BR" sz="1800" spc="-1" strike="noStrike" u="sng">
                <a:solidFill>
                  <a:srgbClr val="1c1c1c"/>
                </a:solidFill>
                <a:uFillTx/>
                <a:latin typeface="Latin Modern Sans"/>
                <a:ea typeface="DejaVu Sans"/>
              </a:rPr>
              <a:t>Static</a:t>
            </a: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Vantagens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Acesso é rápido e sequencial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Baixo Overhead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Requer baixo nível de programação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Desvantagem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Inviável para grandes massas de dados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Limitado ao número de blocos sequenciais </a:t>
            </a:r>
            <a:r>
              <a:rPr b="1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livres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CustomShape 71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1" name="Imagem 19" descr=""/>
          <p:cNvPicPr/>
          <p:nvPr/>
        </p:nvPicPr>
        <p:blipFill>
          <a:blip r:embed="rId1"/>
          <a:srcRect l="0" t="0" r="5885" b="10"/>
          <a:stretch/>
        </p:blipFill>
        <p:spPr>
          <a:xfrm>
            <a:off x="5258160" y="1711440"/>
            <a:ext cx="4272120" cy="2630160"/>
          </a:xfrm>
          <a:prstGeom prst="rect">
            <a:avLst/>
          </a:prstGeom>
          <a:ln w="0">
            <a:noFill/>
          </a:ln>
        </p:spPr>
      </p:pic>
      <p:sp>
        <p:nvSpPr>
          <p:cNvPr id="222" name="CustomShape 72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CustomShape 64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Estruturas de Dados Dinâmicas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CustomShape 65"/>
          <p:cNvSpPr/>
          <p:nvPr/>
        </p:nvSpPr>
        <p:spPr>
          <a:xfrm>
            <a:off x="360000" y="1980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87222"/>
          </a:bodyPr>
          <a:p>
            <a:pPr lvl="2" marL="4492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Alocação não-contígua (</a:t>
            </a:r>
            <a:r>
              <a:rPr b="1" i="1" lang="pt-BR" sz="1800" spc="-1" strike="noStrike" u="sng">
                <a:solidFill>
                  <a:srgbClr val="1c1c1c"/>
                </a:solidFill>
                <a:uFillTx/>
                <a:latin typeface="Latin Modern Sans"/>
                <a:ea typeface="DejaVu Sans"/>
              </a:rPr>
              <a:t>Dynamic</a:t>
            </a: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Vantagens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Armazenar grandes massas de dados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Memória física é o limite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Desvantagem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Overhead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Elevado nível de abstração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Arquiteturas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Listas Ligadas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Árvores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Grafos,….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CustomShape 66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6" name="Imagem 16" descr=""/>
          <p:cNvPicPr/>
          <p:nvPr/>
        </p:nvPicPr>
        <p:blipFill>
          <a:blip r:embed="rId1"/>
          <a:stretch/>
        </p:blipFill>
        <p:spPr>
          <a:xfrm>
            <a:off x="5190840" y="3429000"/>
            <a:ext cx="4339440" cy="2491560"/>
          </a:xfrm>
          <a:prstGeom prst="rect">
            <a:avLst/>
          </a:prstGeom>
          <a:ln w="0">
            <a:noFill/>
          </a:ln>
        </p:spPr>
      </p:pic>
      <p:sp>
        <p:nvSpPr>
          <p:cNvPr id="227" name="CustomShape 67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8" name="Imagem 17" descr=""/>
          <p:cNvPicPr/>
          <p:nvPr/>
        </p:nvPicPr>
        <p:blipFill>
          <a:blip r:embed="rId2"/>
          <a:stretch/>
        </p:blipFill>
        <p:spPr>
          <a:xfrm>
            <a:off x="5029200" y="3429000"/>
            <a:ext cx="4339440" cy="2491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CustomShape 59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Ponteiros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CustomShape 60"/>
          <p:cNvSpPr/>
          <p:nvPr/>
        </p:nvSpPr>
        <p:spPr>
          <a:xfrm>
            <a:off x="360000" y="1980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2" marL="4492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Ponteiros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Alocam endereços de memória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Referenciam outros dados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2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Eficiência no acesso e modificação de dados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CustomShape 61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CustomShape 62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3" name="Imagem 18" descr=""/>
          <p:cNvPicPr/>
          <p:nvPr/>
        </p:nvPicPr>
        <p:blipFill>
          <a:blip r:embed="rId1"/>
          <a:stretch/>
        </p:blipFill>
        <p:spPr>
          <a:xfrm>
            <a:off x="2745360" y="3678840"/>
            <a:ext cx="4796640" cy="2754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CustomShape 99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Listas Ligadas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CustomShape 100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CustomShape 101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7" name="Imagem 2" descr=""/>
          <p:cNvPicPr/>
          <p:nvPr/>
        </p:nvPicPr>
        <p:blipFill>
          <a:blip r:embed="rId1"/>
          <a:stretch/>
        </p:blipFill>
        <p:spPr>
          <a:xfrm>
            <a:off x="2286000" y="2057400"/>
            <a:ext cx="5256000" cy="367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CustomShape 44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Listas Ligadas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CustomShape 45"/>
          <p:cNvSpPr/>
          <p:nvPr/>
        </p:nvSpPr>
        <p:spPr>
          <a:xfrm>
            <a:off x="432000" y="1584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Implementação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CustomShape 46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CustomShape 47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2" name="Imagem 14" descr=""/>
          <p:cNvPicPr/>
          <p:nvPr/>
        </p:nvPicPr>
        <p:blipFill>
          <a:blip r:embed="rId1"/>
          <a:srcRect l="27942" t="9974" r="9151" b="59992"/>
          <a:stretch/>
        </p:blipFill>
        <p:spPr>
          <a:xfrm>
            <a:off x="1829160" y="2057400"/>
            <a:ext cx="2055240" cy="684000"/>
          </a:xfrm>
          <a:prstGeom prst="rect">
            <a:avLst/>
          </a:prstGeom>
          <a:ln w="0">
            <a:noFill/>
          </a:ln>
        </p:spPr>
      </p:pic>
      <p:pic>
        <p:nvPicPr>
          <p:cNvPr id="243" name="" descr=""/>
          <p:cNvPicPr/>
          <p:nvPr/>
        </p:nvPicPr>
        <p:blipFill>
          <a:blip r:embed="rId2"/>
          <a:stretch/>
        </p:blipFill>
        <p:spPr>
          <a:xfrm>
            <a:off x="4572000" y="1657800"/>
            <a:ext cx="3922200" cy="1312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CustomShape 74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Listas Ligadas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CustomShape 75"/>
          <p:cNvSpPr/>
          <p:nvPr/>
        </p:nvSpPr>
        <p:spPr>
          <a:xfrm>
            <a:off x="432000" y="1584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Implementação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CustomShape 76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CustomShape 77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8" name="Imagem 20" descr=""/>
          <p:cNvPicPr/>
          <p:nvPr/>
        </p:nvPicPr>
        <p:blipFill>
          <a:blip r:embed="rId1"/>
          <a:srcRect l="27942" t="9974" r="9151" b="59992"/>
          <a:stretch/>
        </p:blipFill>
        <p:spPr>
          <a:xfrm>
            <a:off x="1829160" y="2057400"/>
            <a:ext cx="2055240" cy="684000"/>
          </a:xfrm>
          <a:prstGeom prst="rect">
            <a:avLst/>
          </a:prstGeom>
          <a:ln w="0">
            <a:noFill/>
          </a:ln>
        </p:spPr>
      </p:pic>
      <p:pic>
        <p:nvPicPr>
          <p:cNvPr id="249" name="" descr=""/>
          <p:cNvPicPr/>
          <p:nvPr/>
        </p:nvPicPr>
        <p:blipFill>
          <a:blip r:embed="rId2"/>
          <a:stretch/>
        </p:blipFill>
        <p:spPr>
          <a:xfrm>
            <a:off x="4572000" y="1657800"/>
            <a:ext cx="4113360" cy="1376280"/>
          </a:xfrm>
          <a:prstGeom prst="rect">
            <a:avLst/>
          </a:prstGeom>
          <a:ln w="0">
            <a:noFill/>
          </a:ln>
        </p:spPr>
      </p:pic>
      <p:pic>
        <p:nvPicPr>
          <p:cNvPr id="250" name="" descr=""/>
          <p:cNvPicPr/>
          <p:nvPr/>
        </p:nvPicPr>
        <p:blipFill>
          <a:blip r:embed="rId3"/>
          <a:srcRect l="0" t="45770" r="0" b="23665"/>
          <a:stretch/>
        </p:blipFill>
        <p:spPr>
          <a:xfrm>
            <a:off x="1125360" y="5029560"/>
            <a:ext cx="2759040" cy="455040"/>
          </a:xfrm>
          <a:prstGeom prst="rect">
            <a:avLst/>
          </a:prstGeom>
          <a:ln w="0">
            <a:noFill/>
          </a:ln>
        </p:spPr>
      </p:pic>
      <p:pic>
        <p:nvPicPr>
          <p:cNvPr id="251" name="" descr=""/>
          <p:cNvPicPr/>
          <p:nvPr/>
        </p:nvPicPr>
        <p:blipFill>
          <a:blip r:embed="rId4"/>
          <a:stretch/>
        </p:blipFill>
        <p:spPr>
          <a:xfrm>
            <a:off x="4048200" y="3200400"/>
            <a:ext cx="5322960" cy="2971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CustomShape 49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Listas Ligadas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CustomShape 50"/>
          <p:cNvSpPr/>
          <p:nvPr/>
        </p:nvSpPr>
        <p:spPr>
          <a:xfrm>
            <a:off x="432000" y="1584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E como percorrer a lista a partir do primeiro elemento?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CustomShape 51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CustomShape 52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6" name="" descr=""/>
          <p:cNvPicPr/>
          <p:nvPr/>
        </p:nvPicPr>
        <p:blipFill>
          <a:blip r:embed="rId1"/>
          <a:srcRect l="0" t="-85" r="0" b="-6815"/>
          <a:stretch/>
        </p:blipFill>
        <p:spPr>
          <a:xfrm>
            <a:off x="668160" y="2514960"/>
            <a:ext cx="2759040" cy="1598040"/>
          </a:xfrm>
          <a:prstGeom prst="rect">
            <a:avLst/>
          </a:prstGeom>
          <a:ln w="0">
            <a:noFill/>
          </a:ln>
        </p:spPr>
      </p:pic>
      <p:sp>
        <p:nvSpPr>
          <p:cNvPr id="257" name=""/>
          <p:cNvSpPr/>
          <p:nvPr/>
        </p:nvSpPr>
        <p:spPr>
          <a:xfrm>
            <a:off x="457200" y="4114800"/>
            <a:ext cx="3198960" cy="227160"/>
          </a:xfrm>
          <a:prstGeom prst="rightArrow">
            <a:avLst>
              <a:gd name="adj1" fmla="val 67610"/>
              <a:gd name="adj2" fmla="val 11809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CustomShape 79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Listas Ligadas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CustomShape 80"/>
          <p:cNvSpPr/>
          <p:nvPr/>
        </p:nvSpPr>
        <p:spPr>
          <a:xfrm>
            <a:off x="432000" y="1584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E como percorrer a lista a partir do primeiro elemento?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CustomShape 81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CustomShape 82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2" name="" descr=""/>
          <p:cNvPicPr/>
          <p:nvPr/>
        </p:nvPicPr>
        <p:blipFill>
          <a:blip r:embed="rId1"/>
          <a:srcRect l="0" t="-85" r="0" b="-6815"/>
          <a:stretch/>
        </p:blipFill>
        <p:spPr>
          <a:xfrm>
            <a:off x="668160" y="2514960"/>
            <a:ext cx="2759040" cy="1598040"/>
          </a:xfrm>
          <a:prstGeom prst="rect">
            <a:avLst/>
          </a:prstGeom>
          <a:ln w="0">
            <a:noFill/>
          </a:ln>
        </p:spPr>
      </p:pic>
      <p:pic>
        <p:nvPicPr>
          <p:cNvPr id="263" name="" descr=""/>
          <p:cNvPicPr/>
          <p:nvPr/>
        </p:nvPicPr>
        <p:blipFill>
          <a:blip r:embed="rId2"/>
          <a:stretch/>
        </p:blipFill>
        <p:spPr>
          <a:xfrm>
            <a:off x="4398480" y="2779200"/>
            <a:ext cx="3829320" cy="1236240"/>
          </a:xfrm>
          <a:prstGeom prst="rect">
            <a:avLst/>
          </a:prstGeom>
          <a:ln w="0">
            <a:noFill/>
          </a:ln>
        </p:spPr>
      </p:pic>
      <p:sp>
        <p:nvSpPr>
          <p:cNvPr id="264" name=""/>
          <p:cNvSpPr/>
          <p:nvPr/>
        </p:nvSpPr>
        <p:spPr>
          <a:xfrm>
            <a:off x="457560" y="4114800"/>
            <a:ext cx="3198960" cy="227160"/>
          </a:xfrm>
          <a:prstGeom prst="rightArrow">
            <a:avLst>
              <a:gd name="adj1" fmla="val 67610"/>
              <a:gd name="adj2" fmla="val 11809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CustomShape 54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Listas Ligadas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CustomShape 55"/>
          <p:cNvSpPr/>
          <p:nvPr/>
        </p:nvSpPr>
        <p:spPr>
          <a:xfrm>
            <a:off x="432000" y="1584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Como remover um elemento ? (i.e 2)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CustomShape 56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CustomShape 57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9" name="" descr=""/>
          <p:cNvPicPr/>
          <p:nvPr/>
        </p:nvPicPr>
        <p:blipFill>
          <a:blip r:embed="rId1"/>
          <a:srcRect l="0" t="-85" r="0" b="-6815"/>
          <a:stretch/>
        </p:blipFill>
        <p:spPr>
          <a:xfrm>
            <a:off x="668160" y="1974960"/>
            <a:ext cx="2759040" cy="1598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84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Listas Ligadas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CustomShape 85"/>
          <p:cNvSpPr/>
          <p:nvPr/>
        </p:nvSpPr>
        <p:spPr>
          <a:xfrm>
            <a:off x="432000" y="1584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Como remover um elemento ? (i.e 2)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Atualizando as referências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CustomShape 86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CustomShape 87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4" name="" descr=""/>
          <p:cNvPicPr/>
          <p:nvPr/>
        </p:nvPicPr>
        <p:blipFill>
          <a:blip r:embed="rId1"/>
          <a:stretch/>
        </p:blipFill>
        <p:spPr>
          <a:xfrm>
            <a:off x="3600000" y="3429000"/>
            <a:ext cx="6087960" cy="2567160"/>
          </a:xfrm>
          <a:prstGeom prst="rect">
            <a:avLst/>
          </a:prstGeom>
          <a:ln w="0">
            <a:noFill/>
          </a:ln>
        </p:spPr>
      </p:pic>
      <p:pic>
        <p:nvPicPr>
          <p:cNvPr id="275" name="" descr=""/>
          <p:cNvPicPr/>
          <p:nvPr/>
        </p:nvPicPr>
        <p:blipFill>
          <a:blip r:embed="rId2"/>
          <a:stretch/>
        </p:blipFill>
        <p:spPr>
          <a:xfrm>
            <a:off x="809280" y="2514600"/>
            <a:ext cx="2618280" cy="1446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CustomShape 1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Pilha (Stack)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CustomShape 2"/>
          <p:cNvSpPr/>
          <p:nvPr/>
        </p:nvSpPr>
        <p:spPr>
          <a:xfrm>
            <a:off x="360000" y="1980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89999"/>
          </a:bodyPr>
          <a:p>
            <a:pPr lvl="2" marL="4492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Pilha ou (</a:t>
            </a:r>
            <a:r>
              <a:rPr b="1" i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Stack</a:t>
            </a: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9064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Inserção e Remoção da cabeça (Last In – First Out) - LIFO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4492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Aplicações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9064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Recursão (Programação)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9064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Reverter Vetores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9064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Histórico de Navegação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9064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Etc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CustomShape 3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CustomShape 4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0" name="Imagem 5" descr=""/>
          <p:cNvPicPr/>
          <p:nvPr/>
        </p:nvPicPr>
        <p:blipFill>
          <a:blip r:embed="rId1"/>
          <a:stretch/>
        </p:blipFill>
        <p:spPr>
          <a:xfrm>
            <a:off x="7560000" y="2816640"/>
            <a:ext cx="1977120" cy="3660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CustomShape 89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Pilha (Stack)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CustomShape 90"/>
          <p:cNvSpPr/>
          <p:nvPr/>
        </p:nvSpPr>
        <p:spPr>
          <a:xfrm>
            <a:off x="360000" y="1980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89999"/>
          </a:bodyPr>
          <a:p>
            <a:pPr lvl="2" marL="4492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Pilha ou (</a:t>
            </a:r>
            <a:r>
              <a:rPr b="1" i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Stack</a:t>
            </a: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9064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Inserção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9064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Remoção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CustomShape 91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CustomShape 92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5" name="Imagem 15" descr=""/>
          <p:cNvPicPr/>
          <p:nvPr/>
        </p:nvPicPr>
        <p:blipFill>
          <a:blip r:embed="rId1"/>
          <a:stretch/>
        </p:blipFill>
        <p:spPr>
          <a:xfrm>
            <a:off x="7551000" y="2816640"/>
            <a:ext cx="1977120" cy="3660480"/>
          </a:xfrm>
          <a:prstGeom prst="rect">
            <a:avLst/>
          </a:prstGeom>
          <a:ln w="0">
            <a:noFill/>
          </a:ln>
        </p:spPr>
      </p:pic>
      <p:pic>
        <p:nvPicPr>
          <p:cNvPr id="286" name="" descr=""/>
          <p:cNvPicPr/>
          <p:nvPr/>
        </p:nvPicPr>
        <p:blipFill>
          <a:blip r:embed="rId2"/>
          <a:stretch/>
        </p:blipFill>
        <p:spPr>
          <a:xfrm>
            <a:off x="1600200" y="2914920"/>
            <a:ext cx="3493800" cy="969840"/>
          </a:xfrm>
          <a:prstGeom prst="rect">
            <a:avLst/>
          </a:prstGeom>
          <a:ln w="0">
            <a:noFill/>
          </a:ln>
        </p:spPr>
      </p:pic>
      <p:pic>
        <p:nvPicPr>
          <p:cNvPr id="287" name="" descr=""/>
          <p:cNvPicPr/>
          <p:nvPr/>
        </p:nvPicPr>
        <p:blipFill>
          <a:blip r:embed="rId3"/>
          <a:stretch/>
        </p:blipFill>
        <p:spPr>
          <a:xfrm>
            <a:off x="1609920" y="4572000"/>
            <a:ext cx="4332240" cy="2084040"/>
          </a:xfrm>
          <a:prstGeom prst="rect">
            <a:avLst/>
          </a:prstGeom>
          <a:ln w="0">
            <a:noFill/>
          </a:ln>
        </p:spPr>
      </p:pic>
      <p:pic>
        <p:nvPicPr>
          <p:cNvPr id="288" name="" descr=""/>
          <p:cNvPicPr/>
          <p:nvPr/>
        </p:nvPicPr>
        <p:blipFill>
          <a:blip r:embed="rId4"/>
          <a:stretch/>
        </p:blipFill>
        <p:spPr>
          <a:xfrm>
            <a:off x="1600560" y="2914920"/>
            <a:ext cx="3493800" cy="969840"/>
          </a:xfrm>
          <a:prstGeom prst="rect">
            <a:avLst/>
          </a:prstGeom>
          <a:ln w="0">
            <a:noFill/>
          </a:ln>
        </p:spPr>
      </p:pic>
      <p:pic>
        <p:nvPicPr>
          <p:cNvPr id="289" name="" descr=""/>
          <p:cNvPicPr/>
          <p:nvPr/>
        </p:nvPicPr>
        <p:blipFill>
          <a:blip r:embed="rId5"/>
          <a:stretch/>
        </p:blipFill>
        <p:spPr>
          <a:xfrm>
            <a:off x="1609920" y="4572360"/>
            <a:ext cx="4332240" cy="2084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CustomShape 1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Fila (Queue)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CustomShape 2"/>
          <p:cNvSpPr/>
          <p:nvPr/>
        </p:nvSpPr>
        <p:spPr>
          <a:xfrm>
            <a:off x="360000" y="1980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2" marL="4492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Fila (Queue)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9064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Inserção da Cauda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9064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Remoção da Cabeça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4492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Aplicações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9064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Compartilhamento de Recursos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13636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CPU, Interrupções, Harwades e Periféricos 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9064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Controle de Acesso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9064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Transfêrência de Dados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9064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Playlists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CustomShape 3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CustomShape 4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4" name="Imagem 6" descr=""/>
          <p:cNvPicPr/>
          <p:nvPr/>
        </p:nvPicPr>
        <p:blipFill>
          <a:blip r:embed="rId1"/>
          <a:stretch/>
        </p:blipFill>
        <p:spPr>
          <a:xfrm>
            <a:off x="5433120" y="2053800"/>
            <a:ext cx="4196880" cy="2320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CustomShape 103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Fila (Queue)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CustomShape 104"/>
          <p:cNvSpPr/>
          <p:nvPr/>
        </p:nvSpPr>
        <p:spPr>
          <a:xfrm>
            <a:off x="360000" y="1980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2" marL="4492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Utiliza dois ponteiros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4492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Inserção na Cauda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4492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Remoção da Cabeça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CustomShape 105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CustomShape 106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9" name="" descr=""/>
          <p:cNvPicPr/>
          <p:nvPr/>
        </p:nvPicPr>
        <p:blipFill>
          <a:blip r:embed="rId1"/>
          <a:stretch/>
        </p:blipFill>
        <p:spPr>
          <a:xfrm>
            <a:off x="5849640" y="457200"/>
            <a:ext cx="3750120" cy="1950840"/>
          </a:xfrm>
          <a:prstGeom prst="rect">
            <a:avLst/>
          </a:prstGeom>
          <a:ln w="0">
            <a:noFill/>
          </a:ln>
        </p:spPr>
      </p:pic>
      <p:pic>
        <p:nvPicPr>
          <p:cNvPr id="300" name="" descr=""/>
          <p:cNvPicPr/>
          <p:nvPr/>
        </p:nvPicPr>
        <p:blipFill>
          <a:blip r:embed="rId2"/>
          <a:stretch/>
        </p:blipFill>
        <p:spPr>
          <a:xfrm>
            <a:off x="4114800" y="1958760"/>
            <a:ext cx="2587680" cy="2154600"/>
          </a:xfrm>
          <a:prstGeom prst="rect">
            <a:avLst/>
          </a:prstGeom>
          <a:ln w="0">
            <a:noFill/>
          </a:ln>
        </p:spPr>
      </p:pic>
      <p:pic>
        <p:nvPicPr>
          <p:cNvPr id="301" name="" descr=""/>
          <p:cNvPicPr/>
          <p:nvPr/>
        </p:nvPicPr>
        <p:blipFill>
          <a:blip r:embed="rId3"/>
          <a:stretch/>
        </p:blipFill>
        <p:spPr>
          <a:xfrm>
            <a:off x="3886200" y="4343400"/>
            <a:ext cx="3185640" cy="228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108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Outras Arquiteturas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CustomShape 109"/>
          <p:cNvSpPr/>
          <p:nvPr/>
        </p:nvSpPr>
        <p:spPr>
          <a:xfrm>
            <a:off x="360000" y="1980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2" marL="4492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Duplamente Encadeada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4492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Circular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CustomShape 110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CustomShape 111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6" name="" descr=""/>
          <p:cNvPicPr/>
          <p:nvPr/>
        </p:nvPicPr>
        <p:blipFill>
          <a:blip r:embed="rId1"/>
          <a:stretch/>
        </p:blipFill>
        <p:spPr>
          <a:xfrm>
            <a:off x="4760280" y="1533960"/>
            <a:ext cx="3696480" cy="1665000"/>
          </a:xfrm>
          <a:prstGeom prst="rect">
            <a:avLst/>
          </a:prstGeom>
          <a:ln w="0">
            <a:noFill/>
          </a:ln>
        </p:spPr>
      </p:pic>
      <p:pic>
        <p:nvPicPr>
          <p:cNvPr id="307" name="" descr=""/>
          <p:cNvPicPr/>
          <p:nvPr/>
        </p:nvPicPr>
        <p:blipFill>
          <a:blip r:embed="rId2"/>
          <a:stretch/>
        </p:blipFill>
        <p:spPr>
          <a:xfrm>
            <a:off x="1479240" y="4321080"/>
            <a:ext cx="2405520" cy="1849680"/>
          </a:xfrm>
          <a:prstGeom prst="rect">
            <a:avLst/>
          </a:prstGeom>
          <a:ln w="0">
            <a:noFill/>
          </a:ln>
        </p:spPr>
      </p:pic>
      <p:pic>
        <p:nvPicPr>
          <p:cNvPr id="308" name="" descr=""/>
          <p:cNvPicPr/>
          <p:nvPr/>
        </p:nvPicPr>
        <p:blipFill>
          <a:blip r:embed="rId3"/>
          <a:stretch/>
        </p:blipFill>
        <p:spPr>
          <a:xfrm>
            <a:off x="4800600" y="4905720"/>
            <a:ext cx="4417920" cy="1036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CustomShape 1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Implementação e Discussão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>
            <a:off x="457920" y="2514600"/>
            <a:ext cx="5713200" cy="78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pt-BR" sz="2000" spc="-1" strike="noStrike" u="sng">
                <a:solidFill>
                  <a:srgbClr val="1c1c1c"/>
                </a:solidFill>
                <a:uFillTx/>
                <a:latin typeface="Latin Modern Sans"/>
                <a:ea typeface="DejaVu Sans"/>
              </a:rPr>
              <a:t>LINK ==&gt; </a:t>
            </a:r>
            <a:r>
              <a:rPr b="1" lang="pt-BR" sz="20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1"/>
              </a:rPr>
              <a:t> Linked Lists and Hash Table.ipynb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CustomShape 2"/>
          <p:cNvSpPr/>
          <p:nvPr/>
        </p:nvSpPr>
        <p:spPr>
          <a:xfrm>
            <a:off x="360000" y="1980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9600">
              <a:lnSpc>
                <a:spcPct val="100000"/>
              </a:lnSpc>
              <a:spcAft>
                <a:spcPts val="1140"/>
              </a:spcAft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Let’s Code!!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CustomShape 3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CustomShape 4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CustomShape 1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Exercícios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CustomShape 3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CustomShape 4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CustomShape 2"/>
          <p:cNvSpPr/>
          <p:nvPr/>
        </p:nvSpPr>
        <p:spPr>
          <a:xfrm>
            <a:off x="360000" y="1980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2" marL="4492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Implemente um lista encadeada, com inserção e remoção em qualquer posição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4492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Implemente um algoritmo de ordenação utilizando listas ligadas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4492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Implemente o jogo da torre de Hanói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449280" indent="-26676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18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Implemente a busca por elemento recursiva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CustomShape 5"/>
          <p:cNvSpPr/>
          <p:nvPr/>
        </p:nvSpPr>
        <p:spPr>
          <a:xfrm>
            <a:off x="360000" y="3330000"/>
            <a:ext cx="935136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Hash Table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CustomShape 13"/>
          <p:cNvSpPr/>
          <p:nvPr/>
        </p:nvSpPr>
        <p:spPr>
          <a:xfrm>
            <a:off x="360000" y="360000"/>
            <a:ext cx="935136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Problema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CustomShape 14"/>
          <p:cNvSpPr/>
          <p:nvPr/>
        </p:nvSpPr>
        <p:spPr>
          <a:xfrm>
            <a:off x="7608600" y="6886080"/>
            <a:ext cx="227664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CustomShape 15"/>
          <p:cNvSpPr/>
          <p:nvPr/>
        </p:nvSpPr>
        <p:spPr>
          <a:xfrm>
            <a:off x="897120" y="6886080"/>
            <a:ext cx="643860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CustomShape 16"/>
          <p:cNvSpPr/>
          <p:nvPr/>
        </p:nvSpPr>
        <p:spPr>
          <a:xfrm>
            <a:off x="360000" y="1728000"/>
            <a:ext cx="9171360" cy="46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68333"/>
          </a:bodyPr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Buscar um elemento em tempo constante independente da chave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Imagine um problema para armazenar identificadores de 11 dígitos (i.e CPF)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10^11 = 100.000.000.000 (100bi)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 busca é custosa: O(n) 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Busca Binária O(log n)? 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1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r>
              <a:rPr b="1" lang="pt-BR" sz="21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Aplicar métodos de ordenação a cada ‘evento’ é custoso 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1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Recursivos (i.e QuickSort - N Log N)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1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Não Recursivos (i.e Insertion N^2)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3" name="Imagem 3" descr=""/>
          <p:cNvPicPr/>
          <p:nvPr/>
        </p:nvPicPr>
        <p:blipFill>
          <a:blip r:embed="rId1"/>
          <a:stretch/>
        </p:blipFill>
        <p:spPr>
          <a:xfrm>
            <a:off x="2057400" y="2286000"/>
            <a:ext cx="5417280" cy="642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CustomShape 19"/>
          <p:cNvSpPr/>
          <p:nvPr/>
        </p:nvSpPr>
        <p:spPr>
          <a:xfrm>
            <a:off x="360000" y="360000"/>
            <a:ext cx="935136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Dicionário de Dados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CustomShape 20"/>
          <p:cNvSpPr/>
          <p:nvPr/>
        </p:nvSpPr>
        <p:spPr>
          <a:xfrm>
            <a:off x="7608600" y="6886080"/>
            <a:ext cx="227664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CustomShape 21"/>
          <p:cNvSpPr/>
          <p:nvPr/>
        </p:nvSpPr>
        <p:spPr>
          <a:xfrm>
            <a:off x="897120" y="6886080"/>
            <a:ext cx="643860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CustomShape 22"/>
          <p:cNvSpPr/>
          <p:nvPr/>
        </p:nvSpPr>
        <p:spPr>
          <a:xfrm>
            <a:off x="360000" y="1980000"/>
            <a:ext cx="9171360" cy="46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Tipo de dados abstrato que representa um objeto/entidade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Implementa as funções Inserir, Buscar e Remover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Utiliza chaves para indexar a informação (função hash)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r>
              <a:rPr b="1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	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8" name="Imagem 1" descr=""/>
          <p:cNvPicPr/>
          <p:nvPr/>
        </p:nvPicPr>
        <p:blipFill>
          <a:blip r:embed="rId1"/>
          <a:stretch/>
        </p:blipFill>
        <p:spPr>
          <a:xfrm>
            <a:off x="1953000" y="3726000"/>
            <a:ext cx="6273000" cy="1310400"/>
          </a:xfrm>
          <a:prstGeom prst="rect">
            <a:avLst/>
          </a:prstGeom>
          <a:ln w="0">
            <a:noFill/>
          </a:ln>
        </p:spPr>
      </p:pic>
      <p:pic>
        <p:nvPicPr>
          <p:cNvPr id="329" name="Imagem 7" descr=""/>
          <p:cNvPicPr/>
          <p:nvPr/>
        </p:nvPicPr>
        <p:blipFill>
          <a:blip r:embed="rId2"/>
          <a:stretch/>
        </p:blipFill>
        <p:spPr>
          <a:xfrm>
            <a:off x="1962360" y="5696640"/>
            <a:ext cx="2148840" cy="272160"/>
          </a:xfrm>
          <a:prstGeom prst="rect">
            <a:avLst/>
          </a:prstGeom>
          <a:ln w="0">
            <a:noFill/>
          </a:ln>
        </p:spPr>
      </p:pic>
      <p:pic>
        <p:nvPicPr>
          <p:cNvPr id="330" name="Imagem 8" descr=""/>
          <p:cNvPicPr/>
          <p:nvPr/>
        </p:nvPicPr>
        <p:blipFill>
          <a:blip r:embed="rId3"/>
          <a:stretch/>
        </p:blipFill>
        <p:spPr>
          <a:xfrm>
            <a:off x="2011680" y="6062400"/>
            <a:ext cx="919800" cy="272160"/>
          </a:xfrm>
          <a:prstGeom prst="rect">
            <a:avLst/>
          </a:prstGeom>
          <a:ln w="0">
            <a:noFill/>
          </a:ln>
        </p:spPr>
      </p:pic>
      <p:pic>
        <p:nvPicPr>
          <p:cNvPr id="331" name="Imagem 9" descr=""/>
          <p:cNvPicPr/>
          <p:nvPr/>
        </p:nvPicPr>
        <p:blipFill>
          <a:blip r:embed="rId4"/>
          <a:stretch/>
        </p:blipFill>
        <p:spPr>
          <a:xfrm>
            <a:off x="1975680" y="5036040"/>
            <a:ext cx="5701680" cy="529560"/>
          </a:xfrm>
          <a:prstGeom prst="rect">
            <a:avLst/>
          </a:prstGeom>
          <a:ln w="0">
            <a:noFill/>
          </a:ln>
        </p:spPr>
      </p:pic>
      <p:sp>
        <p:nvSpPr>
          <p:cNvPr id="332" name="CustomShape 23"/>
          <p:cNvSpPr/>
          <p:nvPr/>
        </p:nvSpPr>
        <p:spPr>
          <a:xfrm>
            <a:off x="6436080" y="4745160"/>
            <a:ext cx="727920" cy="270720"/>
          </a:xfrm>
          <a:prstGeom prst="wedgeRoundRectCallout">
            <a:avLst>
              <a:gd name="adj1" fmla="val -94023"/>
              <a:gd name="adj2" fmla="val 60087"/>
              <a:gd name="adj3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pt-BR" sz="1050" spc="-1" strike="noStrike">
                <a:solidFill>
                  <a:srgbClr val="000000"/>
                </a:solidFill>
                <a:latin typeface="Arial"/>
                <a:ea typeface="DejaVu Sans"/>
              </a:rPr>
              <a:t>Key == Ana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CustomShape 24"/>
          <p:cNvSpPr/>
          <p:nvPr/>
        </p:nvSpPr>
        <p:spPr>
          <a:xfrm>
            <a:off x="360000" y="360000"/>
            <a:ext cx="935136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Função Hash e Tabela Hash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CustomShape 25"/>
          <p:cNvSpPr/>
          <p:nvPr/>
        </p:nvSpPr>
        <p:spPr>
          <a:xfrm>
            <a:off x="897120" y="6886080"/>
            <a:ext cx="643860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CustomShape 26"/>
          <p:cNvSpPr/>
          <p:nvPr/>
        </p:nvSpPr>
        <p:spPr>
          <a:xfrm>
            <a:off x="360000" y="1923480"/>
            <a:ext cx="9171360" cy="46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Funções Hash ou Funções de Espalhamento é uma função de mapeamento do dados para outro domínio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Não permite caminho inverso (reconstrução)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 colisão é um fator importante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r>
              <a:rPr b="1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	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6" name="Imagem 4" descr=""/>
          <p:cNvPicPr/>
          <p:nvPr/>
        </p:nvPicPr>
        <p:blipFill>
          <a:blip r:embed="rId1"/>
          <a:stretch/>
        </p:blipFill>
        <p:spPr>
          <a:xfrm>
            <a:off x="5833080" y="3340440"/>
            <a:ext cx="3548880" cy="3168000"/>
          </a:xfrm>
          <a:prstGeom prst="rect">
            <a:avLst/>
          </a:prstGeom>
          <a:ln w="0">
            <a:noFill/>
          </a:ln>
        </p:spPr>
      </p:pic>
      <p:pic>
        <p:nvPicPr>
          <p:cNvPr id="337" name="Imagem 10" descr=""/>
          <p:cNvPicPr/>
          <p:nvPr/>
        </p:nvPicPr>
        <p:blipFill>
          <a:blip r:embed="rId2"/>
          <a:stretch/>
        </p:blipFill>
        <p:spPr>
          <a:xfrm>
            <a:off x="546840" y="3780000"/>
            <a:ext cx="4850280" cy="2728440"/>
          </a:xfrm>
          <a:prstGeom prst="rect">
            <a:avLst/>
          </a:prstGeom>
          <a:ln w="0">
            <a:noFill/>
          </a:ln>
        </p:spPr>
      </p:pic>
      <p:sp>
        <p:nvSpPr>
          <p:cNvPr id="338" name="CustomShape 27"/>
          <p:cNvSpPr/>
          <p:nvPr/>
        </p:nvSpPr>
        <p:spPr>
          <a:xfrm>
            <a:off x="7608600" y="6886080"/>
            <a:ext cx="227664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CustomShape 29"/>
          <p:cNvSpPr/>
          <p:nvPr/>
        </p:nvSpPr>
        <p:spPr>
          <a:xfrm>
            <a:off x="360000" y="360000"/>
            <a:ext cx="935136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Funções Hash - h(k)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CustomShape 30"/>
          <p:cNvSpPr/>
          <p:nvPr/>
        </p:nvSpPr>
        <p:spPr>
          <a:xfrm>
            <a:off x="7598520" y="6900480"/>
            <a:ext cx="227664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CustomShape 31"/>
          <p:cNvSpPr/>
          <p:nvPr/>
        </p:nvSpPr>
        <p:spPr>
          <a:xfrm>
            <a:off x="897120" y="6886080"/>
            <a:ext cx="643860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CustomShape 32"/>
          <p:cNvSpPr/>
          <p:nvPr/>
        </p:nvSpPr>
        <p:spPr>
          <a:xfrm>
            <a:off x="360000" y="1980000"/>
            <a:ext cx="9171360" cy="46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Módulo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Valor de M é crítico (M  colisões)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9600" defTabSz="9144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Outros métodos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Multiplicação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Fibonacci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Etc...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1908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Qualidade da hash determina: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2" marL="406800" indent="-21492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Colisões vs Custo computacional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3" name="Imagem 11" descr=""/>
          <p:cNvPicPr/>
          <p:nvPr/>
        </p:nvPicPr>
        <p:blipFill>
          <a:blip r:embed="rId1"/>
          <a:stretch/>
        </p:blipFill>
        <p:spPr>
          <a:xfrm>
            <a:off x="5754240" y="1980000"/>
            <a:ext cx="2194920" cy="851040"/>
          </a:xfrm>
          <a:prstGeom prst="rect">
            <a:avLst/>
          </a:prstGeom>
          <a:ln w="0">
            <a:noFill/>
          </a:ln>
        </p:spPr>
      </p:pic>
      <p:pic>
        <p:nvPicPr>
          <p:cNvPr id="344" name="Imagem 12" descr=""/>
          <p:cNvPicPr/>
          <p:nvPr/>
        </p:nvPicPr>
        <p:blipFill>
          <a:blip r:embed="rId2"/>
          <a:stretch/>
        </p:blipFill>
        <p:spPr>
          <a:xfrm>
            <a:off x="5259960" y="3237840"/>
            <a:ext cx="3948840" cy="2720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CustomShape 34"/>
          <p:cNvSpPr/>
          <p:nvPr/>
        </p:nvSpPr>
        <p:spPr>
          <a:xfrm>
            <a:off x="360000" y="360000"/>
            <a:ext cx="935136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Colisão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CustomShape 35"/>
          <p:cNvSpPr/>
          <p:nvPr/>
        </p:nvSpPr>
        <p:spPr>
          <a:xfrm>
            <a:off x="7608600" y="6886080"/>
            <a:ext cx="227664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CustomShape 36"/>
          <p:cNvSpPr/>
          <p:nvPr/>
        </p:nvSpPr>
        <p:spPr>
          <a:xfrm>
            <a:off x="897120" y="6886080"/>
            <a:ext cx="643860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CustomShape 37"/>
          <p:cNvSpPr/>
          <p:nvPr/>
        </p:nvSpPr>
        <p:spPr>
          <a:xfrm>
            <a:off x="360000" y="1980000"/>
            <a:ext cx="9171360" cy="46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Um ou mais itens mapeados para a mesma chave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Solução*: Encadeamento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Tamanho da lista (#colisões) depende de h(x)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*Existem outras soluções disponíveis no estado da arte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9" name="Imagem 13" descr=""/>
          <p:cNvPicPr/>
          <p:nvPr/>
        </p:nvPicPr>
        <p:blipFill>
          <a:blip r:embed="rId1"/>
          <a:stretch/>
        </p:blipFill>
        <p:spPr>
          <a:xfrm>
            <a:off x="2080080" y="3547080"/>
            <a:ext cx="6423480" cy="2573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CustomShape 39"/>
          <p:cNvSpPr/>
          <p:nvPr/>
        </p:nvSpPr>
        <p:spPr>
          <a:xfrm>
            <a:off x="360000" y="360000"/>
            <a:ext cx="935136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Exercício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CustomShape 40"/>
          <p:cNvSpPr/>
          <p:nvPr/>
        </p:nvSpPr>
        <p:spPr>
          <a:xfrm>
            <a:off x="7608600" y="6886080"/>
            <a:ext cx="227664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CustomShape 41"/>
          <p:cNvSpPr/>
          <p:nvPr/>
        </p:nvSpPr>
        <p:spPr>
          <a:xfrm>
            <a:off x="897120" y="6886080"/>
            <a:ext cx="643860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CustomShape 42"/>
          <p:cNvSpPr/>
          <p:nvPr/>
        </p:nvSpPr>
        <p:spPr>
          <a:xfrm>
            <a:off x="360000" y="1980000"/>
            <a:ext cx="9171360" cy="467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Implementar uma tabela hash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Avaliar diferentes funções hash e seus parâmetros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24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Analises Críticas e Comparações de Desempenho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 defTabSz="914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1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i.e Número de Colisões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CustomShape 8"/>
          <p:cNvSpPr/>
          <p:nvPr/>
        </p:nvSpPr>
        <p:spPr>
          <a:xfrm>
            <a:off x="360000" y="360000"/>
            <a:ext cx="9350280" cy="8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Implementação e Discussão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CustomShape 9"/>
          <p:cNvSpPr/>
          <p:nvPr/>
        </p:nvSpPr>
        <p:spPr>
          <a:xfrm>
            <a:off x="360000" y="1980000"/>
            <a:ext cx="9170280" cy="46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9600">
              <a:lnSpc>
                <a:spcPct val="100000"/>
              </a:lnSpc>
              <a:spcAft>
                <a:spcPts val="1140"/>
              </a:spcAft>
            </a:pPr>
            <a:r>
              <a:rPr b="1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Let’s Code!!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9600"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CustomShape 10"/>
          <p:cNvSpPr/>
          <p:nvPr/>
        </p:nvSpPr>
        <p:spPr>
          <a:xfrm>
            <a:off x="7608600" y="6886080"/>
            <a:ext cx="22755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Aula 03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CustomShape 11"/>
          <p:cNvSpPr/>
          <p:nvPr/>
        </p:nvSpPr>
        <p:spPr>
          <a:xfrm>
            <a:off x="897120" y="6886080"/>
            <a:ext cx="643752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Fund. Algoritmos e Estrutura de Dados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"/>
          <p:cNvSpPr/>
          <p:nvPr/>
        </p:nvSpPr>
        <p:spPr>
          <a:xfrm>
            <a:off x="458280" y="2514960"/>
            <a:ext cx="5713200" cy="78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pt-BR" sz="2000" spc="-1" strike="noStrike" u="sng">
                <a:solidFill>
                  <a:srgbClr val="1c1c1c"/>
                </a:solidFill>
                <a:uFillTx/>
                <a:latin typeface="Latin Modern Sans"/>
                <a:ea typeface="DejaVu Sans"/>
              </a:rPr>
              <a:t>LINK ==&gt; </a:t>
            </a:r>
            <a:r>
              <a:rPr b="1" lang="pt-BR" sz="20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1"/>
              </a:rPr>
              <a:t> Linked Lists and Hash Table.ipynb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1637</TotalTime>
  <Application>LibreOffice/24.2.7.2$Linux_X86_64 LibreOffice_project/420$Build-2</Application>
  <AppVersion>15.0000</AppVersion>
  <Words>457</Words>
  <Paragraphs>116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2021-04-28T18:38:02Z</dcterms:created>
  <dc:creator/>
  <dc:description/>
  <dc:language>en-US</dc:language>
  <cp:lastModifiedBy/>
  <cp:lastPrinted>2025-08-22T13:33:46Z</cp:lastPrinted>
  <dcterms:modified xsi:type="dcterms:W3CDTF">2026-03-13T11:06:02Z</dcterms:modified>
  <cp:revision>167</cp:revision>
  <dc:subject/>
  <dc:title>Alizarin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KSOProductBuildVer">
    <vt:lpwstr>1033-11.1.0.10161</vt:lpwstr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11</vt:i4>
  </property>
  <property fmtid="{D5CDD505-2E9C-101B-9397-08002B2CF9AE}" pid="8" name="PresentationFormat">
    <vt:lpwstr>Personalizar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11</vt:i4>
  </property>
</Properties>
</file>