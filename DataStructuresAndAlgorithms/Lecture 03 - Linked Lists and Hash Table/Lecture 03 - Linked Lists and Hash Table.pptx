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3.png" ContentType="image/png"/>
  <Override PartName="/ppt/media/image12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</p:sldMasterIdLst>
  <p:notesMasterIdLst>
    <p:notesMasterId r:id="rId30"/>
  </p:notes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49"/>
    <p:sldId id="275" r:id="rId50"/>
    <p:sldId id="276" r:id="rId51"/>
    <p:sldId id="277" r:id="rId52"/>
    <p:sldId id="278" r:id="rId53"/>
    <p:sldId id="279" r:id="rId54"/>
    <p:sldId id="280" r:id="rId55"/>
    <p:sldId id="281" r:id="rId56"/>
    <p:sldId id="282" r:id="rId57"/>
    <p:sldId id="283" r:id="rId58"/>
    <p:sldId id="284" r:id="rId5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5.xml"/><Relationship Id="rId46" Type="http://schemas.openxmlformats.org/officeDocument/2006/relationships/slide" Target="slides/slide16.xml"/><Relationship Id="rId47" Type="http://schemas.openxmlformats.org/officeDocument/2006/relationships/slide" Target="slides/slide17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0" Type="http://schemas.openxmlformats.org/officeDocument/2006/relationships/slide" Target="slides/slide20.xml"/><Relationship Id="rId51" Type="http://schemas.openxmlformats.org/officeDocument/2006/relationships/slide" Target="slides/slide21.xml"/><Relationship Id="rId52" Type="http://schemas.openxmlformats.org/officeDocument/2006/relationships/slide" Target="slides/slide22.xml"/><Relationship Id="rId53" Type="http://schemas.openxmlformats.org/officeDocument/2006/relationships/slide" Target="slides/slide23.xml"/><Relationship Id="rId54" Type="http://schemas.openxmlformats.org/officeDocument/2006/relationships/slide" Target="slides/slide24.xml"/><Relationship Id="rId55" Type="http://schemas.openxmlformats.org/officeDocument/2006/relationships/slide" Target="slides/slide25.xml"/><Relationship Id="rId56" Type="http://schemas.openxmlformats.org/officeDocument/2006/relationships/slide" Target="slides/slide26.xml"/><Relationship Id="rId57" Type="http://schemas.openxmlformats.org/officeDocument/2006/relationships/slide" Target="slides/slide27.xml"/><Relationship Id="rId58" Type="http://schemas.openxmlformats.org/officeDocument/2006/relationships/slide" Target="slides/slide28.xml"/><Relationship Id="rId59" Type="http://schemas.openxmlformats.org/officeDocument/2006/relationships/slide" Target="slides/slide29.xml"/><Relationship Id="rId6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7FF6FF9-CC6E-4727-ABDA-6ABD43231F8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CustomShape 7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CustomShape 68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CustomShape 6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CustomShape 102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CustomShape 48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CustomShape 78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CustomShape 5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CustomShape 8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CustomShape 58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ustomShape 88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CustomShape 9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CustomShape 107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CustomShape 112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3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CustomShape 7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CustomShape 17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CustomShape 1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2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ustomShape 3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ustomShape 38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9160" cy="359928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8640" cy="42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CustomShape 43"/>
          <p:cNvSpPr/>
          <p:nvPr/>
        </p:nvSpPr>
        <p:spPr>
          <a:xfrm>
            <a:off x="0" y="10155240"/>
            <a:ext cx="3267000" cy="5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080" cy="35982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560" cy="41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CustomShape 6"/>
          <p:cNvSpPr/>
          <p:nvPr/>
        </p:nvSpPr>
        <p:spPr>
          <a:xfrm>
            <a:off x="0" y="10155240"/>
            <a:ext cx="326592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09920" cy="12499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4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2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0" y="3150000"/>
            <a:ext cx="9711000" cy="1251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0" y="180000"/>
            <a:ext cx="9709920" cy="124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7560000" y="6840000"/>
            <a:ext cx="2509920" cy="52992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900000" y="6840000"/>
            <a:ext cx="6469920" cy="52992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" name="CustomShape 4"/>
          <p:cNvSpPr/>
          <p:nvPr/>
        </p:nvSpPr>
        <p:spPr>
          <a:xfrm>
            <a:off x="180000" y="6840000"/>
            <a:ext cx="529920" cy="529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7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8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27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DataStructuresAndAlgorithms/Lecture%2003%20-%20Linked%20Lists%20and%20Hash%20Table/Lecture%2003%20-%20Linked%20Lists%20and%20Hash%20Table.ipynb" TargetMode="External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DataStructuresAndAlgorithms/Lecture%2003%20-%20Linked%20Lists%20and%20Hash%20Table/Lecture%2003%20-%20Linked%20Lists%20and%20Hash%20Table.ipynb" TargetMode="External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360000" y="333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Fundamentos de Algoritmos e Estrutura de Dados </a:t>
            </a: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 </a:t>
            </a:r>
            <a:r>
              <a:rPr b="1" lang="pt-BR" sz="28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#3 - Listas Encadeadas e Tabela Hash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540000" y="4680000"/>
            <a:ext cx="9169920" cy="250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Listas Encadeadas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Filas e Pilhas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Tabela Hash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Contextualização do Problema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Funções Hash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Colisões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 e Análises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Estruturas de Dados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Picture 6" descr="Classification of Data Structures in C"/>
          <p:cNvPicPr/>
          <p:nvPr/>
        </p:nvPicPr>
        <p:blipFill>
          <a:blip r:embed="rId1"/>
          <a:stretch/>
        </p:blipFill>
        <p:spPr>
          <a:xfrm>
            <a:off x="205920" y="1474920"/>
            <a:ext cx="9481680" cy="5082120"/>
          </a:xfrm>
          <a:prstGeom prst="rect">
            <a:avLst/>
          </a:prstGeom>
          <a:ln w="0">
            <a:noFill/>
          </a:ln>
        </p:spPr>
      </p:pic>
      <p:sp>
        <p:nvSpPr>
          <p:cNvPr id="213" name=""/>
          <p:cNvSpPr/>
          <p:nvPr/>
        </p:nvSpPr>
        <p:spPr>
          <a:xfrm rot="8716800">
            <a:off x="6568560" y="4603320"/>
            <a:ext cx="797760" cy="335880"/>
          </a:xfrm>
          <a:prstGeom prst="rightArrow">
            <a:avLst>
              <a:gd name="adj1" fmla="val 50000"/>
              <a:gd name="adj2" fmla="val 59159"/>
            </a:avLst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Estruturas de Dados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NOTA: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Embora a </a:t>
            </a:r>
            <a:r>
              <a:rPr b="0" lang="pt-BR" sz="18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linguagem C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seja tradicionalmente utilizada no ensino de Estruturas de Dados por permitir maior controle sobre memória e ponteiros, neste material adotamos </a:t>
            </a:r>
            <a:r>
              <a:rPr b="0" lang="pt-BR" sz="18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Python e Programação Orientada a Objetos (POO)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com fins didáticos.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 objetivo é priorizar a </a:t>
            </a:r>
            <a:r>
              <a:rPr b="0" lang="pt-BR" sz="18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compreensão conceitual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das estruturas e de seus algoritmos, utilizando abstrações que facilitam a aprendizagem. Essa abordagem permite ao estudante focar no raciocínio algorítmico e na arquitetura das estruturas, sem se prender inicialmente a detalhes de implementação de baixo nível.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69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Estruturas de Dados Estáticas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70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Alocação contígua (</a:t>
            </a:r>
            <a:r>
              <a:rPr b="1" i="1" lang="pt-BR" sz="18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Static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Vantagens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Acesso é rápido e sequencial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Baixo Overhead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Requer baixo nível de programação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Desvantagem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Inviável para grandes massas de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Limitado ao número de blocos sequenciais 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livres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71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Imagem 19" descr=""/>
          <p:cNvPicPr/>
          <p:nvPr/>
        </p:nvPicPr>
        <p:blipFill>
          <a:blip r:embed="rId1"/>
          <a:srcRect l="0" t="0" r="5885" b="10"/>
          <a:stretch/>
        </p:blipFill>
        <p:spPr>
          <a:xfrm>
            <a:off x="5258160" y="1711440"/>
            <a:ext cx="4271760" cy="2629800"/>
          </a:xfrm>
          <a:prstGeom prst="rect">
            <a:avLst/>
          </a:prstGeom>
          <a:ln w="0">
            <a:noFill/>
          </a:ln>
        </p:spPr>
      </p:pic>
      <p:sp>
        <p:nvSpPr>
          <p:cNvPr id="222" name="CustomShape 72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64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Estruturas de Dados Dinâmicas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65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Alocação não-contígua (</a:t>
            </a:r>
            <a:r>
              <a:rPr b="1" i="1" lang="pt-BR" sz="18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Dynamic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Vantagens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Armazenar grandes massas de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Memória física é o limite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Desvantagem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Overhead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Elevado nível de abstração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Arquiteturas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Listas Ligadas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Grafos,….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66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Imagem 16" descr=""/>
          <p:cNvPicPr/>
          <p:nvPr/>
        </p:nvPicPr>
        <p:blipFill>
          <a:blip r:embed="rId1"/>
          <a:stretch/>
        </p:blipFill>
        <p:spPr>
          <a:xfrm>
            <a:off x="5190840" y="3429000"/>
            <a:ext cx="4339080" cy="2491200"/>
          </a:xfrm>
          <a:prstGeom prst="rect">
            <a:avLst/>
          </a:prstGeom>
          <a:ln w="0">
            <a:noFill/>
          </a:ln>
        </p:spPr>
      </p:pic>
      <p:sp>
        <p:nvSpPr>
          <p:cNvPr id="227" name="CustomShape 67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Imagem 17" descr=""/>
          <p:cNvPicPr/>
          <p:nvPr/>
        </p:nvPicPr>
        <p:blipFill>
          <a:blip r:embed="rId2"/>
          <a:stretch/>
        </p:blipFill>
        <p:spPr>
          <a:xfrm>
            <a:off x="5029200" y="3429000"/>
            <a:ext cx="4339080" cy="249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59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Ponteiros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60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Ponteiros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Alocam endereços de memória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Referenciam outros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2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Eficiência no acesso e modificação de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61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62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Imagem 18" descr=""/>
          <p:cNvPicPr/>
          <p:nvPr/>
        </p:nvPicPr>
        <p:blipFill>
          <a:blip r:embed="rId1"/>
          <a:stretch/>
        </p:blipFill>
        <p:spPr>
          <a:xfrm>
            <a:off x="2745360" y="3678840"/>
            <a:ext cx="4796280" cy="275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99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100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ustomShape 101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Imagem 2" descr=""/>
          <p:cNvPicPr/>
          <p:nvPr/>
        </p:nvPicPr>
        <p:blipFill>
          <a:blip r:embed="rId1"/>
          <a:stretch/>
        </p:blipFill>
        <p:spPr>
          <a:xfrm>
            <a:off x="2286000" y="2057400"/>
            <a:ext cx="5255640" cy="367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44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45"/>
          <p:cNvSpPr/>
          <p:nvPr/>
        </p:nvSpPr>
        <p:spPr>
          <a:xfrm>
            <a:off x="432000" y="1584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Implementação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46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47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Imagem 14" descr=""/>
          <p:cNvPicPr/>
          <p:nvPr/>
        </p:nvPicPr>
        <p:blipFill>
          <a:blip r:embed="rId1"/>
          <a:srcRect l="27942" t="9974" r="9151" b="59992"/>
          <a:stretch/>
        </p:blipFill>
        <p:spPr>
          <a:xfrm>
            <a:off x="1829160" y="2057400"/>
            <a:ext cx="2054880" cy="68364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2"/>
          <a:stretch/>
        </p:blipFill>
        <p:spPr>
          <a:xfrm>
            <a:off x="4572000" y="1657800"/>
            <a:ext cx="3921840" cy="131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74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75"/>
          <p:cNvSpPr/>
          <p:nvPr/>
        </p:nvSpPr>
        <p:spPr>
          <a:xfrm>
            <a:off x="432000" y="1584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Implementação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76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77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m 20" descr=""/>
          <p:cNvPicPr/>
          <p:nvPr/>
        </p:nvPicPr>
        <p:blipFill>
          <a:blip r:embed="rId1"/>
          <a:srcRect l="27942" t="9974" r="9151" b="59992"/>
          <a:stretch/>
        </p:blipFill>
        <p:spPr>
          <a:xfrm>
            <a:off x="1829160" y="2057400"/>
            <a:ext cx="2054880" cy="683640"/>
          </a:xfrm>
          <a:prstGeom prst="rect">
            <a:avLst/>
          </a:prstGeom>
          <a:ln w="0">
            <a:noFill/>
          </a:ln>
        </p:spPr>
      </p:pic>
      <p:pic>
        <p:nvPicPr>
          <p:cNvPr id="249" name="" descr=""/>
          <p:cNvPicPr/>
          <p:nvPr/>
        </p:nvPicPr>
        <p:blipFill>
          <a:blip r:embed="rId2"/>
          <a:stretch/>
        </p:blipFill>
        <p:spPr>
          <a:xfrm>
            <a:off x="4572000" y="1657800"/>
            <a:ext cx="4113000" cy="1375920"/>
          </a:xfrm>
          <a:prstGeom prst="rect">
            <a:avLst/>
          </a:prstGeom>
          <a:ln w="0">
            <a:noFill/>
          </a:ln>
        </p:spPr>
      </p:pic>
      <p:pic>
        <p:nvPicPr>
          <p:cNvPr id="250" name="" descr=""/>
          <p:cNvPicPr/>
          <p:nvPr/>
        </p:nvPicPr>
        <p:blipFill>
          <a:blip r:embed="rId3"/>
          <a:srcRect l="0" t="45770" r="0" b="23665"/>
          <a:stretch/>
        </p:blipFill>
        <p:spPr>
          <a:xfrm>
            <a:off x="1125360" y="5029560"/>
            <a:ext cx="2758680" cy="454680"/>
          </a:xfrm>
          <a:prstGeom prst="rect">
            <a:avLst/>
          </a:prstGeom>
          <a:ln w="0">
            <a:noFill/>
          </a:ln>
        </p:spPr>
      </p:pic>
      <p:pic>
        <p:nvPicPr>
          <p:cNvPr id="251" name="" descr=""/>
          <p:cNvPicPr/>
          <p:nvPr/>
        </p:nvPicPr>
        <p:blipFill>
          <a:blip r:embed="rId4"/>
          <a:stretch/>
        </p:blipFill>
        <p:spPr>
          <a:xfrm>
            <a:off x="4048200" y="3200400"/>
            <a:ext cx="5322600" cy="297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49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50"/>
          <p:cNvSpPr/>
          <p:nvPr/>
        </p:nvSpPr>
        <p:spPr>
          <a:xfrm>
            <a:off x="432000" y="1584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como percorrer a lista a partir do primeiro elemento?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ustomShape 51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52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" descr=""/>
          <p:cNvPicPr/>
          <p:nvPr/>
        </p:nvPicPr>
        <p:blipFill>
          <a:blip r:embed="rId1"/>
          <a:srcRect l="0" t="-85" r="0" b="-6815"/>
          <a:stretch/>
        </p:blipFill>
        <p:spPr>
          <a:xfrm>
            <a:off x="668160" y="2514960"/>
            <a:ext cx="2758680" cy="1597680"/>
          </a:xfrm>
          <a:prstGeom prst="rect">
            <a:avLst/>
          </a:prstGeom>
          <a:ln w="0">
            <a:noFill/>
          </a:ln>
        </p:spPr>
      </p:pic>
      <p:sp>
        <p:nvSpPr>
          <p:cNvPr id="257" name=""/>
          <p:cNvSpPr/>
          <p:nvPr/>
        </p:nvSpPr>
        <p:spPr>
          <a:xfrm>
            <a:off x="457200" y="4114800"/>
            <a:ext cx="3198600" cy="226800"/>
          </a:xfrm>
          <a:prstGeom prst="rightArrow">
            <a:avLst>
              <a:gd name="adj1" fmla="val 67610"/>
              <a:gd name="adj2" fmla="val 11809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79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80"/>
          <p:cNvSpPr/>
          <p:nvPr/>
        </p:nvSpPr>
        <p:spPr>
          <a:xfrm>
            <a:off x="432000" y="1584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como percorrer a lista a partir do primeiro elemento?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ustomShape 81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82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rcRect l="0" t="-85" r="0" b="-6815"/>
          <a:stretch/>
        </p:blipFill>
        <p:spPr>
          <a:xfrm>
            <a:off x="668160" y="2514960"/>
            <a:ext cx="2758680" cy="1597680"/>
          </a:xfrm>
          <a:prstGeom prst="rect">
            <a:avLst/>
          </a:prstGeom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2"/>
          <a:stretch/>
        </p:blipFill>
        <p:spPr>
          <a:xfrm>
            <a:off x="4398480" y="2779200"/>
            <a:ext cx="3828960" cy="1235880"/>
          </a:xfrm>
          <a:prstGeom prst="rect">
            <a:avLst/>
          </a:prstGeom>
          <a:ln w="0">
            <a:noFill/>
          </a:ln>
        </p:spPr>
      </p:pic>
      <p:sp>
        <p:nvSpPr>
          <p:cNvPr id="264" name=""/>
          <p:cNvSpPr/>
          <p:nvPr/>
        </p:nvSpPr>
        <p:spPr>
          <a:xfrm>
            <a:off x="457560" y="4114800"/>
            <a:ext cx="3198600" cy="226800"/>
          </a:xfrm>
          <a:prstGeom prst="rightArrow">
            <a:avLst>
              <a:gd name="adj1" fmla="val 67610"/>
              <a:gd name="adj2" fmla="val 11809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54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55"/>
          <p:cNvSpPr/>
          <p:nvPr/>
        </p:nvSpPr>
        <p:spPr>
          <a:xfrm>
            <a:off x="432000" y="1584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remover um elemento ? (i.e 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56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ustomShape 57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rcRect l="0" t="-85" r="0" b="-6815"/>
          <a:stretch/>
        </p:blipFill>
        <p:spPr>
          <a:xfrm>
            <a:off x="668160" y="1974960"/>
            <a:ext cx="2758680" cy="159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84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Listas Ligadas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85"/>
          <p:cNvSpPr/>
          <p:nvPr/>
        </p:nvSpPr>
        <p:spPr>
          <a:xfrm>
            <a:off x="432000" y="1584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remover um elemento ? (i.e 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Atualizando as referências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86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87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1"/>
          <a:srcRect l="0" t="17804" r="0" b="0"/>
          <a:stretch/>
        </p:blipFill>
        <p:spPr>
          <a:xfrm>
            <a:off x="3600000" y="3886200"/>
            <a:ext cx="6087600" cy="2109600"/>
          </a:xfrm>
          <a:prstGeom prst="rect">
            <a:avLst/>
          </a:prstGeom>
          <a:ln w="0">
            <a:noFill/>
          </a:ln>
        </p:spPr>
      </p:pic>
      <p:pic>
        <p:nvPicPr>
          <p:cNvPr id="275" name="" descr=""/>
          <p:cNvPicPr/>
          <p:nvPr/>
        </p:nvPicPr>
        <p:blipFill>
          <a:blip r:embed="rId2"/>
          <a:stretch/>
        </p:blipFill>
        <p:spPr>
          <a:xfrm>
            <a:off x="809280" y="2514600"/>
            <a:ext cx="2617920" cy="144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Pilha (Stack)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9999"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Pilha ou (</a:t>
            </a:r>
            <a:r>
              <a:rPr b="1" i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Stack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Inserção e Remoção da cabeça (Last In – First Out) - LIFO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Aplicações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Recursão (Programação)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Reverter Vetores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Histórico de Navegação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Etc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magem 5" descr=""/>
          <p:cNvPicPr/>
          <p:nvPr/>
        </p:nvPicPr>
        <p:blipFill>
          <a:blip r:embed="rId1"/>
          <a:stretch/>
        </p:blipFill>
        <p:spPr>
          <a:xfrm>
            <a:off x="7560000" y="2816640"/>
            <a:ext cx="1976760" cy="366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89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Pilha (Stack)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CustomShape 90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9999"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Pilha ou (</a:t>
            </a:r>
            <a:r>
              <a:rPr b="1" i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Stack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Inserção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Remoção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ustomShape 91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92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magem 15" descr=""/>
          <p:cNvPicPr/>
          <p:nvPr/>
        </p:nvPicPr>
        <p:blipFill>
          <a:blip r:embed="rId1"/>
          <a:stretch/>
        </p:blipFill>
        <p:spPr>
          <a:xfrm>
            <a:off x="7551000" y="2816640"/>
            <a:ext cx="1976760" cy="3660120"/>
          </a:xfrm>
          <a:prstGeom prst="rect">
            <a:avLst/>
          </a:prstGeom>
          <a:ln w="0">
            <a:noFill/>
          </a:ln>
        </p:spPr>
      </p:pic>
      <p:pic>
        <p:nvPicPr>
          <p:cNvPr id="286" name="" descr=""/>
          <p:cNvPicPr/>
          <p:nvPr/>
        </p:nvPicPr>
        <p:blipFill>
          <a:blip r:embed="rId2"/>
          <a:stretch/>
        </p:blipFill>
        <p:spPr>
          <a:xfrm>
            <a:off x="1600200" y="2914920"/>
            <a:ext cx="3493440" cy="969480"/>
          </a:xfrm>
          <a:prstGeom prst="rect">
            <a:avLst/>
          </a:prstGeom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3"/>
          <a:stretch/>
        </p:blipFill>
        <p:spPr>
          <a:xfrm>
            <a:off x="1609920" y="4572000"/>
            <a:ext cx="4331880" cy="208368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4"/>
          <a:stretch/>
        </p:blipFill>
        <p:spPr>
          <a:xfrm>
            <a:off x="1600560" y="2914920"/>
            <a:ext cx="3493440" cy="969480"/>
          </a:xfrm>
          <a:prstGeom prst="rect">
            <a:avLst/>
          </a:prstGeom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5"/>
          <a:stretch/>
        </p:blipFill>
        <p:spPr>
          <a:xfrm>
            <a:off x="1609920" y="4572360"/>
            <a:ext cx="4331880" cy="208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Fila (Queue)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Fila (Queue)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Inserção da Cauda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Remoção da Cabeça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Aplicações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Compartilhamento de Recursos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13636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CPU, Interrupções, Harwades e Periféricos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Controle de Acesso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Transfêrência de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9064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Playlists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Imagem 6" descr=""/>
          <p:cNvPicPr/>
          <p:nvPr/>
        </p:nvPicPr>
        <p:blipFill>
          <a:blip r:embed="rId1"/>
          <a:stretch/>
        </p:blipFill>
        <p:spPr>
          <a:xfrm>
            <a:off x="5433120" y="2053800"/>
            <a:ext cx="4196520" cy="232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03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Fila (Queue)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CustomShape 104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Utiliza dois ponteiros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Inserção na Cauda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Remoção da Cabeça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105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106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5849640" y="457200"/>
            <a:ext cx="3749760" cy="1950480"/>
          </a:xfrm>
          <a:prstGeom prst="rect">
            <a:avLst/>
          </a:prstGeom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tretch/>
        </p:blipFill>
        <p:spPr>
          <a:xfrm>
            <a:off x="4114800" y="1958760"/>
            <a:ext cx="2587320" cy="2154240"/>
          </a:xfrm>
          <a:prstGeom prst="rect">
            <a:avLst/>
          </a:prstGeom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3"/>
          <a:stretch/>
        </p:blipFill>
        <p:spPr>
          <a:xfrm>
            <a:off x="3886200" y="4343400"/>
            <a:ext cx="3185280" cy="22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08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Outras Arquiteturas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ustomShape 109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Duplamente Encadeada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Circular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110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111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4760280" y="1533960"/>
            <a:ext cx="3696120" cy="1664640"/>
          </a:xfrm>
          <a:prstGeom prst="rect">
            <a:avLst/>
          </a:prstGeom>
          <a:ln w="0">
            <a:noFill/>
          </a:ln>
        </p:spPr>
      </p:pic>
      <p:pic>
        <p:nvPicPr>
          <p:cNvPr id="307" name="" descr=""/>
          <p:cNvPicPr/>
          <p:nvPr/>
        </p:nvPicPr>
        <p:blipFill>
          <a:blip r:embed="rId2"/>
          <a:stretch/>
        </p:blipFill>
        <p:spPr>
          <a:xfrm>
            <a:off x="1479240" y="4321080"/>
            <a:ext cx="2405160" cy="1849320"/>
          </a:xfrm>
          <a:prstGeom prst="rect">
            <a:avLst/>
          </a:prstGeom>
          <a:ln w="0">
            <a:noFill/>
          </a:ln>
        </p:spPr>
      </p:pic>
      <p:pic>
        <p:nvPicPr>
          <p:cNvPr id="308" name="" descr=""/>
          <p:cNvPicPr/>
          <p:nvPr/>
        </p:nvPicPr>
        <p:blipFill>
          <a:blip r:embed="rId3"/>
          <a:stretch/>
        </p:blipFill>
        <p:spPr>
          <a:xfrm>
            <a:off x="4800600" y="4905720"/>
            <a:ext cx="4417560" cy="103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Implementação e Discussão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457920" y="2514600"/>
            <a:ext cx="571284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LINK ==&gt; </a:t>
            </a:r>
            <a:r>
              <a:rPr b="1" lang="pt-BR" sz="20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 Linked Lists and Hash Table.ipynb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9600">
              <a:lnSpc>
                <a:spcPct val="100000"/>
              </a:lnSpc>
              <a:spcAft>
                <a:spcPts val="1140"/>
              </a:spcAft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Let’s Code!!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Exercícios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3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4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2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Implemente um lista encadeada, com inserção e remoção em qualquer posição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Implemente um algoritmo de ordenação utilizando listas ligadas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Implemente o jogo da torre de Hanói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449280" indent="-26676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Implemente a busca por elemento recursiva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5"/>
          <p:cNvSpPr/>
          <p:nvPr/>
        </p:nvSpPr>
        <p:spPr>
          <a:xfrm>
            <a:off x="360000" y="333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Hash Table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ustomShape 13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Problema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ustomShape 14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CustomShape 15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16"/>
          <p:cNvSpPr/>
          <p:nvPr/>
        </p:nvSpPr>
        <p:spPr>
          <a:xfrm>
            <a:off x="360000" y="1728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68333"/>
          </a:bodyPr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Buscar um elemento em tempo constante independente da chave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Imagine um problema para armazenar identificadores de 11 dígitos (i.e CPF)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10^11 = 100.000.000.000 (100bi)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 busca é custosa: O(n)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Busca Binária O(log n)?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r>
              <a:rPr b="1" lang="pt-BR" sz="2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Aplicar métodos de ordenação a cada ‘evento’ é custoso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Recursivos (i.e QuickSort - N Log N)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1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Não Recursivos (i.e Insertion N^2)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Imagem 3" descr=""/>
          <p:cNvPicPr/>
          <p:nvPr/>
        </p:nvPicPr>
        <p:blipFill>
          <a:blip r:embed="rId1"/>
          <a:stretch/>
        </p:blipFill>
        <p:spPr>
          <a:xfrm>
            <a:off x="2057400" y="2286000"/>
            <a:ext cx="5416920" cy="64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CustomShape 19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Dicionário de Dados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20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21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2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Tipo de dados abstrato que representa um objeto/entidade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Implementa as funções Inserir, Buscar e Remover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Utiliza chaves para indexar a informação (função hash)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8" name="Imagem 1" descr=""/>
          <p:cNvPicPr/>
          <p:nvPr/>
        </p:nvPicPr>
        <p:blipFill>
          <a:blip r:embed="rId1"/>
          <a:stretch/>
        </p:blipFill>
        <p:spPr>
          <a:xfrm>
            <a:off x="1953000" y="3726000"/>
            <a:ext cx="6272640" cy="1310040"/>
          </a:xfrm>
          <a:prstGeom prst="rect">
            <a:avLst/>
          </a:prstGeom>
          <a:ln w="0">
            <a:noFill/>
          </a:ln>
        </p:spPr>
      </p:pic>
      <p:pic>
        <p:nvPicPr>
          <p:cNvPr id="329" name="Imagem 7" descr=""/>
          <p:cNvPicPr/>
          <p:nvPr/>
        </p:nvPicPr>
        <p:blipFill>
          <a:blip r:embed="rId2"/>
          <a:stretch/>
        </p:blipFill>
        <p:spPr>
          <a:xfrm>
            <a:off x="1962360" y="5696640"/>
            <a:ext cx="2148480" cy="271800"/>
          </a:xfrm>
          <a:prstGeom prst="rect">
            <a:avLst/>
          </a:prstGeom>
          <a:ln w="0">
            <a:noFill/>
          </a:ln>
        </p:spPr>
      </p:pic>
      <p:pic>
        <p:nvPicPr>
          <p:cNvPr id="330" name="Imagem 8" descr=""/>
          <p:cNvPicPr/>
          <p:nvPr/>
        </p:nvPicPr>
        <p:blipFill>
          <a:blip r:embed="rId3"/>
          <a:stretch/>
        </p:blipFill>
        <p:spPr>
          <a:xfrm>
            <a:off x="2011680" y="6062400"/>
            <a:ext cx="919440" cy="271800"/>
          </a:xfrm>
          <a:prstGeom prst="rect">
            <a:avLst/>
          </a:prstGeom>
          <a:ln w="0">
            <a:noFill/>
          </a:ln>
        </p:spPr>
      </p:pic>
      <p:pic>
        <p:nvPicPr>
          <p:cNvPr id="331" name="Imagem 9" descr=""/>
          <p:cNvPicPr/>
          <p:nvPr/>
        </p:nvPicPr>
        <p:blipFill>
          <a:blip r:embed="rId4"/>
          <a:stretch/>
        </p:blipFill>
        <p:spPr>
          <a:xfrm>
            <a:off x="1975680" y="5036040"/>
            <a:ext cx="5701320" cy="529200"/>
          </a:xfrm>
          <a:prstGeom prst="rect">
            <a:avLst/>
          </a:prstGeom>
          <a:ln w="0">
            <a:noFill/>
          </a:ln>
        </p:spPr>
      </p:pic>
      <p:sp>
        <p:nvSpPr>
          <p:cNvPr id="332" name="CustomShape 23"/>
          <p:cNvSpPr/>
          <p:nvPr/>
        </p:nvSpPr>
        <p:spPr>
          <a:xfrm>
            <a:off x="6436080" y="4745160"/>
            <a:ext cx="727560" cy="270360"/>
          </a:xfrm>
          <a:prstGeom prst="wedgeRoundRectCallout">
            <a:avLst>
              <a:gd name="adj1" fmla="val -94023"/>
              <a:gd name="adj2" fmla="val 60087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000000"/>
                </a:solidFill>
                <a:latin typeface="Arial"/>
                <a:ea typeface="DejaVu Sans"/>
              </a:rPr>
              <a:t>Key == Ana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24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Função Hash e Tabela Hash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CustomShape 25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ustomShape 26"/>
          <p:cNvSpPr/>
          <p:nvPr/>
        </p:nvSpPr>
        <p:spPr>
          <a:xfrm>
            <a:off x="360000" y="192348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Funções Hash ou Funções de Espalhamento é uma função de mapeamento do dados para outro domínio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Não permite caminho inverso (reconstrução)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 colisão é um fator importante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Imagem 4" descr=""/>
          <p:cNvPicPr/>
          <p:nvPr/>
        </p:nvPicPr>
        <p:blipFill>
          <a:blip r:embed="rId1"/>
          <a:stretch/>
        </p:blipFill>
        <p:spPr>
          <a:xfrm>
            <a:off x="5833080" y="3340440"/>
            <a:ext cx="3548520" cy="3167640"/>
          </a:xfrm>
          <a:prstGeom prst="rect">
            <a:avLst/>
          </a:prstGeom>
          <a:ln w="0">
            <a:noFill/>
          </a:ln>
        </p:spPr>
      </p:pic>
      <p:pic>
        <p:nvPicPr>
          <p:cNvPr id="337" name="Imagem 10" descr=""/>
          <p:cNvPicPr/>
          <p:nvPr/>
        </p:nvPicPr>
        <p:blipFill>
          <a:blip r:embed="rId2"/>
          <a:stretch/>
        </p:blipFill>
        <p:spPr>
          <a:xfrm>
            <a:off x="546840" y="3780000"/>
            <a:ext cx="4849920" cy="2728080"/>
          </a:xfrm>
          <a:prstGeom prst="rect">
            <a:avLst/>
          </a:prstGeom>
          <a:ln w="0">
            <a:noFill/>
          </a:ln>
        </p:spPr>
      </p:pic>
      <p:sp>
        <p:nvSpPr>
          <p:cNvPr id="338" name="CustomShape 27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29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Funções Hash - h(k)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30"/>
          <p:cNvSpPr/>
          <p:nvPr/>
        </p:nvSpPr>
        <p:spPr>
          <a:xfrm>
            <a:off x="7598520" y="69004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31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3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Módulo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Valor de M é crítico (M  colisões)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Outros métodos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Multiplicação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Fibonacci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Etc...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1908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Qualidade da hash determina: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406800" indent="-21492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Colisões vs Custo computacional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Imagem 11" descr=""/>
          <p:cNvPicPr/>
          <p:nvPr/>
        </p:nvPicPr>
        <p:blipFill>
          <a:blip r:embed="rId1"/>
          <a:stretch/>
        </p:blipFill>
        <p:spPr>
          <a:xfrm>
            <a:off x="5754240" y="1980000"/>
            <a:ext cx="2194560" cy="850680"/>
          </a:xfrm>
          <a:prstGeom prst="rect">
            <a:avLst/>
          </a:prstGeom>
          <a:ln w="0">
            <a:noFill/>
          </a:ln>
        </p:spPr>
      </p:pic>
      <p:pic>
        <p:nvPicPr>
          <p:cNvPr id="344" name="Imagem 12" descr=""/>
          <p:cNvPicPr/>
          <p:nvPr/>
        </p:nvPicPr>
        <p:blipFill>
          <a:blip r:embed="rId2"/>
          <a:stretch/>
        </p:blipFill>
        <p:spPr>
          <a:xfrm>
            <a:off x="5259960" y="3237840"/>
            <a:ext cx="3948480" cy="271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34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Colisão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ustomShape 35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36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37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Um ou mais itens mapeados para a mesma chave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Solução*: Encadeamento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Tamanho da lista (#colisões) depende de h(x)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*Existem outras soluções disponíveis no estado da arte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Imagem 13" descr=""/>
          <p:cNvPicPr/>
          <p:nvPr/>
        </p:nvPicPr>
        <p:blipFill>
          <a:blip r:embed="rId1"/>
          <a:stretch/>
        </p:blipFill>
        <p:spPr>
          <a:xfrm>
            <a:off x="2080080" y="3547080"/>
            <a:ext cx="6423120" cy="257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39"/>
          <p:cNvSpPr/>
          <p:nvPr/>
        </p:nvSpPr>
        <p:spPr>
          <a:xfrm>
            <a:off x="360000" y="360000"/>
            <a:ext cx="93510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Exercício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CustomShape 40"/>
          <p:cNvSpPr/>
          <p:nvPr/>
        </p:nvSpPr>
        <p:spPr>
          <a:xfrm>
            <a:off x="7608600" y="6886080"/>
            <a:ext cx="2276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CustomShape 41"/>
          <p:cNvSpPr/>
          <p:nvPr/>
        </p:nvSpPr>
        <p:spPr>
          <a:xfrm>
            <a:off x="897120" y="6886080"/>
            <a:ext cx="6438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ustomShape 42"/>
          <p:cNvSpPr/>
          <p:nvPr/>
        </p:nvSpPr>
        <p:spPr>
          <a:xfrm>
            <a:off x="360000" y="1980000"/>
            <a:ext cx="9171000" cy="46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Implementar uma tabela hash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Avaliar diferentes funções hash e seus parâmetros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24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Analises Críticas e Comparações de Desempenho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i.e Número de Colisões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8"/>
          <p:cNvSpPr/>
          <p:nvPr/>
        </p:nvSpPr>
        <p:spPr>
          <a:xfrm>
            <a:off x="360000" y="360000"/>
            <a:ext cx="9349920" cy="8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Implementação e Discussão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CustomShape 9"/>
          <p:cNvSpPr/>
          <p:nvPr/>
        </p:nvSpPr>
        <p:spPr>
          <a:xfrm>
            <a:off x="360000" y="1980000"/>
            <a:ext cx="9169920" cy="46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9600">
              <a:lnSpc>
                <a:spcPct val="100000"/>
              </a:lnSpc>
              <a:spcAft>
                <a:spcPts val="1140"/>
              </a:spcAft>
            </a:pPr>
            <a:r>
              <a:rPr b="1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Let’s Code!!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960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ustomShape 10"/>
          <p:cNvSpPr/>
          <p:nvPr/>
        </p:nvSpPr>
        <p:spPr>
          <a:xfrm>
            <a:off x="7608600" y="6886080"/>
            <a:ext cx="22752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Aula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CustomShape 11"/>
          <p:cNvSpPr/>
          <p:nvPr/>
        </p:nvSpPr>
        <p:spPr>
          <a:xfrm>
            <a:off x="897120" y="6886080"/>
            <a:ext cx="643716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Fund. Algoritmos e Estrutura de Dados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458280" y="2514960"/>
            <a:ext cx="571284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000" spc="-1" strike="noStrike" u="sng">
                <a:solidFill>
                  <a:srgbClr val="1c1c1c"/>
                </a:solidFill>
                <a:uFillTx/>
                <a:latin typeface="Latin Modern Sans"/>
                <a:ea typeface="DejaVu Sans"/>
              </a:rPr>
              <a:t>LINK ==&gt; </a:t>
            </a:r>
            <a:r>
              <a:rPr b="1" lang="pt-BR" sz="20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 Linked Lists and Hash Table.ipynb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1760</TotalTime>
  <Application>LibreOffice/24.2.7.2$Linux_X86_64 LibreOffice_project/420$Build-2</Application>
  <AppVersion>15.0000</AppVersion>
  <Words>457</Words>
  <Paragraphs>116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2025-08-22T13:33:46Z</cp:lastPrinted>
  <dcterms:modified xsi:type="dcterms:W3CDTF">2026-03-13T15:40:01Z</dcterms:modified>
  <cp:revision>168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11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11</vt:i4>
  </property>
</Properties>
</file>