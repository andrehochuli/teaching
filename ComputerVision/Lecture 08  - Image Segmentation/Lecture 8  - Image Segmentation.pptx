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59.png" ContentType="image/png"/>
  <Override PartName="/ppt/media/image21.png" ContentType="image/png"/>
  <Override PartName="/ppt/media/image58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1.png" ContentType="image/png"/>
  <Override PartName="/ppt/media/image33.png" ContentType="image/png"/>
  <Override PartName="/ppt/media/image10.png" ContentType="image/png"/>
  <Override PartName="/ppt/media/image47.png" ContentType="image/png"/>
  <Override PartName="/ppt/media/image16.png" ContentType="image/png"/>
  <Override PartName="/ppt/media/image7.png" ContentType="image/png"/>
  <Override PartName="/ppt/media/image39.png" ContentType="image/png"/>
  <Override PartName="/ppt/media/image2.png" ContentType="image/png"/>
  <Override PartName="/ppt/media/image34.png" ContentType="image/png"/>
  <Override PartName="/ppt/media/image11.png" ContentType="image/png"/>
  <Override PartName="/ppt/media/image48.png" ContentType="image/png"/>
  <Override PartName="/ppt/media/image17.png" ContentType="image/png"/>
  <Override PartName="/ppt/media/image45.png" ContentType="image/png"/>
  <Override PartName="/ppt/media/image46.png" ContentType="image/png"/>
  <Override PartName="/ppt/media/image50.png" ContentType="image/png"/>
  <Override PartName="/ppt/media/image13.png" ContentType="image/png"/>
  <Override PartName="/ppt/media/image51.png" ContentType="image/png"/>
  <Override PartName="/ppt/media/image52.png" ContentType="image/png"/>
  <Override PartName="/ppt/media/image41.png" ContentType="image/png"/>
  <Override PartName="/ppt/media/image53.png" ContentType="image/png"/>
  <Override PartName="/ppt/media/image42.png" ContentType="image/png"/>
  <Override PartName="/ppt/media/image54.png" ContentType="image/png"/>
  <Override PartName="/ppt/media/image8.png" ContentType="image/png"/>
  <Override PartName="/ppt/media/image43.png" ContentType="image/png"/>
  <Override PartName="/ppt/media/image55.png" ContentType="image/png"/>
  <Override PartName="/ppt/media/image9.png" ContentType="image/png"/>
  <Override PartName="/ppt/media/image18.png" ContentType="image/png"/>
  <Override PartName="/ppt/media/image44.png" ContentType="image/png"/>
  <Override PartName="/ppt/media/image56.png" ContentType="image/png"/>
  <Override PartName="/ppt/media/image40.png" ContentType="image/png"/>
  <Override PartName="/ppt/media/image32.png" ContentType="image/png"/>
  <Override PartName="/ppt/media/image31.png" ContentType="image/png"/>
  <Override PartName="/ppt/media/image30.png" ContentType="image/png"/>
  <Override PartName="/ppt/media/image4.png" ContentType="image/png"/>
  <Override PartName="/ppt/media/image36.png" ContentType="image/png"/>
  <Override PartName="/ppt/media/image20.png" ContentType="image/png"/>
  <Override PartName="/ppt/media/image57.png" ContentType="image/png"/>
  <Override PartName="/ppt/media/image49.png" ContentType="image/png"/>
  <Override PartName="/ppt/media/image12.png" ContentType="image/png"/>
  <Override PartName="/ppt/media/image3.png" ContentType="image/png"/>
  <Override PartName="/ppt/media/image35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52.xml.rels" ContentType="application/vnd.openxmlformats-package.relationships+xml"/>
  <Override PartName="/ppt/slides/_rels/slide51.xml.rels" ContentType="application/vnd.openxmlformats-package.relationships+xml"/>
  <Override PartName="/ppt/slides/_rels/slide13.xml.rels" ContentType="application/vnd.openxmlformats-package.relationships+xml"/>
  <Override PartName="/ppt/slides/_rels/slide50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41.xml.rels" ContentType="application/vnd.openxmlformats-package.relationships+xml"/>
  <Override PartName="/ppt/slides/_rels/slide39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39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47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3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0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45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13A9330-81AB-45BD-BA29-53BD54E52D3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CustomShape 77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CustomShape 3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CustomShape 3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CustomShape 5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CustomShape 82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CustomShape 14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CustomShape 24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CustomShape 38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CustomShape 231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CustomShape 237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CustomShape 279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CustomShape 26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CustomShape 32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CustomShape 39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CustomShape 44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CustomShape 67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CustomShape 88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CustomShape 95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CustomShape 100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CustomShape 106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CustomShape 111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CustomShape 117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CustomShape 123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CustomShape 129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CustomShape 135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CustomShape 140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CustomShape 146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CustomShape 151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CustomShape 157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CustomShape 163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CustomShape 164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CustomShape 170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CustomShape 176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CustomShape 182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CustomShape 227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CustomShape 87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CustomShape 50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CustomShape 56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60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CustomShape 62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CustomShape 186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CustomShape 192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CustomShape 246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CustomShape 198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CustomShape 204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CustomShape 210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CustomShape 216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CustomShape 258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CustomShape 252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CustomShape 264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CustomShape 270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CustomShape 276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8800" cy="3598560"/>
          </a:xfrm>
          <a:prstGeom prst="rect">
            <a:avLst/>
          </a:prstGeom>
          <a:ln w="0">
            <a:noFill/>
          </a:ln>
        </p:spPr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9000" cy="420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CustomShape 282"/>
          <p:cNvSpPr/>
          <p:nvPr/>
        </p:nvSpPr>
        <p:spPr>
          <a:xfrm>
            <a:off x="0" y="10155240"/>
            <a:ext cx="32673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3150000"/>
            <a:ext cx="9711360" cy="12513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/>
          <p:cNvSpPr/>
          <p:nvPr/>
        </p:nvSpPr>
        <p:spPr>
          <a:xfrm>
            <a:off x="0" y="180000"/>
            <a:ext cx="9711360" cy="12513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" name="CustomShape 2"/>
          <p:cNvSpPr/>
          <p:nvPr/>
        </p:nvSpPr>
        <p:spPr>
          <a:xfrm>
            <a:off x="7560000" y="6840000"/>
            <a:ext cx="2511360" cy="5313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" name="CustomShape 3"/>
          <p:cNvSpPr/>
          <p:nvPr/>
        </p:nvSpPr>
        <p:spPr>
          <a:xfrm>
            <a:off x="900000" y="6840000"/>
            <a:ext cx="6471360" cy="53136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" name="CustomShape 4"/>
          <p:cNvSpPr/>
          <p:nvPr/>
        </p:nvSpPr>
        <p:spPr>
          <a:xfrm>
            <a:off x="180000" y="6840000"/>
            <a:ext cx="531360" cy="53136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stomShape 1"/>
          <p:cNvSpPr/>
          <p:nvPr/>
        </p:nvSpPr>
        <p:spPr>
          <a:xfrm>
            <a:off x="0" y="180000"/>
            <a:ext cx="9711360" cy="12513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" name="CustomShape 2"/>
          <p:cNvSpPr/>
          <p:nvPr/>
        </p:nvSpPr>
        <p:spPr>
          <a:xfrm>
            <a:off x="7560000" y="6840000"/>
            <a:ext cx="2511360" cy="5313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" name="CustomShape 3"/>
          <p:cNvSpPr/>
          <p:nvPr/>
        </p:nvSpPr>
        <p:spPr>
          <a:xfrm>
            <a:off x="900000" y="6840000"/>
            <a:ext cx="6471360" cy="53136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" name="CustomShape 4"/>
          <p:cNvSpPr/>
          <p:nvPr/>
        </p:nvSpPr>
        <p:spPr>
          <a:xfrm>
            <a:off x="180000" y="6840000"/>
            <a:ext cx="531360" cy="53136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stomShape 1"/>
          <p:cNvSpPr/>
          <p:nvPr/>
        </p:nvSpPr>
        <p:spPr>
          <a:xfrm>
            <a:off x="0" y="3150000"/>
            <a:ext cx="9711360" cy="12513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180000"/>
            <a:ext cx="9711360" cy="12513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" name="CustomShape 2"/>
          <p:cNvSpPr/>
          <p:nvPr/>
        </p:nvSpPr>
        <p:spPr>
          <a:xfrm>
            <a:off x="7560000" y="6840000"/>
            <a:ext cx="2511360" cy="5313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" name="CustomShape 3"/>
          <p:cNvSpPr/>
          <p:nvPr/>
        </p:nvSpPr>
        <p:spPr>
          <a:xfrm>
            <a:off x="900000" y="6840000"/>
            <a:ext cx="6471360" cy="53136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" name="CustomShape 4"/>
          <p:cNvSpPr/>
          <p:nvPr/>
        </p:nvSpPr>
        <p:spPr>
          <a:xfrm>
            <a:off x="180000" y="6840000"/>
            <a:ext cx="531360" cy="53136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ustomShape 1"/>
          <p:cNvSpPr/>
          <p:nvPr/>
        </p:nvSpPr>
        <p:spPr>
          <a:xfrm>
            <a:off x="0" y="3150000"/>
            <a:ext cx="9711360" cy="12513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ustomShape 1"/>
          <p:cNvSpPr/>
          <p:nvPr/>
        </p:nvSpPr>
        <p:spPr>
          <a:xfrm>
            <a:off x="0" y="180000"/>
            <a:ext cx="9711360" cy="12513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" name="CustomShape 2"/>
          <p:cNvSpPr/>
          <p:nvPr/>
        </p:nvSpPr>
        <p:spPr>
          <a:xfrm>
            <a:off x="7560000" y="6840000"/>
            <a:ext cx="2511360" cy="53136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" name="CustomShape 3"/>
          <p:cNvSpPr/>
          <p:nvPr/>
        </p:nvSpPr>
        <p:spPr>
          <a:xfrm>
            <a:off x="900000" y="6840000"/>
            <a:ext cx="6471360" cy="53136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" name="CustomShape 4"/>
          <p:cNvSpPr/>
          <p:nvPr/>
        </p:nvSpPr>
        <p:spPr>
          <a:xfrm>
            <a:off x="180000" y="6840000"/>
            <a:ext cx="531360" cy="53136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gustavo.hochuli@pucpr.br" TargetMode="External"/><Relationship Id="rId2" Type="http://schemas.openxmlformats.org/officeDocument/2006/relationships/hyperlink" Target="mailto:aghochuli@ppgia.pucpr.br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7.png"/><Relationship Id="rId3" Type="http://schemas.openxmlformats.org/officeDocument/2006/relationships/image" Target="../media/image47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57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57.png"/><Relationship Id="rId3" Type="http://schemas.openxmlformats.org/officeDocument/2006/relationships/image" Target="../media/image59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57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75"/>
          <p:cNvSpPr/>
          <p:nvPr/>
        </p:nvSpPr>
        <p:spPr>
          <a:xfrm>
            <a:off x="360000" y="333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Lecture 08 – Image Detection and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Segmentation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CustomShape 76"/>
          <p:cNvSpPr/>
          <p:nvPr/>
        </p:nvSpPr>
        <p:spPr>
          <a:xfrm>
            <a:off x="540000" y="4680000"/>
            <a:ext cx="9171360" cy="25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Prof. André Gustavo Hochuli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gustavo.hochuli@pucpr.br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2"/>
              </a:rPr>
              <a:t>aghochuli@ppgia.pucpr.br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Topics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CustomShape 2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CustomShape 3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CustomShape 4"/>
          <p:cNvSpPr/>
          <p:nvPr/>
        </p:nvSpPr>
        <p:spPr>
          <a:xfrm>
            <a:off x="360000" y="198000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Review of Lecture 10 – CNN Applications and Tricks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Classification vs Segmentation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Classification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Object Detection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732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Segmentation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Practice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Picture 1" descr=""/>
          <p:cNvPicPr/>
          <p:nvPr/>
        </p:nvPicPr>
        <p:blipFill>
          <a:blip r:embed="rId1"/>
          <a:stretch/>
        </p:blipFill>
        <p:spPr>
          <a:xfrm>
            <a:off x="2932920" y="3657960"/>
            <a:ext cx="5751360" cy="2740320"/>
          </a:xfrm>
          <a:prstGeom prst="rect">
            <a:avLst/>
          </a:prstGeom>
          <a:ln w="0">
            <a:noFill/>
          </a:ln>
        </p:spPr>
      </p:pic>
      <p:sp>
        <p:nvSpPr>
          <p:cNvPr id="48" name="Oval 2"/>
          <p:cNvSpPr/>
          <p:nvPr/>
        </p:nvSpPr>
        <p:spPr>
          <a:xfrm>
            <a:off x="3034800" y="6062040"/>
            <a:ext cx="253800" cy="216360"/>
          </a:xfrm>
          <a:prstGeom prst="ellipse">
            <a:avLst/>
          </a:prstGeom>
          <a:solidFill>
            <a:srgbClr val="00b05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" name="Oval 3"/>
          <p:cNvSpPr/>
          <p:nvPr/>
        </p:nvSpPr>
        <p:spPr>
          <a:xfrm>
            <a:off x="3399840" y="6069960"/>
            <a:ext cx="253440" cy="216720"/>
          </a:xfrm>
          <a:prstGeom prst="ellipse">
            <a:avLst/>
          </a:prstGeom>
          <a:solidFill>
            <a:srgbClr val="00b05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0" name="Oval 4"/>
          <p:cNvSpPr/>
          <p:nvPr/>
        </p:nvSpPr>
        <p:spPr>
          <a:xfrm>
            <a:off x="3819240" y="6062040"/>
            <a:ext cx="253800" cy="216360"/>
          </a:xfrm>
          <a:prstGeom prst="ellipse">
            <a:avLst/>
          </a:prstGeom>
          <a:solidFill>
            <a:srgbClr val="00b05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" name="Oval 5"/>
          <p:cNvSpPr/>
          <p:nvPr/>
        </p:nvSpPr>
        <p:spPr>
          <a:xfrm>
            <a:off x="4184280" y="6062040"/>
            <a:ext cx="253800" cy="216360"/>
          </a:xfrm>
          <a:prstGeom prst="ellipse">
            <a:avLst/>
          </a:prstGeom>
          <a:solidFill>
            <a:srgbClr val="00b05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" name="Oval 6"/>
          <p:cNvSpPr/>
          <p:nvPr/>
        </p:nvSpPr>
        <p:spPr>
          <a:xfrm>
            <a:off x="4969800" y="6069960"/>
            <a:ext cx="253800" cy="216720"/>
          </a:xfrm>
          <a:prstGeom prst="ellipse">
            <a:avLst/>
          </a:prstGeom>
          <a:solidFill>
            <a:srgbClr val="00b05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Classification vs Segmentation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CustomShape 2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CustomShape 3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CustomShape 4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Box 3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795240" y="2340000"/>
            <a:ext cx="8380080" cy="323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CustomShape 8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Classification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CustomShape 9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CustomShape 10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CustomShape 11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Box 2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1260000" y="2707560"/>
            <a:ext cx="8095320" cy="3047760"/>
          </a:xfrm>
          <a:prstGeom prst="rect">
            <a:avLst/>
          </a:prstGeom>
          <a:ln w="0">
            <a:noFill/>
          </a:ln>
        </p:spPr>
      </p:pic>
      <p:pic>
        <p:nvPicPr>
          <p:cNvPr id="65" name="" descr=""/>
          <p:cNvPicPr/>
          <p:nvPr/>
        </p:nvPicPr>
        <p:blipFill>
          <a:blip r:embed="rId2"/>
          <a:stretch/>
        </p:blipFill>
        <p:spPr>
          <a:xfrm>
            <a:off x="7380000" y="825480"/>
            <a:ext cx="2331000" cy="897840"/>
          </a:xfrm>
          <a:prstGeom prst="rect">
            <a:avLst/>
          </a:prstGeom>
          <a:ln w="0">
            <a:noFill/>
          </a:ln>
        </p:spPr>
      </p:pic>
      <p:sp>
        <p:nvSpPr>
          <p:cNvPr id="66" name=""/>
          <p:cNvSpPr/>
          <p:nvPr/>
        </p:nvSpPr>
        <p:spPr>
          <a:xfrm>
            <a:off x="7380000" y="825480"/>
            <a:ext cx="791280" cy="89784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78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CustomShape 79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CustomShape 80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CustomShape 81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Box 14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795240" y="2340000"/>
            <a:ext cx="8380080" cy="323532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3420000" y="2340000"/>
            <a:ext cx="2870280" cy="322668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6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CustomShape 7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CustomShape 12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CustomShape 13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Box 1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rcRect l="0" t="15841" r="0" b="0"/>
          <a:stretch/>
        </p:blipFill>
        <p:spPr>
          <a:xfrm>
            <a:off x="2686320" y="2411280"/>
            <a:ext cx="5409000" cy="4087800"/>
          </a:xfrm>
          <a:prstGeom prst="rect">
            <a:avLst/>
          </a:prstGeom>
          <a:ln w="0">
            <a:noFill/>
          </a:ln>
        </p:spPr>
      </p:pic>
      <p:pic>
        <p:nvPicPr>
          <p:cNvPr id="80" name="" descr=""/>
          <p:cNvPicPr/>
          <p:nvPr/>
        </p:nvPicPr>
        <p:blipFill>
          <a:blip r:embed="rId2"/>
          <a:stretch/>
        </p:blipFill>
        <p:spPr>
          <a:xfrm>
            <a:off x="7380000" y="825480"/>
            <a:ext cx="2331000" cy="89784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8096040" y="825480"/>
            <a:ext cx="791280" cy="89784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20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RCNN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CustomShape 21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CustomShape 22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CustomShape 23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Box 5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7380000" y="825480"/>
            <a:ext cx="2331000" cy="897840"/>
          </a:xfrm>
          <a:prstGeom prst="rect">
            <a:avLst/>
          </a:prstGeom>
          <a:ln w="0">
            <a:noFill/>
          </a:ln>
        </p:spPr>
      </p:pic>
      <p:sp>
        <p:nvSpPr>
          <p:cNvPr id="88" name=""/>
          <p:cNvSpPr/>
          <p:nvPr/>
        </p:nvSpPr>
        <p:spPr>
          <a:xfrm>
            <a:off x="8096040" y="825480"/>
            <a:ext cx="791280" cy="89784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" name="CustomShape 15"/>
          <p:cNvSpPr/>
          <p:nvPr/>
        </p:nvSpPr>
        <p:spPr>
          <a:xfrm>
            <a:off x="360000" y="183600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Region Based Convolutional Neural Network (2014) - Ross Girshick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Selective Search Algorithm (Region Proposal)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CNN (Classification)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2"/>
          <a:stretch/>
        </p:blipFill>
        <p:spPr>
          <a:xfrm>
            <a:off x="1620000" y="3600000"/>
            <a:ext cx="7195320" cy="251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33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RCNN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CustomShape 34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CustomShape 35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CustomShape 36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Box 7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7380000" y="825480"/>
            <a:ext cx="2331000" cy="89784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8096040" y="825480"/>
            <a:ext cx="791280" cy="89784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8" name="CustomShape 37"/>
          <p:cNvSpPr/>
          <p:nvPr/>
        </p:nvSpPr>
        <p:spPr>
          <a:xfrm>
            <a:off x="360000" y="183600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Selective Search Algorithm (Region Proposal)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1080000" y="2510280"/>
            <a:ext cx="7815600" cy="360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220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R-CNN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CustomShape 221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CustomShape 228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CustomShape 229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Box 37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7380000" y="825480"/>
            <a:ext cx="2331000" cy="897840"/>
          </a:xfrm>
          <a:prstGeom prst="rect">
            <a:avLst/>
          </a:prstGeom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8096040" y="825480"/>
            <a:ext cx="791280" cy="89784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" name="CustomShape 230"/>
          <p:cNvSpPr/>
          <p:nvPr/>
        </p:nvSpPr>
        <p:spPr>
          <a:xfrm>
            <a:off x="360000" y="183600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2"/>
          <a:stretch/>
        </p:blipFill>
        <p:spPr>
          <a:xfrm>
            <a:off x="354600" y="1647720"/>
            <a:ext cx="9460800" cy="4851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232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– Fast R-CNN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CustomShape 233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CustomShape 234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CustomShape 235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Box 39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7380000" y="825480"/>
            <a:ext cx="2331000" cy="89784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8096040" y="825480"/>
            <a:ext cx="791280" cy="89784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" name="CustomShape 236"/>
          <p:cNvSpPr/>
          <p:nvPr/>
        </p:nvSpPr>
        <p:spPr>
          <a:xfrm>
            <a:off x="360000" y="183600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2"/>
          <a:stretch/>
        </p:blipFill>
        <p:spPr>
          <a:xfrm>
            <a:off x="152640" y="1828800"/>
            <a:ext cx="9520200" cy="480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238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– Faster R-CNN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CustomShape 239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CustomShape 240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CustomShape 255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Box 40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7380000" y="825480"/>
            <a:ext cx="2331000" cy="897840"/>
          </a:xfrm>
          <a:prstGeom prst="rect">
            <a:avLst/>
          </a:prstGeom>
          <a:ln w="0">
            <a:noFill/>
          </a:ln>
        </p:spPr>
      </p:pic>
      <p:sp>
        <p:nvSpPr>
          <p:cNvPr id="124" name=""/>
          <p:cNvSpPr/>
          <p:nvPr/>
        </p:nvSpPr>
        <p:spPr>
          <a:xfrm>
            <a:off x="8096040" y="825480"/>
            <a:ext cx="791280" cy="89784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5" name="CustomShape 273"/>
          <p:cNvSpPr/>
          <p:nvPr/>
        </p:nvSpPr>
        <p:spPr>
          <a:xfrm>
            <a:off x="360000" y="183600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2"/>
          <a:stretch/>
        </p:blipFill>
        <p:spPr>
          <a:xfrm>
            <a:off x="583200" y="1647720"/>
            <a:ext cx="8789040" cy="479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6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RCNN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CustomShape 17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CustomShape 18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CustomShape 19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Box 4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6475680" y="1087920"/>
            <a:ext cx="3235320" cy="1247400"/>
          </a:xfrm>
          <a:prstGeom prst="rect">
            <a:avLst/>
          </a:prstGeom>
          <a:ln w="0">
            <a:noFill/>
          </a:ln>
        </p:spPr>
      </p:pic>
      <p:sp>
        <p:nvSpPr>
          <p:cNvPr id="133" name=""/>
          <p:cNvSpPr/>
          <p:nvPr/>
        </p:nvSpPr>
        <p:spPr>
          <a:xfrm>
            <a:off x="7560000" y="1087920"/>
            <a:ext cx="971280" cy="124740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2"/>
          <a:srcRect l="1367" t="7139" r="4494" b="9160"/>
          <a:stretch/>
        </p:blipFill>
        <p:spPr>
          <a:xfrm>
            <a:off x="1800000" y="3216960"/>
            <a:ext cx="7241760" cy="3618360"/>
          </a:xfrm>
          <a:prstGeom prst="rect">
            <a:avLst/>
          </a:prstGeom>
          <a:ln w="0">
            <a:noFill/>
          </a:ln>
        </p:spPr>
      </p:pic>
      <p:sp>
        <p:nvSpPr>
          <p:cNvPr id="135" name="CustomShape 25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R-CNN: Selective Search-&gt;CNN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Fast: End-to-end (Sel. Search-&gt;ROI Pooling→FC)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Faster: Region Proposal Network (RPN)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27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CustomShape 28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CustomShape 29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CustomShape 30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Box 6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6475680" y="1087920"/>
            <a:ext cx="3235320" cy="1247400"/>
          </a:xfrm>
          <a:prstGeom prst="rect">
            <a:avLst/>
          </a:prstGeom>
          <a:ln w="0">
            <a:noFill/>
          </a:ln>
        </p:spPr>
      </p:pic>
      <p:sp>
        <p:nvSpPr>
          <p:cNvPr id="142" name=""/>
          <p:cNvSpPr/>
          <p:nvPr/>
        </p:nvSpPr>
        <p:spPr>
          <a:xfrm>
            <a:off x="7560000" y="1087920"/>
            <a:ext cx="971280" cy="124740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3" name="CustomShape 31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You Look Once (YoLo - 2015 - now)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Joseph Redmon / Ross Girshick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Fast End-to-End Architecture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2"/>
          <a:stretch/>
        </p:blipFill>
        <p:spPr>
          <a:xfrm>
            <a:off x="698760" y="3552480"/>
            <a:ext cx="9016560" cy="330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ustomShape 68"/>
          <p:cNvSpPr/>
          <p:nvPr/>
        </p:nvSpPr>
        <p:spPr>
          <a:xfrm>
            <a:off x="360000" y="333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YoLo – You Look Once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69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CustomShape 40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CustomShape 41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CustomShape 42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Box 8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6475680" y="1087920"/>
            <a:ext cx="3235320" cy="1247400"/>
          </a:xfrm>
          <a:prstGeom prst="rect">
            <a:avLst/>
          </a:prstGeom>
          <a:ln w="0">
            <a:noFill/>
          </a:ln>
        </p:spPr>
      </p:pic>
      <p:sp>
        <p:nvSpPr>
          <p:cNvPr id="152" name=""/>
          <p:cNvSpPr/>
          <p:nvPr/>
        </p:nvSpPr>
        <p:spPr>
          <a:xfrm>
            <a:off x="7560000" y="1087920"/>
            <a:ext cx="971280" cy="124740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3" name="CustomShape 43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You Look Once (YoLo - 2015 - now)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The input image  passes through convolutional backbone (e.g., Darknet)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The output is a feature map of lower spatial resolution (e.g for instance, 80×80, 20x20 )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The split is applied on the latent (feature map), not the raw input. Each feature cell corresponds to a specific spatial region (receptive field) of the input image.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1600200" y="3886200"/>
            <a:ext cx="7482240" cy="274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90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CustomShape 63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CustomShape 64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CustomShape 65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Box 12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1"/>
          <a:stretch/>
        </p:blipFill>
        <p:spPr>
          <a:xfrm>
            <a:off x="2514600" y="2514600"/>
            <a:ext cx="6590880" cy="4282200"/>
          </a:xfrm>
          <a:prstGeom prst="rect">
            <a:avLst/>
          </a:prstGeom>
          <a:ln w="0">
            <a:noFill/>
          </a:ln>
        </p:spPr>
      </p:pic>
      <p:sp>
        <p:nvSpPr>
          <p:cNvPr id="161" name="CustomShape 66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Regression is the key!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Bounding boxes are treated as continuous variables in normalized image coordinates.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(x,y,w,h)=(0.25,0.40,0.20,0.10)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" descr=""/>
          <p:cNvPicPr/>
          <p:nvPr/>
        </p:nvPicPr>
        <p:blipFill>
          <a:blip r:embed="rId2"/>
          <a:stretch/>
        </p:blipFill>
        <p:spPr>
          <a:xfrm>
            <a:off x="5486400" y="336600"/>
            <a:ext cx="4207320" cy="1540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ustomShape 70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CustomShape 71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CustomShape 72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CustomShape 73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Box 13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CustomShape 74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Each cell predicts  bounding boxes and confidences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P(object): [0,1]  quantifies the confidence that any object occupies this box (not background)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1850400" y="3212640"/>
            <a:ext cx="2933640" cy="2971080"/>
          </a:xfrm>
          <a:prstGeom prst="rect">
            <a:avLst/>
          </a:prstGeom>
          <a:ln w="36720">
            <a:noFill/>
          </a:ln>
        </p:spPr>
      </p:pic>
      <p:pic>
        <p:nvPicPr>
          <p:cNvPr id="170" name="" descr=""/>
          <p:cNvPicPr/>
          <p:nvPr/>
        </p:nvPicPr>
        <p:blipFill>
          <a:blip r:embed="rId2"/>
          <a:stretch/>
        </p:blipFill>
        <p:spPr>
          <a:xfrm>
            <a:off x="5750640" y="3224880"/>
            <a:ext cx="2933640" cy="2971080"/>
          </a:xfrm>
          <a:prstGeom prst="rect">
            <a:avLst/>
          </a:prstGeom>
          <a:ln w="36720">
            <a:noFill/>
          </a:ln>
        </p:spPr>
      </p:pic>
      <p:pic>
        <p:nvPicPr>
          <p:cNvPr id="171" name="" descr=""/>
          <p:cNvPicPr/>
          <p:nvPr/>
        </p:nvPicPr>
        <p:blipFill>
          <a:blip r:embed="rId3"/>
          <a:stretch/>
        </p:blipFill>
        <p:spPr>
          <a:xfrm>
            <a:off x="5486400" y="336600"/>
            <a:ext cx="4207320" cy="1540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89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CustomShape 91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CustomShape 92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CustomShape 93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Box 16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CustomShape 94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Each cell predicts  bounding boxes and confidences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P(object): [0,1]  quantifies the confidence that any object occupies this box (not background)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" descr=""/>
          <p:cNvPicPr/>
          <p:nvPr/>
        </p:nvPicPr>
        <p:blipFill>
          <a:blip r:embed="rId1"/>
          <a:stretch/>
        </p:blipFill>
        <p:spPr>
          <a:xfrm>
            <a:off x="5486400" y="336600"/>
            <a:ext cx="4207320" cy="1540440"/>
          </a:xfrm>
          <a:prstGeom prst="rect">
            <a:avLst/>
          </a:prstGeom>
          <a:ln w="0">
            <a:noFill/>
          </a:ln>
        </p:spPr>
      </p:pic>
      <p:pic>
        <p:nvPicPr>
          <p:cNvPr id="179" name="" descr=""/>
          <p:cNvPicPr/>
          <p:nvPr/>
        </p:nvPicPr>
        <p:blipFill>
          <a:blip r:embed="rId2"/>
          <a:stretch/>
        </p:blipFill>
        <p:spPr>
          <a:xfrm>
            <a:off x="1528200" y="3285000"/>
            <a:ext cx="3049200" cy="2969280"/>
          </a:xfrm>
          <a:prstGeom prst="rect">
            <a:avLst/>
          </a:prstGeom>
          <a:ln w="36720">
            <a:noFill/>
          </a:ln>
        </p:spPr>
      </p:pic>
      <p:pic>
        <p:nvPicPr>
          <p:cNvPr id="180" name="" descr=""/>
          <p:cNvPicPr/>
          <p:nvPr/>
        </p:nvPicPr>
        <p:blipFill>
          <a:blip r:embed="rId3"/>
          <a:stretch/>
        </p:blipFill>
        <p:spPr>
          <a:xfrm>
            <a:off x="5611680" y="3369240"/>
            <a:ext cx="3036600" cy="295704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02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CustomShape 96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CustomShape 97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CustomShape 98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Box 17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CustomShape 99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Class</a:t>
            </a: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Prob = P(class) =&gt; P(car) = 0.8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Conditionated Prob: e.g P(class | object) =&gt; P(car) = 0.9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Confidence: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P(Object) * P (Car | Object)   = 0.72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597600" y="3942720"/>
            <a:ext cx="2467080" cy="2309400"/>
          </a:xfrm>
          <a:prstGeom prst="rect">
            <a:avLst/>
          </a:prstGeom>
          <a:ln w="36720">
            <a:noFill/>
          </a:ln>
        </p:spPr>
      </p:pic>
      <p:pic>
        <p:nvPicPr>
          <p:cNvPr id="188" name="" descr=""/>
          <p:cNvPicPr/>
          <p:nvPr/>
        </p:nvPicPr>
        <p:blipFill>
          <a:blip r:embed="rId2"/>
          <a:stretch/>
        </p:blipFill>
        <p:spPr>
          <a:xfrm>
            <a:off x="6885360" y="3886200"/>
            <a:ext cx="2484720" cy="2325600"/>
          </a:xfrm>
          <a:prstGeom prst="rect">
            <a:avLst/>
          </a:prstGeom>
          <a:ln w="36720">
            <a:noFill/>
          </a:ln>
        </p:spPr>
      </p:pic>
      <p:pic>
        <p:nvPicPr>
          <p:cNvPr id="189" name="" descr=""/>
          <p:cNvPicPr/>
          <p:nvPr/>
        </p:nvPicPr>
        <p:blipFill>
          <a:blip r:embed="rId3"/>
          <a:stretch/>
        </p:blipFill>
        <p:spPr>
          <a:xfrm>
            <a:off x="3194280" y="3894840"/>
            <a:ext cx="3579120" cy="2291760"/>
          </a:xfrm>
          <a:prstGeom prst="rect">
            <a:avLst/>
          </a:prstGeom>
          <a:ln w="36720">
            <a:noFill/>
          </a:ln>
        </p:spPr>
      </p:pic>
      <p:pic>
        <p:nvPicPr>
          <p:cNvPr id="190" name="" descr=""/>
          <p:cNvPicPr/>
          <p:nvPr/>
        </p:nvPicPr>
        <p:blipFill>
          <a:blip r:embed="rId4"/>
          <a:stretch/>
        </p:blipFill>
        <p:spPr>
          <a:xfrm>
            <a:off x="5486400" y="336600"/>
            <a:ext cx="4207320" cy="1540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120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CustomShape 101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CustomShape 103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CustomShape 104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Box 18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CustomShape 105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Each cell predicts: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Bounding Boxes: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4 Coordinates (X,Y,W,H)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1 Confidence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I.E PASCAL VOC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7x7 Grid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2 Bounding Box / Cell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20 Classes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7 * 7 * (2 * 5 + 20) = 7x7*30 tensors per cell =&gt; 1470 predictions per image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7" name="" descr=""/>
          <p:cNvPicPr/>
          <p:nvPr/>
        </p:nvPicPr>
        <p:blipFill>
          <a:blip r:embed="rId1"/>
          <a:stretch/>
        </p:blipFill>
        <p:spPr>
          <a:xfrm>
            <a:off x="4417200" y="2267640"/>
            <a:ext cx="4798080" cy="3216240"/>
          </a:xfrm>
          <a:prstGeom prst="rect">
            <a:avLst/>
          </a:prstGeom>
          <a:ln w="36720">
            <a:noFill/>
          </a:ln>
        </p:spPr>
      </p:pic>
      <p:pic>
        <p:nvPicPr>
          <p:cNvPr id="198" name="" descr=""/>
          <p:cNvPicPr/>
          <p:nvPr/>
        </p:nvPicPr>
        <p:blipFill>
          <a:blip r:embed="rId2"/>
          <a:stretch/>
        </p:blipFill>
        <p:spPr>
          <a:xfrm>
            <a:off x="5486400" y="336600"/>
            <a:ext cx="4207320" cy="1540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ustomShape 114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CustomShape 107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CustomShape 108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CustomShape 109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Box 19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CustomShape 110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Non-Maximum Supression (NMS)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Sort all boxes by confidence score (P(object)×P(class).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Pick the box with the highest score → keep it as the best detection.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Compute IoU between this box and all others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Remove all boxes with IoU above the suppression threshold (e.g., 0.5)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Repeat until all boxes are processed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1"/>
          <a:stretch/>
        </p:blipFill>
        <p:spPr>
          <a:xfrm>
            <a:off x="659880" y="4324680"/>
            <a:ext cx="1623600" cy="1616400"/>
          </a:xfrm>
          <a:prstGeom prst="rect">
            <a:avLst/>
          </a:prstGeom>
          <a:ln w="36720">
            <a:noFill/>
          </a:ln>
        </p:spPr>
      </p:pic>
      <p:pic>
        <p:nvPicPr>
          <p:cNvPr id="206" name="" descr=""/>
          <p:cNvPicPr/>
          <p:nvPr/>
        </p:nvPicPr>
        <p:blipFill>
          <a:blip r:embed="rId2"/>
          <a:stretch/>
        </p:blipFill>
        <p:spPr>
          <a:xfrm>
            <a:off x="7315200" y="2183760"/>
            <a:ext cx="2512080" cy="1471320"/>
          </a:xfrm>
          <a:prstGeom prst="rect">
            <a:avLst/>
          </a:prstGeom>
          <a:ln w="36720">
            <a:noFill/>
          </a:ln>
        </p:spPr>
      </p:pic>
      <p:pic>
        <p:nvPicPr>
          <p:cNvPr id="207" name="" descr=""/>
          <p:cNvPicPr/>
          <p:nvPr/>
        </p:nvPicPr>
        <p:blipFill>
          <a:blip r:embed="rId3"/>
          <a:stretch/>
        </p:blipFill>
        <p:spPr>
          <a:xfrm>
            <a:off x="6392160" y="4355280"/>
            <a:ext cx="2281320" cy="2271600"/>
          </a:xfrm>
          <a:prstGeom prst="rect">
            <a:avLst/>
          </a:prstGeom>
          <a:ln w="36720">
            <a:noFill/>
          </a:ln>
        </p:spPr>
      </p:pic>
      <p:sp>
        <p:nvSpPr>
          <p:cNvPr id="208" name=""/>
          <p:cNvSpPr/>
          <p:nvPr/>
        </p:nvSpPr>
        <p:spPr>
          <a:xfrm flipV="1">
            <a:off x="2971800" y="5234400"/>
            <a:ext cx="3200400" cy="2340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0" bIns="-216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9" name=""/>
          <p:cNvSpPr/>
          <p:nvPr/>
        </p:nvSpPr>
        <p:spPr>
          <a:xfrm>
            <a:off x="4275000" y="4800600"/>
            <a:ext cx="751680" cy="60012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NMS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4"/>
          <a:stretch/>
        </p:blipFill>
        <p:spPr>
          <a:xfrm>
            <a:off x="5486400" y="336600"/>
            <a:ext cx="4207320" cy="1540440"/>
          </a:xfrm>
          <a:prstGeom prst="rect">
            <a:avLst/>
          </a:prstGeom>
          <a:ln w="0">
            <a:noFill/>
          </a:ln>
        </p:spPr>
      </p:pic>
      <p:pic>
        <p:nvPicPr>
          <p:cNvPr id="211" name="" descr=""/>
          <p:cNvPicPr/>
          <p:nvPr/>
        </p:nvPicPr>
        <p:blipFill>
          <a:blip r:embed="rId5"/>
          <a:stretch/>
        </p:blipFill>
        <p:spPr>
          <a:xfrm>
            <a:off x="1828800" y="5486400"/>
            <a:ext cx="2257560" cy="144540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CustomShape 126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CustomShape 112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CustomShape 113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CustomShape 115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Box 20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CustomShape 116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Training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Match example to the right cell (ground-truth)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" descr=""/>
          <p:cNvPicPr/>
          <p:nvPr/>
        </p:nvPicPr>
        <p:blipFill>
          <a:blip r:embed="rId1"/>
          <a:stretch/>
        </p:blipFill>
        <p:spPr>
          <a:xfrm>
            <a:off x="5327280" y="514440"/>
            <a:ext cx="4207320" cy="1540440"/>
          </a:xfrm>
          <a:prstGeom prst="rect">
            <a:avLst/>
          </a:prstGeom>
          <a:ln w="0">
            <a:noFill/>
          </a:ln>
        </p:spPr>
      </p:pic>
      <p:pic>
        <p:nvPicPr>
          <p:cNvPr id="219" name="" descr=""/>
          <p:cNvPicPr/>
          <p:nvPr/>
        </p:nvPicPr>
        <p:blipFill>
          <a:blip r:embed="rId2"/>
          <a:stretch/>
        </p:blipFill>
        <p:spPr>
          <a:xfrm>
            <a:off x="457200" y="3074400"/>
            <a:ext cx="2657520" cy="2638080"/>
          </a:xfrm>
          <a:prstGeom prst="rect">
            <a:avLst/>
          </a:prstGeom>
          <a:ln w="36720">
            <a:noFill/>
          </a:ln>
        </p:spPr>
      </p:pic>
      <p:pic>
        <p:nvPicPr>
          <p:cNvPr id="220" name="" descr=""/>
          <p:cNvPicPr/>
          <p:nvPr/>
        </p:nvPicPr>
        <p:blipFill>
          <a:blip r:embed="rId3"/>
          <a:stretch/>
        </p:blipFill>
        <p:spPr>
          <a:xfrm>
            <a:off x="3501000" y="3043800"/>
            <a:ext cx="2740680" cy="2720880"/>
          </a:xfrm>
          <a:prstGeom prst="rect">
            <a:avLst/>
          </a:prstGeom>
          <a:ln w="36720">
            <a:noFill/>
          </a:ln>
        </p:spPr>
      </p:pic>
      <p:pic>
        <p:nvPicPr>
          <p:cNvPr id="221" name="" descr=""/>
          <p:cNvPicPr/>
          <p:nvPr/>
        </p:nvPicPr>
        <p:blipFill>
          <a:blip r:embed="rId4"/>
          <a:stretch/>
        </p:blipFill>
        <p:spPr>
          <a:xfrm>
            <a:off x="6303240" y="3053160"/>
            <a:ext cx="3228120" cy="265932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32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ustomShape 118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CustomShape 119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CustomShape 121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Box 21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CustomShape 122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Training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Predict Bounding-Boxes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Selects the best fit and increases its confidence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Penalizes all other predictions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1"/>
          <a:stretch/>
        </p:blipFill>
        <p:spPr>
          <a:xfrm>
            <a:off x="5327280" y="514440"/>
            <a:ext cx="4207320" cy="1540440"/>
          </a:xfrm>
          <a:prstGeom prst="rect">
            <a:avLst/>
          </a:prstGeom>
          <a:ln w="0">
            <a:noFill/>
          </a:ln>
        </p:spPr>
      </p:pic>
      <p:pic>
        <p:nvPicPr>
          <p:cNvPr id="229" name="" descr=""/>
          <p:cNvPicPr/>
          <p:nvPr/>
        </p:nvPicPr>
        <p:blipFill>
          <a:blip r:embed="rId2"/>
          <a:stretch/>
        </p:blipFill>
        <p:spPr>
          <a:xfrm>
            <a:off x="4343400" y="3701160"/>
            <a:ext cx="2969280" cy="2925720"/>
          </a:xfrm>
          <a:prstGeom prst="rect">
            <a:avLst/>
          </a:prstGeom>
          <a:ln w="36720">
            <a:noFill/>
          </a:ln>
        </p:spPr>
      </p:pic>
      <p:sp>
        <p:nvSpPr>
          <p:cNvPr id="230" name=""/>
          <p:cNvSpPr/>
          <p:nvPr/>
        </p:nvSpPr>
        <p:spPr>
          <a:xfrm>
            <a:off x="2514600" y="3657600"/>
            <a:ext cx="2286000" cy="1600200"/>
          </a:xfrm>
          <a:prstGeom prst="line">
            <a:avLst/>
          </a:prstGeom>
          <a:ln w="3672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1" name=""/>
          <p:cNvSpPr/>
          <p:nvPr/>
        </p:nvSpPr>
        <p:spPr>
          <a:xfrm flipH="1" flipV="1">
            <a:off x="3886200" y="2971800"/>
            <a:ext cx="1600200" cy="1828800"/>
          </a:xfrm>
          <a:prstGeom prst="line">
            <a:avLst/>
          </a:prstGeom>
          <a:ln w="36720">
            <a:solidFill>
              <a:srgbClr val="3faf46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44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CustomShape 124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CustomShape 125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CustomShape 127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Box 22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CustomShape 128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Training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Penalizes when the prediction does not match any class (i.e., background).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8" name="" descr=""/>
          <p:cNvPicPr/>
          <p:nvPr/>
        </p:nvPicPr>
        <p:blipFill>
          <a:blip r:embed="rId1"/>
          <a:stretch/>
        </p:blipFill>
        <p:spPr>
          <a:xfrm>
            <a:off x="5327280" y="514440"/>
            <a:ext cx="4207320" cy="1540440"/>
          </a:xfrm>
          <a:prstGeom prst="rect">
            <a:avLst/>
          </a:prstGeom>
          <a:ln w="0">
            <a:noFill/>
          </a:ln>
        </p:spPr>
      </p:pic>
      <p:pic>
        <p:nvPicPr>
          <p:cNvPr id="239" name="" descr=""/>
          <p:cNvPicPr/>
          <p:nvPr/>
        </p:nvPicPr>
        <p:blipFill>
          <a:blip r:embed="rId2"/>
          <a:stretch/>
        </p:blipFill>
        <p:spPr>
          <a:xfrm>
            <a:off x="1600200" y="3038040"/>
            <a:ext cx="2482200" cy="2445840"/>
          </a:xfrm>
          <a:prstGeom prst="rect">
            <a:avLst/>
          </a:prstGeom>
          <a:ln w="36720">
            <a:noFill/>
          </a:ln>
        </p:spPr>
      </p:pic>
      <p:pic>
        <p:nvPicPr>
          <p:cNvPr id="240" name="" descr=""/>
          <p:cNvPicPr/>
          <p:nvPr/>
        </p:nvPicPr>
        <p:blipFill>
          <a:blip r:embed="rId3"/>
          <a:stretch/>
        </p:blipFill>
        <p:spPr>
          <a:xfrm>
            <a:off x="5220720" y="2971800"/>
            <a:ext cx="2549160" cy="251208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CustomShape 130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CustomShape 131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CustomShape 133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CustomShape 134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Box 23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6" name="" descr=""/>
          <p:cNvPicPr/>
          <p:nvPr/>
        </p:nvPicPr>
        <p:blipFill>
          <a:blip r:embed="rId1"/>
          <a:stretch/>
        </p:blipFill>
        <p:spPr>
          <a:xfrm>
            <a:off x="5327280" y="514440"/>
            <a:ext cx="4207320" cy="1540440"/>
          </a:xfrm>
          <a:prstGeom prst="rect">
            <a:avLst/>
          </a:prstGeom>
          <a:ln w="0">
            <a:noFill/>
          </a:ln>
        </p:spPr>
      </p:pic>
      <p:pic>
        <p:nvPicPr>
          <p:cNvPr id="247" name="" descr=""/>
          <p:cNvPicPr/>
          <p:nvPr/>
        </p:nvPicPr>
        <p:blipFill>
          <a:blip r:embed="rId2"/>
          <a:stretch/>
        </p:blipFill>
        <p:spPr>
          <a:xfrm>
            <a:off x="685800" y="2400480"/>
            <a:ext cx="8779320" cy="376920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36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CustomShape 137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CustomShape 138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CustomShape 139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Box 24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3" name="" descr=""/>
          <p:cNvPicPr/>
          <p:nvPr/>
        </p:nvPicPr>
        <p:blipFill>
          <a:blip r:embed="rId1"/>
          <a:stretch/>
        </p:blipFill>
        <p:spPr>
          <a:xfrm>
            <a:off x="5327280" y="514440"/>
            <a:ext cx="4207320" cy="1540440"/>
          </a:xfrm>
          <a:prstGeom prst="rect">
            <a:avLst/>
          </a:prstGeom>
          <a:ln w="0">
            <a:noFill/>
          </a:ln>
        </p:spPr>
      </p:pic>
      <p:pic>
        <p:nvPicPr>
          <p:cNvPr id="254" name="" descr=""/>
          <p:cNvPicPr/>
          <p:nvPr/>
        </p:nvPicPr>
        <p:blipFill>
          <a:blip r:embed="rId2"/>
          <a:stretch/>
        </p:blipFill>
        <p:spPr>
          <a:xfrm>
            <a:off x="730080" y="2094480"/>
            <a:ext cx="8779320" cy="376920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ustomShape 142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CustomShape 141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CustomShape 143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CustomShape 145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Box 25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0" name="" descr=""/>
          <p:cNvPicPr/>
          <p:nvPr/>
        </p:nvPicPr>
        <p:blipFill>
          <a:blip r:embed="rId1"/>
          <a:stretch/>
        </p:blipFill>
        <p:spPr>
          <a:xfrm>
            <a:off x="5327280" y="514440"/>
            <a:ext cx="4207320" cy="1540440"/>
          </a:xfrm>
          <a:prstGeom prst="rect">
            <a:avLst/>
          </a:prstGeom>
          <a:ln w="0">
            <a:noFill/>
          </a:ln>
        </p:spPr>
      </p:pic>
      <p:pic>
        <p:nvPicPr>
          <p:cNvPr id="261" name="" descr=""/>
          <p:cNvPicPr/>
          <p:nvPr/>
        </p:nvPicPr>
        <p:blipFill>
          <a:blip r:embed="rId2"/>
          <a:stretch/>
        </p:blipFill>
        <p:spPr>
          <a:xfrm>
            <a:off x="501480" y="1827720"/>
            <a:ext cx="6354000" cy="2727720"/>
          </a:xfrm>
          <a:prstGeom prst="rect">
            <a:avLst/>
          </a:prstGeom>
          <a:ln w="36720">
            <a:noFill/>
          </a:ln>
        </p:spPr>
      </p:pic>
      <p:pic>
        <p:nvPicPr>
          <p:cNvPr id="262" name="" descr=""/>
          <p:cNvPicPr/>
          <p:nvPr/>
        </p:nvPicPr>
        <p:blipFill>
          <a:blip r:embed="rId3"/>
          <a:stretch/>
        </p:blipFill>
        <p:spPr>
          <a:xfrm>
            <a:off x="228600" y="4466880"/>
            <a:ext cx="3870000" cy="2032200"/>
          </a:xfrm>
          <a:prstGeom prst="rect">
            <a:avLst/>
          </a:prstGeom>
          <a:ln w="36720">
            <a:noFill/>
          </a:ln>
        </p:spPr>
      </p:pic>
      <p:pic>
        <p:nvPicPr>
          <p:cNvPr id="263" name="" descr=""/>
          <p:cNvPicPr/>
          <p:nvPr/>
        </p:nvPicPr>
        <p:blipFill>
          <a:blip r:embed="rId4"/>
          <a:stretch/>
        </p:blipFill>
        <p:spPr>
          <a:xfrm>
            <a:off x="4572000" y="3429000"/>
            <a:ext cx="5110200" cy="287856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56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CustomShape 147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CustomShape 148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CustomShape 149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Box 26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CustomShape 150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0" name="" descr=""/>
          <p:cNvPicPr/>
          <p:nvPr/>
        </p:nvPicPr>
        <p:blipFill>
          <a:blip r:embed="rId1"/>
          <a:stretch/>
        </p:blipFill>
        <p:spPr>
          <a:xfrm>
            <a:off x="5327280" y="514440"/>
            <a:ext cx="4207320" cy="1540440"/>
          </a:xfrm>
          <a:prstGeom prst="rect">
            <a:avLst/>
          </a:prstGeom>
          <a:ln w="0">
            <a:noFill/>
          </a:ln>
        </p:spPr>
      </p:pic>
      <p:pic>
        <p:nvPicPr>
          <p:cNvPr id="271" name="" descr=""/>
          <p:cNvPicPr/>
          <p:nvPr/>
        </p:nvPicPr>
        <p:blipFill>
          <a:blip r:embed="rId2"/>
          <a:stretch/>
        </p:blipFill>
        <p:spPr>
          <a:xfrm>
            <a:off x="3657600" y="4293360"/>
            <a:ext cx="5579280" cy="2205720"/>
          </a:xfrm>
          <a:prstGeom prst="rect">
            <a:avLst/>
          </a:prstGeom>
          <a:ln w="36720">
            <a:noFill/>
          </a:ln>
        </p:spPr>
      </p:pic>
      <p:pic>
        <p:nvPicPr>
          <p:cNvPr id="272" name="" descr=""/>
          <p:cNvPicPr/>
          <p:nvPr/>
        </p:nvPicPr>
        <p:blipFill>
          <a:blip r:embed="rId3"/>
          <a:stretch/>
        </p:blipFill>
        <p:spPr>
          <a:xfrm>
            <a:off x="590760" y="1647720"/>
            <a:ext cx="6493320" cy="234036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CustomShape 222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CustomShape 152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CustomShape 153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CustomShape 154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Box 27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CustomShape 155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mAP measures a detector’s average precision across all classes.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9" name="" descr=""/>
          <p:cNvPicPr/>
          <p:nvPr/>
        </p:nvPicPr>
        <p:blipFill>
          <a:blip r:embed="rId1"/>
          <a:stretch/>
        </p:blipFill>
        <p:spPr>
          <a:xfrm>
            <a:off x="5327280" y="514440"/>
            <a:ext cx="4207320" cy="1540440"/>
          </a:xfrm>
          <a:prstGeom prst="rect">
            <a:avLst/>
          </a:prstGeom>
          <a:ln w="0">
            <a:noFill/>
          </a:ln>
        </p:spPr>
      </p:pic>
      <p:pic>
        <p:nvPicPr>
          <p:cNvPr id="280" name="" descr=""/>
          <p:cNvPicPr/>
          <p:nvPr/>
        </p:nvPicPr>
        <p:blipFill>
          <a:blip r:embed="rId2"/>
          <a:stretch/>
        </p:blipFill>
        <p:spPr>
          <a:xfrm>
            <a:off x="685800" y="2229120"/>
            <a:ext cx="6493320" cy="2340360"/>
          </a:xfrm>
          <a:prstGeom prst="rect">
            <a:avLst/>
          </a:prstGeom>
          <a:ln w="36720">
            <a:noFill/>
          </a:ln>
        </p:spPr>
      </p:pic>
      <p:pic>
        <p:nvPicPr>
          <p:cNvPr id="281" name="" descr=""/>
          <p:cNvPicPr/>
          <p:nvPr/>
        </p:nvPicPr>
        <p:blipFill>
          <a:blip r:embed="rId3"/>
          <a:stretch/>
        </p:blipFill>
        <p:spPr>
          <a:xfrm>
            <a:off x="1600200" y="5257800"/>
            <a:ext cx="1892520" cy="780120"/>
          </a:xfrm>
          <a:prstGeom prst="rect">
            <a:avLst/>
          </a:prstGeom>
          <a:ln w="36720">
            <a:noFill/>
          </a:ln>
        </p:spPr>
      </p:pic>
      <p:pic>
        <p:nvPicPr>
          <p:cNvPr id="282" name="" descr=""/>
          <p:cNvPicPr/>
          <p:nvPr/>
        </p:nvPicPr>
        <p:blipFill>
          <a:blip r:embed="rId4"/>
          <a:stretch/>
        </p:blipFill>
        <p:spPr>
          <a:xfrm>
            <a:off x="4504680" y="4800960"/>
            <a:ext cx="5026680" cy="198720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CustomShape 158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Object Detection - Yolo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CustomShape 159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CustomShape 160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CustomShape 161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Box 28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CustomShape 162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Let’s Code!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This exercise will utilize Ultralytics (www.ultralytics.com) as the framework.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Single Image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Frame by Frame (Video / Camera)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Check out the GitHub repository, specifically the yolo-ultralytics folder.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" descr=""/>
          <p:cNvPicPr/>
          <p:nvPr/>
        </p:nvPicPr>
        <p:blipFill>
          <a:blip r:embed="rId1"/>
          <a:stretch/>
        </p:blipFill>
        <p:spPr>
          <a:xfrm>
            <a:off x="5327280" y="514440"/>
            <a:ext cx="4207320" cy="1540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CustomShape 183"/>
          <p:cNvSpPr/>
          <p:nvPr/>
        </p:nvSpPr>
        <p:spPr>
          <a:xfrm>
            <a:off x="360000" y="333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YoLo – Training and Annotation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CustomShape 165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Yolo Training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CustomShape 166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CustomShape 167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CustomShape 168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Box 29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CustomShape 169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Each image must include: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Bounding box coordinates (4 points) and the corresponding class label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Bounding boxes should be relative (normalized), not absolute pixel coordinates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Avaliable annotation tools: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LabelImg (simple and lightweight)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LabelMe (browser-based)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CVAT (advanced, collaborative)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Roboflow Annotate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7" name="" descr=""/>
          <p:cNvPicPr/>
          <p:nvPr/>
        </p:nvPicPr>
        <p:blipFill>
          <a:blip r:embed="rId1"/>
          <a:stretch/>
        </p:blipFill>
        <p:spPr>
          <a:xfrm>
            <a:off x="5327280" y="514440"/>
            <a:ext cx="4207320" cy="1540440"/>
          </a:xfrm>
          <a:prstGeom prst="rect">
            <a:avLst/>
          </a:prstGeom>
          <a:ln w="0">
            <a:noFill/>
          </a:ln>
        </p:spPr>
      </p:pic>
      <p:pic>
        <p:nvPicPr>
          <p:cNvPr id="298" name="" descr=""/>
          <p:cNvPicPr/>
          <p:nvPr/>
        </p:nvPicPr>
        <p:blipFill>
          <a:blip r:embed="rId2"/>
          <a:stretch/>
        </p:blipFill>
        <p:spPr>
          <a:xfrm>
            <a:off x="4707000" y="3444840"/>
            <a:ext cx="5121000" cy="3182760"/>
          </a:xfrm>
          <a:prstGeom prst="rect">
            <a:avLst/>
          </a:prstGeom>
          <a:ln w="54720">
            <a:solidFill>
              <a:srgbClr val="3465a4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CustomShape 171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Yolo Training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CustomShape 172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CustomShape 173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CustomShape 174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Box 30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CustomShape 175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5" name="" descr=""/>
          <p:cNvPicPr/>
          <p:nvPr/>
        </p:nvPicPr>
        <p:blipFill>
          <a:blip r:embed="rId1"/>
          <a:stretch/>
        </p:blipFill>
        <p:spPr>
          <a:xfrm>
            <a:off x="5327280" y="514440"/>
            <a:ext cx="4207320" cy="1540440"/>
          </a:xfrm>
          <a:prstGeom prst="rect">
            <a:avLst/>
          </a:prstGeom>
          <a:ln w="0">
            <a:noFill/>
          </a:ln>
        </p:spPr>
      </p:pic>
      <p:pic>
        <p:nvPicPr>
          <p:cNvPr id="306" name="" descr=""/>
          <p:cNvPicPr/>
          <p:nvPr/>
        </p:nvPicPr>
        <p:blipFill>
          <a:blip r:embed="rId2"/>
          <a:stretch/>
        </p:blipFill>
        <p:spPr>
          <a:xfrm>
            <a:off x="360000" y="1600200"/>
            <a:ext cx="3753000" cy="5005080"/>
          </a:xfrm>
          <a:prstGeom prst="rect">
            <a:avLst/>
          </a:prstGeom>
          <a:ln w="54720">
            <a:solidFill>
              <a:srgbClr val="3465a4"/>
            </a:solidFill>
            <a:round/>
          </a:ln>
        </p:spPr>
      </p:pic>
      <p:sp>
        <p:nvSpPr>
          <p:cNvPr id="307" name=""/>
          <p:cNvSpPr/>
          <p:nvPr/>
        </p:nvSpPr>
        <p:spPr>
          <a:xfrm>
            <a:off x="4769280" y="3054960"/>
            <a:ext cx="4372920" cy="6008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5 0.360417 0.459375 0.229167 0.165625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6 0.575000 0.543750 0.216667 0.162500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1215000" y="3429000"/>
            <a:ext cx="912600" cy="912600"/>
          </a:xfrm>
          <a:prstGeom prst="rect">
            <a:avLst/>
          </a:prstGeom>
          <a:noFill/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9" name=""/>
          <p:cNvSpPr/>
          <p:nvPr/>
        </p:nvSpPr>
        <p:spPr>
          <a:xfrm>
            <a:off x="2052720" y="3889440"/>
            <a:ext cx="917280" cy="909360"/>
          </a:xfrm>
          <a:prstGeom prst="rect">
            <a:avLst/>
          </a:prstGeom>
          <a:noFill/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CustomShape 177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Yolo Training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CustomShape 178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CustomShape 179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ustomShape 180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Box 31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CustomShape 181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6" name="" descr=""/>
          <p:cNvPicPr/>
          <p:nvPr/>
        </p:nvPicPr>
        <p:blipFill>
          <a:blip r:embed="rId1"/>
          <a:stretch/>
        </p:blipFill>
        <p:spPr>
          <a:xfrm>
            <a:off x="5327280" y="514440"/>
            <a:ext cx="4207320" cy="1540440"/>
          </a:xfrm>
          <a:prstGeom prst="rect">
            <a:avLst/>
          </a:prstGeom>
          <a:ln w="0">
            <a:noFill/>
          </a:ln>
        </p:spPr>
      </p:pic>
      <p:pic>
        <p:nvPicPr>
          <p:cNvPr id="317" name="" descr=""/>
          <p:cNvPicPr/>
          <p:nvPr/>
        </p:nvPicPr>
        <p:blipFill>
          <a:blip r:embed="rId2"/>
          <a:stretch/>
        </p:blipFill>
        <p:spPr>
          <a:xfrm>
            <a:off x="360000" y="1600200"/>
            <a:ext cx="3753000" cy="5005080"/>
          </a:xfrm>
          <a:prstGeom prst="rect">
            <a:avLst/>
          </a:prstGeom>
          <a:ln w="54720">
            <a:solidFill>
              <a:srgbClr val="3465a4"/>
            </a:solidFill>
            <a:round/>
          </a:ln>
        </p:spPr>
      </p:pic>
      <p:sp>
        <p:nvSpPr>
          <p:cNvPr id="318" name=""/>
          <p:cNvSpPr/>
          <p:nvPr/>
        </p:nvSpPr>
        <p:spPr>
          <a:xfrm>
            <a:off x="4769280" y="3054960"/>
            <a:ext cx="4372920" cy="6008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5 0.360417 0.459375 0.229167 0.165625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6 0.575000 0.543750 0.216667 0.162500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1215000" y="3429000"/>
            <a:ext cx="912600" cy="912600"/>
          </a:xfrm>
          <a:prstGeom prst="rect">
            <a:avLst/>
          </a:prstGeom>
          <a:noFill/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0" name=""/>
          <p:cNvSpPr/>
          <p:nvPr/>
        </p:nvSpPr>
        <p:spPr>
          <a:xfrm>
            <a:off x="2052720" y="3889440"/>
            <a:ext cx="917280" cy="909360"/>
          </a:xfrm>
          <a:prstGeom prst="rect">
            <a:avLst/>
          </a:prstGeom>
          <a:noFill/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21" name="" descr=""/>
          <p:cNvPicPr/>
          <p:nvPr/>
        </p:nvPicPr>
        <p:blipFill>
          <a:blip r:embed="rId3"/>
          <a:stretch/>
        </p:blipFill>
        <p:spPr>
          <a:xfrm>
            <a:off x="7961760" y="4343400"/>
            <a:ext cx="1569600" cy="2188440"/>
          </a:xfrm>
          <a:prstGeom prst="rect">
            <a:avLst/>
          </a:prstGeom>
          <a:ln w="54720">
            <a:solidFill>
              <a:srgbClr val="3465a4"/>
            </a:solidFill>
            <a:round/>
          </a:ln>
        </p:spPr>
      </p:pic>
      <p:sp>
        <p:nvSpPr>
          <p:cNvPr id="322" name=""/>
          <p:cNvSpPr/>
          <p:nvPr/>
        </p:nvSpPr>
        <p:spPr>
          <a:xfrm>
            <a:off x="1064520" y="3200400"/>
            <a:ext cx="305280" cy="34488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2664720" y="3657600"/>
            <a:ext cx="305280" cy="60048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CustomShape 184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Yolo Training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CustomShape 223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CustomShape 224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CustomShape 225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Box 38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CustomShape 226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0" name="" descr=""/>
          <p:cNvPicPr/>
          <p:nvPr/>
        </p:nvPicPr>
        <p:blipFill>
          <a:blip r:embed="rId1"/>
          <a:stretch/>
        </p:blipFill>
        <p:spPr>
          <a:xfrm>
            <a:off x="5327280" y="514440"/>
            <a:ext cx="4207320" cy="1540440"/>
          </a:xfrm>
          <a:prstGeom prst="rect">
            <a:avLst/>
          </a:prstGeom>
          <a:ln w="0">
            <a:noFill/>
          </a:ln>
        </p:spPr>
      </p:pic>
      <p:pic>
        <p:nvPicPr>
          <p:cNvPr id="331" name="" descr=""/>
          <p:cNvPicPr/>
          <p:nvPr/>
        </p:nvPicPr>
        <p:blipFill>
          <a:blip r:embed="rId2"/>
          <a:stretch/>
        </p:blipFill>
        <p:spPr>
          <a:xfrm>
            <a:off x="360000" y="1600200"/>
            <a:ext cx="3753000" cy="5005080"/>
          </a:xfrm>
          <a:prstGeom prst="rect">
            <a:avLst/>
          </a:prstGeom>
          <a:ln w="54720">
            <a:solidFill>
              <a:srgbClr val="3465a4"/>
            </a:solidFill>
            <a:round/>
          </a:ln>
        </p:spPr>
      </p:pic>
      <p:sp>
        <p:nvSpPr>
          <p:cNvPr id="332" name=""/>
          <p:cNvSpPr/>
          <p:nvPr/>
        </p:nvSpPr>
        <p:spPr>
          <a:xfrm>
            <a:off x="1215000" y="3429000"/>
            <a:ext cx="912600" cy="912600"/>
          </a:xfrm>
          <a:prstGeom prst="rect">
            <a:avLst/>
          </a:prstGeom>
          <a:noFill/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3" name=""/>
          <p:cNvSpPr/>
          <p:nvPr/>
        </p:nvSpPr>
        <p:spPr>
          <a:xfrm>
            <a:off x="2052720" y="3889440"/>
            <a:ext cx="917280" cy="909360"/>
          </a:xfrm>
          <a:prstGeom prst="rect">
            <a:avLst/>
          </a:prstGeom>
          <a:noFill/>
          <a:ln w="3672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4" name=""/>
          <p:cNvSpPr/>
          <p:nvPr/>
        </p:nvSpPr>
        <p:spPr>
          <a:xfrm>
            <a:off x="1064520" y="3200400"/>
            <a:ext cx="305280" cy="34488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2664720" y="3657600"/>
            <a:ext cx="305280" cy="60048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6" name="" descr=""/>
          <p:cNvPicPr/>
          <p:nvPr/>
        </p:nvPicPr>
        <p:blipFill>
          <a:blip r:embed="rId3"/>
          <a:stretch/>
        </p:blipFill>
        <p:spPr>
          <a:xfrm>
            <a:off x="4395960" y="2286000"/>
            <a:ext cx="2917440" cy="3198600"/>
          </a:xfrm>
          <a:prstGeom prst="rect">
            <a:avLst/>
          </a:prstGeom>
          <a:ln w="54720">
            <a:solidFill>
              <a:srgbClr val="3465a4"/>
            </a:solidFill>
            <a:round/>
          </a:ln>
        </p:spPr>
      </p:pic>
      <p:pic>
        <p:nvPicPr>
          <p:cNvPr id="337" name="" descr=""/>
          <p:cNvPicPr/>
          <p:nvPr/>
        </p:nvPicPr>
        <p:blipFill>
          <a:blip r:embed="rId4"/>
          <a:stretch/>
        </p:blipFill>
        <p:spPr>
          <a:xfrm>
            <a:off x="7896600" y="2286000"/>
            <a:ext cx="1702800" cy="3017160"/>
          </a:xfrm>
          <a:prstGeom prst="rect">
            <a:avLst/>
          </a:prstGeom>
          <a:ln w="54720">
            <a:solidFill>
              <a:srgbClr val="3465a4"/>
            </a:solidFill>
            <a:round/>
          </a:ln>
        </p:spPr>
      </p:pic>
      <p:sp>
        <p:nvSpPr>
          <p:cNvPr id="338" name=""/>
          <p:cNvSpPr/>
          <p:nvPr/>
        </p:nvSpPr>
        <p:spPr>
          <a:xfrm>
            <a:off x="6400800" y="5802480"/>
            <a:ext cx="1206000" cy="36792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Let’s Code!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CustomShape 83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Segmentation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CustomShape 84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CustomShape 85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CustomShape 86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Box 15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4" name="" descr=""/>
          <p:cNvPicPr/>
          <p:nvPr/>
        </p:nvPicPr>
        <p:blipFill>
          <a:blip r:embed="rId1"/>
          <a:stretch/>
        </p:blipFill>
        <p:spPr>
          <a:xfrm>
            <a:off x="795240" y="2340000"/>
            <a:ext cx="8380080" cy="3235320"/>
          </a:xfrm>
          <a:prstGeom prst="rect">
            <a:avLst/>
          </a:prstGeom>
          <a:ln w="0">
            <a:noFill/>
          </a:ln>
        </p:spPr>
      </p:pic>
      <p:sp>
        <p:nvSpPr>
          <p:cNvPr id="345" name=""/>
          <p:cNvSpPr/>
          <p:nvPr/>
        </p:nvSpPr>
        <p:spPr>
          <a:xfrm>
            <a:off x="6305040" y="2348640"/>
            <a:ext cx="2870280" cy="322668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CustomShape 45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Segmentation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CustomShape 46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CustomShape 47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CustomShape 48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Box 9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1" name="" descr=""/>
          <p:cNvPicPr/>
          <p:nvPr/>
        </p:nvPicPr>
        <p:blipFill>
          <a:blip r:embed="rId1"/>
          <a:stretch/>
        </p:blipFill>
        <p:spPr>
          <a:xfrm>
            <a:off x="6660000" y="1267920"/>
            <a:ext cx="3235320" cy="1247400"/>
          </a:xfrm>
          <a:prstGeom prst="rect">
            <a:avLst/>
          </a:prstGeom>
          <a:ln w="0">
            <a:noFill/>
          </a:ln>
        </p:spPr>
      </p:pic>
      <p:sp>
        <p:nvSpPr>
          <p:cNvPr id="352" name=""/>
          <p:cNvSpPr/>
          <p:nvPr/>
        </p:nvSpPr>
        <p:spPr>
          <a:xfrm>
            <a:off x="8820000" y="1267920"/>
            <a:ext cx="1071000" cy="124740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3" name="CustomShape 49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Classification at pixel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4" name="" descr=""/>
          <p:cNvPicPr/>
          <p:nvPr/>
        </p:nvPicPr>
        <p:blipFill>
          <a:blip r:embed="rId2"/>
          <a:stretch/>
        </p:blipFill>
        <p:spPr>
          <a:xfrm>
            <a:off x="620640" y="3058920"/>
            <a:ext cx="3694680" cy="2876400"/>
          </a:xfrm>
          <a:prstGeom prst="rect">
            <a:avLst/>
          </a:prstGeom>
          <a:ln w="0">
            <a:noFill/>
          </a:ln>
        </p:spPr>
      </p:pic>
      <p:pic>
        <p:nvPicPr>
          <p:cNvPr id="355" name="" descr=""/>
          <p:cNvPicPr/>
          <p:nvPr/>
        </p:nvPicPr>
        <p:blipFill>
          <a:blip r:embed="rId3"/>
          <a:stretch/>
        </p:blipFill>
        <p:spPr>
          <a:xfrm>
            <a:off x="4549680" y="3045600"/>
            <a:ext cx="4985640" cy="288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CustomShape 51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Segmentation – Mask RCNN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CustomShape 52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CustomShape 53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CustomShape 54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Box 10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1" name="" descr=""/>
          <p:cNvPicPr/>
          <p:nvPr/>
        </p:nvPicPr>
        <p:blipFill>
          <a:blip r:embed="rId1"/>
          <a:stretch/>
        </p:blipFill>
        <p:spPr>
          <a:xfrm>
            <a:off x="6660360" y="1267920"/>
            <a:ext cx="3235320" cy="1247400"/>
          </a:xfrm>
          <a:prstGeom prst="rect">
            <a:avLst/>
          </a:prstGeom>
          <a:ln w="0">
            <a:noFill/>
          </a:ln>
        </p:spPr>
      </p:pic>
      <p:sp>
        <p:nvSpPr>
          <p:cNvPr id="362" name=""/>
          <p:cNvSpPr/>
          <p:nvPr/>
        </p:nvSpPr>
        <p:spPr>
          <a:xfrm>
            <a:off x="8820000" y="1267920"/>
            <a:ext cx="1071000" cy="124740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3" name="CustomShape 55"/>
          <p:cNvSpPr/>
          <p:nvPr/>
        </p:nvSpPr>
        <p:spPr>
          <a:xfrm>
            <a:off x="36036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Faster R-CNN with Binary Mask (2017)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4" name="" descr=""/>
          <p:cNvPicPr/>
          <p:nvPr/>
        </p:nvPicPr>
        <p:blipFill>
          <a:blip r:embed="rId2"/>
          <a:stretch/>
        </p:blipFill>
        <p:spPr>
          <a:xfrm>
            <a:off x="1186560" y="2278440"/>
            <a:ext cx="7808760" cy="437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CustomShape 57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Segmentation - UNET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CustomShape 58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CustomShape 59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CustomShape 60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Box 11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CustomShape 61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U-Net (Encoder and Decoder)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1" name="" descr=""/>
          <p:cNvPicPr/>
          <p:nvPr/>
        </p:nvPicPr>
        <p:blipFill>
          <a:blip r:embed="rId1"/>
          <a:stretch/>
        </p:blipFill>
        <p:spPr>
          <a:xfrm>
            <a:off x="1800000" y="2471760"/>
            <a:ext cx="6595920" cy="4180680"/>
          </a:xfrm>
          <a:prstGeom prst="rect">
            <a:avLst/>
          </a:prstGeom>
          <a:ln w="0">
            <a:noFill/>
          </a:ln>
        </p:spPr>
      </p:pic>
      <p:sp>
        <p:nvSpPr>
          <p:cNvPr id="372" name=""/>
          <p:cNvSpPr/>
          <p:nvPr/>
        </p:nvSpPr>
        <p:spPr>
          <a:xfrm>
            <a:off x="1620000" y="2340000"/>
            <a:ext cx="3415680" cy="4312440"/>
          </a:xfrm>
          <a:prstGeom prst="rect">
            <a:avLst/>
          </a:prstGeom>
          <a:solidFill>
            <a:srgbClr val="ff0000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3" name=""/>
          <p:cNvSpPr/>
          <p:nvPr/>
        </p:nvSpPr>
        <p:spPr>
          <a:xfrm>
            <a:off x="5040000" y="2340000"/>
            <a:ext cx="3415680" cy="4312440"/>
          </a:xfrm>
          <a:prstGeom prst="rect">
            <a:avLst/>
          </a:prstGeom>
          <a:solidFill>
            <a:srgbClr val="2a6099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4" name=""/>
          <p:cNvSpPr/>
          <p:nvPr/>
        </p:nvSpPr>
        <p:spPr>
          <a:xfrm>
            <a:off x="1260000" y="4500000"/>
            <a:ext cx="895680" cy="175680"/>
          </a:xfrm>
          <a:prstGeom prst="rect">
            <a:avLst/>
          </a:prstGeom>
          <a:solidFill>
            <a:srgbClr val="ff0000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87840" bIns="8784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Encoder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7920000" y="4500000"/>
            <a:ext cx="895680" cy="175680"/>
          </a:xfrm>
          <a:prstGeom prst="rect">
            <a:avLst/>
          </a:prstGeom>
          <a:solidFill>
            <a:srgbClr val="2a6099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87840" bIns="8784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Decoder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6" name="" descr=""/>
          <p:cNvPicPr/>
          <p:nvPr/>
        </p:nvPicPr>
        <p:blipFill>
          <a:blip r:embed="rId2"/>
          <a:stretch/>
        </p:blipFill>
        <p:spPr>
          <a:xfrm>
            <a:off x="6660720" y="1267920"/>
            <a:ext cx="3235320" cy="1247400"/>
          </a:xfrm>
          <a:prstGeom prst="rect">
            <a:avLst/>
          </a:prstGeom>
          <a:ln w="0">
            <a:noFill/>
          </a:ln>
        </p:spPr>
      </p:pic>
      <p:sp>
        <p:nvSpPr>
          <p:cNvPr id="377" name=""/>
          <p:cNvSpPr/>
          <p:nvPr/>
        </p:nvSpPr>
        <p:spPr>
          <a:xfrm>
            <a:off x="8820360" y="1267920"/>
            <a:ext cx="1071000" cy="124740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CustomShape 185"/>
          <p:cNvSpPr/>
          <p:nvPr/>
        </p:nvSpPr>
        <p:spPr>
          <a:xfrm>
            <a:off x="360000" y="333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U-Net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CustomShape 187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Segmentation Task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CustomShape 188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CustomShape 189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CustomShape 190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Box 32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CustomShape 191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Process of assigning a label to each pixel in an image to partition it into meaningful regions.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Precise object localization and delineation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Precise object localization and delineation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State-of-The-Art Architectures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FCN (Fully Conv. Networks)(*)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U-NET(*)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DeepLab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Mask R-CNN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5" name="" descr=""/>
          <p:cNvPicPr/>
          <p:nvPr/>
        </p:nvPicPr>
        <p:blipFill>
          <a:blip r:embed="rId1"/>
          <a:stretch/>
        </p:blipFill>
        <p:spPr>
          <a:xfrm>
            <a:off x="5453640" y="192600"/>
            <a:ext cx="4146480" cy="1600560"/>
          </a:xfrm>
          <a:prstGeom prst="rect">
            <a:avLst/>
          </a:prstGeom>
          <a:ln w="0">
            <a:noFill/>
          </a:ln>
        </p:spPr>
      </p:pic>
      <p:sp>
        <p:nvSpPr>
          <p:cNvPr id="386" name=""/>
          <p:cNvSpPr/>
          <p:nvPr/>
        </p:nvSpPr>
        <p:spPr>
          <a:xfrm>
            <a:off x="8300520" y="207720"/>
            <a:ext cx="1299600" cy="147600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87" name="" descr=""/>
          <p:cNvPicPr/>
          <p:nvPr/>
        </p:nvPicPr>
        <p:blipFill>
          <a:blip r:embed="rId2"/>
          <a:stretch/>
        </p:blipFill>
        <p:spPr>
          <a:xfrm>
            <a:off x="4800600" y="3657600"/>
            <a:ext cx="4571280" cy="2188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CustomShape 241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Segmentation Task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CustomShape 242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CustomShape 243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CustomShape 244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Box 41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3" name="" descr=""/>
          <p:cNvPicPr/>
          <p:nvPr/>
        </p:nvPicPr>
        <p:blipFill>
          <a:blip r:embed="rId1"/>
          <a:stretch/>
        </p:blipFill>
        <p:spPr>
          <a:xfrm>
            <a:off x="5453640" y="336600"/>
            <a:ext cx="4146480" cy="1600560"/>
          </a:xfrm>
          <a:prstGeom prst="rect">
            <a:avLst/>
          </a:prstGeom>
          <a:ln w="0">
            <a:noFill/>
          </a:ln>
        </p:spPr>
      </p:pic>
      <p:sp>
        <p:nvSpPr>
          <p:cNvPr id="394" name=""/>
          <p:cNvSpPr/>
          <p:nvPr/>
        </p:nvSpPr>
        <p:spPr>
          <a:xfrm>
            <a:off x="8300520" y="351720"/>
            <a:ext cx="1299600" cy="147600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95" name="" descr=""/>
          <p:cNvPicPr/>
          <p:nvPr/>
        </p:nvPicPr>
        <p:blipFill>
          <a:blip r:embed="rId2"/>
          <a:srcRect l="0" t="52905" r="0" b="0"/>
          <a:stretch/>
        </p:blipFill>
        <p:spPr>
          <a:xfrm>
            <a:off x="5253120" y="4049640"/>
            <a:ext cx="4347000" cy="1736280"/>
          </a:xfrm>
          <a:prstGeom prst="rect">
            <a:avLst/>
          </a:prstGeom>
          <a:ln w="0">
            <a:noFill/>
          </a:ln>
        </p:spPr>
      </p:pic>
      <p:sp>
        <p:nvSpPr>
          <p:cNvPr id="396" name="CustomShape 245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Types of Segmentation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649"/>
              </a:spcBef>
              <a:spcAft>
                <a:spcPts val="57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1c1c1c"/>
                </a:solidFill>
                <a:latin typeface="Calibri"/>
                <a:ea typeface="DejaVu Sans"/>
              </a:rPr>
              <a:t>Semantic Segmentation: Classify each pixel into predefined classes (e.g., road, car, sky)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649"/>
              </a:spcBef>
              <a:spcAft>
                <a:spcPts val="57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1c1c1c"/>
                </a:solidFill>
                <a:latin typeface="Calibri"/>
                <a:ea typeface="DejaVu Sans"/>
              </a:rPr>
              <a:t>Instance Segmentation: Detect and delineate each object instance separately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649"/>
              </a:spcBef>
              <a:spcAft>
                <a:spcPts val="57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1c1c1c"/>
                </a:solidFill>
                <a:latin typeface="Calibri"/>
                <a:ea typeface="DejaVu Sans"/>
              </a:rPr>
              <a:t>Panoptic Segmentation: Combines semantic and instance segmentation in a unified view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7" name="" descr=""/>
          <p:cNvPicPr/>
          <p:nvPr/>
        </p:nvPicPr>
        <p:blipFill>
          <a:blip r:embed="rId3"/>
          <a:srcRect l="0" t="0" r="0" b="52928"/>
          <a:stretch/>
        </p:blipFill>
        <p:spPr>
          <a:xfrm>
            <a:off x="853200" y="3978720"/>
            <a:ext cx="4347000" cy="173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CustomShape 193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Segmentation Task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CustomShape 194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CustomShape 195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CustomShape 196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Box 33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CustomShape 197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Applications: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Medical imaging: Tumor or organ segmentation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4" name="" descr=""/>
          <p:cNvPicPr/>
          <p:nvPr/>
        </p:nvPicPr>
        <p:blipFill>
          <a:blip r:embed="rId1"/>
          <a:stretch/>
        </p:blipFill>
        <p:spPr>
          <a:xfrm>
            <a:off x="5453640" y="336600"/>
            <a:ext cx="4146480" cy="1600560"/>
          </a:xfrm>
          <a:prstGeom prst="rect">
            <a:avLst/>
          </a:prstGeom>
          <a:ln w="0">
            <a:noFill/>
          </a:ln>
        </p:spPr>
      </p:pic>
      <p:sp>
        <p:nvSpPr>
          <p:cNvPr id="405" name=""/>
          <p:cNvSpPr/>
          <p:nvPr/>
        </p:nvSpPr>
        <p:spPr>
          <a:xfrm>
            <a:off x="8300520" y="351720"/>
            <a:ext cx="1299600" cy="147600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406" name="" descr=""/>
          <p:cNvPicPr/>
          <p:nvPr/>
        </p:nvPicPr>
        <p:blipFill>
          <a:blip r:embed="rId2"/>
          <a:stretch/>
        </p:blipFill>
        <p:spPr>
          <a:xfrm>
            <a:off x="800640" y="3116880"/>
            <a:ext cx="3770280" cy="2597040"/>
          </a:xfrm>
          <a:prstGeom prst="rect">
            <a:avLst/>
          </a:prstGeom>
          <a:ln w="0">
            <a:noFill/>
          </a:ln>
        </p:spPr>
      </p:pic>
      <p:pic>
        <p:nvPicPr>
          <p:cNvPr id="407" name="" descr=""/>
          <p:cNvPicPr/>
          <p:nvPr/>
        </p:nvPicPr>
        <p:blipFill>
          <a:blip r:embed="rId3"/>
          <a:stretch/>
        </p:blipFill>
        <p:spPr>
          <a:xfrm>
            <a:off x="5319360" y="3308400"/>
            <a:ext cx="4052160" cy="2296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CustomShape 199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Segmentation Task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CustomShape 200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CustomShape 201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CustomShape 202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Box 34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CustomShape 203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Applications: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Remote sensing: Land cover mapping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4" name="" descr=""/>
          <p:cNvPicPr/>
          <p:nvPr/>
        </p:nvPicPr>
        <p:blipFill>
          <a:blip r:embed="rId1"/>
          <a:stretch/>
        </p:blipFill>
        <p:spPr>
          <a:xfrm>
            <a:off x="5453640" y="336600"/>
            <a:ext cx="4146480" cy="1600560"/>
          </a:xfrm>
          <a:prstGeom prst="rect">
            <a:avLst/>
          </a:prstGeom>
          <a:ln w="0">
            <a:noFill/>
          </a:ln>
        </p:spPr>
      </p:pic>
      <p:sp>
        <p:nvSpPr>
          <p:cNvPr id="415" name=""/>
          <p:cNvSpPr/>
          <p:nvPr/>
        </p:nvSpPr>
        <p:spPr>
          <a:xfrm>
            <a:off x="8300520" y="351720"/>
            <a:ext cx="1299600" cy="147600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416" name="" descr=""/>
          <p:cNvPicPr/>
          <p:nvPr/>
        </p:nvPicPr>
        <p:blipFill>
          <a:blip r:embed="rId2"/>
          <a:stretch/>
        </p:blipFill>
        <p:spPr>
          <a:xfrm>
            <a:off x="5596200" y="3200400"/>
            <a:ext cx="4003920" cy="1958400"/>
          </a:xfrm>
          <a:prstGeom prst="rect">
            <a:avLst/>
          </a:prstGeom>
          <a:ln w="0">
            <a:noFill/>
          </a:ln>
        </p:spPr>
      </p:pic>
      <p:pic>
        <p:nvPicPr>
          <p:cNvPr id="417" name="" descr=""/>
          <p:cNvPicPr/>
          <p:nvPr/>
        </p:nvPicPr>
        <p:blipFill>
          <a:blip r:embed="rId3"/>
          <a:stretch/>
        </p:blipFill>
        <p:spPr>
          <a:xfrm>
            <a:off x="540360" y="3208680"/>
            <a:ext cx="4716360" cy="204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CustomShape 205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Segmentation Task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CustomShape 206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CustomShape 207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CustomShape 208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Box 35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CustomShape 209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Applications: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Autonomous vehicles: Road scene understanding.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4" name="" descr=""/>
          <p:cNvPicPr/>
          <p:nvPr/>
        </p:nvPicPr>
        <p:blipFill>
          <a:blip r:embed="rId1"/>
          <a:stretch/>
        </p:blipFill>
        <p:spPr>
          <a:xfrm>
            <a:off x="5453640" y="336600"/>
            <a:ext cx="4146480" cy="1600560"/>
          </a:xfrm>
          <a:prstGeom prst="rect">
            <a:avLst/>
          </a:prstGeom>
          <a:ln w="0">
            <a:noFill/>
          </a:ln>
        </p:spPr>
      </p:pic>
      <p:sp>
        <p:nvSpPr>
          <p:cNvPr id="425" name=""/>
          <p:cNvSpPr/>
          <p:nvPr/>
        </p:nvSpPr>
        <p:spPr>
          <a:xfrm>
            <a:off x="8300520" y="351720"/>
            <a:ext cx="1299600" cy="147600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426" name="" descr=""/>
          <p:cNvPicPr/>
          <p:nvPr/>
        </p:nvPicPr>
        <p:blipFill>
          <a:blip r:embed="rId2"/>
          <a:stretch/>
        </p:blipFill>
        <p:spPr>
          <a:xfrm>
            <a:off x="2561400" y="2743200"/>
            <a:ext cx="5209920" cy="346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CustomShape 211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Fully Convolutional Network (FCN)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CustomShape 212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CustomShape 213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CustomShape 214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Box 36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CustomShape 215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DejaVu Sans"/>
              </a:rPr>
              <a:t>Replace fully connected layers in CNNs with convolutional layers to produce dense pixel-level predictions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649"/>
              </a:spcBef>
              <a:spcAft>
                <a:spcPts val="57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1c1c1c"/>
                </a:solidFill>
                <a:latin typeface="Calibri"/>
                <a:ea typeface="DejaVu Sans"/>
              </a:rPr>
              <a:t>Encoder derived from classical classification networks (e.g., VGG, AlexNet)]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649"/>
              </a:spcBef>
              <a:spcAft>
                <a:spcPts val="57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1c1c1c"/>
                </a:solidFill>
                <a:latin typeface="Calibri"/>
                <a:ea typeface="DejaVu Sans"/>
              </a:rPr>
              <a:t>Decoder built using upsampling (deconvolution) layers to recover spatial resolution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649"/>
              </a:spcBef>
              <a:spcAft>
                <a:spcPts val="57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1c1c1c"/>
                </a:solidFill>
                <a:latin typeface="Calibri"/>
                <a:ea typeface="DejaVu Sans"/>
              </a:rPr>
              <a:t>Skip connections from shallow layers to refine details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3" name="" descr=""/>
          <p:cNvPicPr/>
          <p:nvPr/>
        </p:nvPicPr>
        <p:blipFill>
          <a:blip r:embed="rId1"/>
          <a:stretch/>
        </p:blipFill>
        <p:spPr>
          <a:xfrm>
            <a:off x="6075000" y="3269880"/>
            <a:ext cx="2839680" cy="1530000"/>
          </a:xfrm>
          <a:prstGeom prst="rect">
            <a:avLst/>
          </a:prstGeom>
          <a:ln w="0">
            <a:noFill/>
          </a:ln>
        </p:spPr>
      </p:pic>
      <p:pic>
        <p:nvPicPr>
          <p:cNvPr id="434" name="" descr=""/>
          <p:cNvPicPr/>
          <p:nvPr/>
        </p:nvPicPr>
        <p:blipFill>
          <a:blip r:embed="rId2"/>
          <a:stretch/>
        </p:blipFill>
        <p:spPr>
          <a:xfrm>
            <a:off x="1600200" y="4800600"/>
            <a:ext cx="6944400" cy="244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CustomShape 253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UNET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CustomShape 254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CustomShape 256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Box 43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CustomShape 257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U-Net (Encoder and Decoder)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Symmetric encoder–decoder with dense skip links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649"/>
              </a:spcBef>
              <a:spcAft>
                <a:spcPts val="57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1c1c1c"/>
                </a:solidFill>
                <a:latin typeface="Calibri"/>
                <a:ea typeface="DejaVu Sans"/>
              </a:rPr>
              <a:t>Encoder (contracting path) captures context through convolution + pooling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649"/>
              </a:spcBef>
              <a:spcAft>
                <a:spcPts val="57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1c1c1c"/>
                </a:solidFill>
                <a:latin typeface="Calibri"/>
                <a:ea typeface="DejaVu Sans"/>
              </a:rPr>
              <a:t>Decoder (expanding path) upsamples using transposed convolutions.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0" name="" descr=""/>
          <p:cNvPicPr/>
          <p:nvPr/>
        </p:nvPicPr>
        <p:blipFill>
          <a:blip r:embed="rId1"/>
          <a:stretch/>
        </p:blipFill>
        <p:spPr>
          <a:xfrm>
            <a:off x="3011400" y="3969720"/>
            <a:ext cx="4466520" cy="2658960"/>
          </a:xfrm>
          <a:prstGeom prst="rect">
            <a:avLst/>
          </a:prstGeom>
          <a:ln w="0">
            <a:noFill/>
          </a:ln>
        </p:spPr>
      </p:pic>
      <p:sp>
        <p:nvSpPr>
          <p:cNvPr id="441" name=""/>
          <p:cNvSpPr/>
          <p:nvPr/>
        </p:nvSpPr>
        <p:spPr>
          <a:xfrm>
            <a:off x="2889720" y="3886200"/>
            <a:ext cx="2313000" cy="2742480"/>
          </a:xfrm>
          <a:prstGeom prst="rect">
            <a:avLst/>
          </a:prstGeom>
          <a:solidFill>
            <a:srgbClr val="ff0000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2" name=""/>
          <p:cNvSpPr/>
          <p:nvPr/>
        </p:nvSpPr>
        <p:spPr>
          <a:xfrm>
            <a:off x="5205240" y="3886200"/>
            <a:ext cx="2313000" cy="2742480"/>
          </a:xfrm>
          <a:prstGeom prst="rect">
            <a:avLst/>
          </a:prstGeom>
          <a:solidFill>
            <a:srgbClr val="2a6099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3" name=""/>
          <p:cNvSpPr/>
          <p:nvPr/>
        </p:nvSpPr>
        <p:spPr>
          <a:xfrm>
            <a:off x="2502000" y="5127120"/>
            <a:ext cx="966240" cy="244440"/>
          </a:xfrm>
          <a:prstGeom prst="rect">
            <a:avLst/>
          </a:prstGeom>
          <a:solidFill>
            <a:srgbClr val="ff0000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88560" bIns="8856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Encoder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6981120" y="5118840"/>
            <a:ext cx="844200" cy="232200"/>
          </a:xfrm>
          <a:prstGeom prst="rect">
            <a:avLst/>
          </a:prstGeom>
          <a:solidFill>
            <a:srgbClr val="2a6099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88560" bIns="8856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DejaVu Sans"/>
              </a:rPr>
              <a:t>Decoder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5" name="" descr=""/>
          <p:cNvPicPr/>
          <p:nvPr/>
        </p:nvPicPr>
        <p:blipFill>
          <a:blip r:embed="rId2"/>
          <a:stretch/>
        </p:blipFill>
        <p:spPr>
          <a:xfrm>
            <a:off x="6476040" y="808920"/>
            <a:ext cx="3235320" cy="1247400"/>
          </a:xfrm>
          <a:prstGeom prst="rect">
            <a:avLst/>
          </a:prstGeom>
          <a:ln w="0">
            <a:noFill/>
          </a:ln>
        </p:spPr>
      </p:pic>
      <p:sp>
        <p:nvSpPr>
          <p:cNvPr id="446" name=""/>
          <p:cNvSpPr/>
          <p:nvPr/>
        </p:nvSpPr>
        <p:spPr>
          <a:xfrm>
            <a:off x="8640360" y="685800"/>
            <a:ext cx="1071000" cy="1247400"/>
          </a:xfrm>
          <a:prstGeom prst="rect">
            <a:avLst/>
          </a:prstGeom>
          <a:solidFill>
            <a:srgbClr val="729fcf">
              <a:alpha val="71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7" name=""/>
          <p:cNvSpPr/>
          <p:nvPr/>
        </p:nvSpPr>
        <p:spPr>
          <a:xfrm>
            <a:off x="4723560" y="6497280"/>
            <a:ext cx="1237320" cy="4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c1c1c"/>
                </a:solidFill>
                <a:latin typeface="Calibri"/>
                <a:ea typeface="DejaVu Sans"/>
              </a:rPr>
              <a:t>Bottleneck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CustomShape 219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CustomShape 247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Learnable Upsampling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CustomShape 248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CustomShape 249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CustomShape 250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 Box 42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CustomShape 251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1c1c1c"/>
                </a:solidFill>
                <a:latin typeface="Calibri"/>
                <a:ea typeface="DejaVu Sans"/>
              </a:rPr>
              <a:t>Simple Upsampling: Fixed Interpolation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  <a:ea typeface="DejaVu Sans"/>
              </a:rPr>
              <a:t>Learnable Upsampling: Transpose convolution learns the inverse mapping of a convolution to produce larger feature maps.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5" name="" descr=""/>
          <p:cNvPicPr/>
          <p:nvPr/>
        </p:nvPicPr>
        <p:blipFill>
          <a:blip r:embed="rId1"/>
          <a:srcRect l="0" t="0" r="0" b="6877"/>
          <a:stretch/>
        </p:blipFill>
        <p:spPr>
          <a:xfrm>
            <a:off x="2743200" y="3539520"/>
            <a:ext cx="4570920" cy="3461400"/>
          </a:xfrm>
          <a:prstGeom prst="rect">
            <a:avLst/>
          </a:prstGeom>
          <a:ln w="0">
            <a:noFill/>
          </a:ln>
        </p:spPr>
      </p:pic>
      <p:pic>
        <p:nvPicPr>
          <p:cNvPr id="456" name="" descr=""/>
          <p:cNvPicPr/>
          <p:nvPr/>
        </p:nvPicPr>
        <p:blipFill>
          <a:blip r:embed="rId2"/>
          <a:srcRect l="7140" t="23792" r="14293" b="18601"/>
          <a:stretch/>
        </p:blipFill>
        <p:spPr>
          <a:xfrm>
            <a:off x="3429000" y="1647720"/>
            <a:ext cx="3199680" cy="1162440"/>
          </a:xfrm>
          <a:prstGeom prst="rect">
            <a:avLst/>
          </a:prstGeom>
          <a:ln w="0">
            <a:noFill/>
          </a:ln>
        </p:spPr>
      </p:pic>
      <p:sp>
        <p:nvSpPr>
          <p:cNvPr id="457" name=""/>
          <p:cNvSpPr/>
          <p:nvPr/>
        </p:nvSpPr>
        <p:spPr>
          <a:xfrm>
            <a:off x="2309400" y="3191760"/>
            <a:ext cx="5477040" cy="65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CustomShape 259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UNET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CustomShape 260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CustomShape 261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CustomShape 262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Box 44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CustomShape 263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Training UNET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Paired: Input → Mask (Segmentation)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Significant Annotation Cost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4" name="" descr=""/>
          <p:cNvPicPr/>
          <p:nvPr/>
        </p:nvPicPr>
        <p:blipFill>
          <a:blip r:embed="rId1"/>
          <a:stretch/>
        </p:blipFill>
        <p:spPr>
          <a:xfrm>
            <a:off x="6673680" y="505800"/>
            <a:ext cx="2926440" cy="1779120"/>
          </a:xfrm>
          <a:prstGeom prst="rect">
            <a:avLst/>
          </a:prstGeom>
          <a:ln w="0">
            <a:noFill/>
          </a:ln>
        </p:spPr>
      </p:pic>
      <p:pic>
        <p:nvPicPr>
          <p:cNvPr id="465" name="" descr=""/>
          <p:cNvPicPr/>
          <p:nvPr/>
        </p:nvPicPr>
        <p:blipFill>
          <a:blip r:embed="rId2"/>
          <a:srcRect l="0" t="0" r="0" b="63366"/>
          <a:stretch/>
        </p:blipFill>
        <p:spPr>
          <a:xfrm>
            <a:off x="619560" y="4114800"/>
            <a:ext cx="8980560" cy="137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CustomShape 265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UNET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CustomShape 266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CustomShape 267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CustomShape 268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Box 45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CustomShape 269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Training UNET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Losses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Binary Cross-Entropy (BCE)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Minimize pixel-level differences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Treats each pixel independently, penalizing wrong foreground/background classification.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Sensitive to class imbalance (e.g., small objects vs. large background)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2" name="" descr=""/>
          <p:cNvPicPr/>
          <p:nvPr/>
        </p:nvPicPr>
        <p:blipFill>
          <a:blip r:embed="rId1"/>
          <a:stretch/>
        </p:blipFill>
        <p:spPr>
          <a:xfrm>
            <a:off x="6673680" y="505800"/>
            <a:ext cx="2926440" cy="1779120"/>
          </a:xfrm>
          <a:prstGeom prst="rect">
            <a:avLst/>
          </a:prstGeom>
          <a:ln w="0">
            <a:noFill/>
          </a:ln>
        </p:spPr>
      </p:pic>
      <p:pic>
        <p:nvPicPr>
          <p:cNvPr id="473" name="" descr=""/>
          <p:cNvPicPr/>
          <p:nvPr/>
        </p:nvPicPr>
        <p:blipFill>
          <a:blip r:embed="rId2"/>
          <a:srcRect l="0" t="0" r="0" b="63366"/>
          <a:stretch/>
        </p:blipFill>
        <p:spPr>
          <a:xfrm>
            <a:off x="4114800" y="2286000"/>
            <a:ext cx="5485320" cy="836640"/>
          </a:xfrm>
          <a:prstGeom prst="rect">
            <a:avLst/>
          </a:prstGeom>
          <a:ln w="0">
            <a:noFill/>
          </a:ln>
        </p:spPr>
      </p:pic>
      <p:pic>
        <p:nvPicPr>
          <p:cNvPr id="474" name="" descr=""/>
          <p:cNvPicPr/>
          <p:nvPr/>
        </p:nvPicPr>
        <p:blipFill>
          <a:blip r:embed="rId3"/>
          <a:stretch/>
        </p:blipFill>
        <p:spPr>
          <a:xfrm>
            <a:off x="1600200" y="4343760"/>
            <a:ext cx="7654680" cy="228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CustomShape 271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UNET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CustomShape 272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CustomShape 274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Box 46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CustomShape 275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Training UNET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Losses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Calibri"/>
                <a:ea typeface="DejaVu Sans"/>
              </a:rPr>
              <a:t>Dice Score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Maximize the overlap between predicted and ground truth masks.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Emphasizes correct segmentation of regions, not individual pixels.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Robust when foreground regions are small (Class Imbalance)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0" name="" descr=""/>
          <p:cNvPicPr/>
          <p:nvPr/>
        </p:nvPicPr>
        <p:blipFill>
          <a:blip r:embed="rId1"/>
          <a:stretch/>
        </p:blipFill>
        <p:spPr>
          <a:xfrm>
            <a:off x="6673680" y="505800"/>
            <a:ext cx="2926440" cy="1779120"/>
          </a:xfrm>
          <a:prstGeom prst="rect">
            <a:avLst/>
          </a:prstGeom>
          <a:ln w="0">
            <a:noFill/>
          </a:ln>
        </p:spPr>
      </p:pic>
      <p:pic>
        <p:nvPicPr>
          <p:cNvPr id="481" name="" descr=""/>
          <p:cNvPicPr/>
          <p:nvPr/>
        </p:nvPicPr>
        <p:blipFill>
          <a:blip r:embed="rId2"/>
          <a:srcRect l="0" t="0" r="0" b="63366"/>
          <a:stretch/>
        </p:blipFill>
        <p:spPr>
          <a:xfrm>
            <a:off x="4114800" y="2286000"/>
            <a:ext cx="5485320" cy="836640"/>
          </a:xfrm>
          <a:prstGeom prst="rect">
            <a:avLst/>
          </a:prstGeom>
          <a:ln w="0">
            <a:noFill/>
          </a:ln>
        </p:spPr>
      </p:pic>
      <p:pic>
        <p:nvPicPr>
          <p:cNvPr id="482" name="" descr=""/>
          <p:cNvPicPr/>
          <p:nvPr/>
        </p:nvPicPr>
        <p:blipFill>
          <a:blip r:embed="rId3"/>
          <a:stretch/>
        </p:blipFill>
        <p:spPr>
          <a:xfrm>
            <a:off x="3148200" y="4821480"/>
            <a:ext cx="3986280" cy="1370880"/>
          </a:xfrm>
          <a:prstGeom prst="rect">
            <a:avLst/>
          </a:prstGeom>
          <a:ln w="0">
            <a:noFill/>
          </a:ln>
        </p:spPr>
      </p:pic>
      <p:sp>
        <p:nvSpPr>
          <p:cNvPr id="483" name="CustomShape 218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CustomShape 277"/>
          <p:cNvSpPr/>
          <p:nvPr/>
        </p:nvSpPr>
        <p:spPr>
          <a:xfrm>
            <a:off x="360000" y="360000"/>
            <a:ext cx="935136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UNET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CustomShape 278"/>
          <p:cNvSpPr/>
          <p:nvPr/>
        </p:nvSpPr>
        <p:spPr>
          <a:xfrm>
            <a:off x="897120" y="6886080"/>
            <a:ext cx="643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CustomShape 280"/>
          <p:cNvSpPr/>
          <p:nvPr/>
        </p:nvSpPr>
        <p:spPr>
          <a:xfrm>
            <a:off x="360000" y="18277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600"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Box 47"/>
          <p:cNvSpPr/>
          <p:nvPr/>
        </p:nvSpPr>
        <p:spPr>
          <a:xfrm>
            <a:off x="360000" y="1647720"/>
            <a:ext cx="8313480" cy="45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8680" bIns="45000" anchor="t">
            <a:noAutofit/>
          </a:bodyPr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192240"/>
                <a:tab algn="l" pos="649440"/>
                <a:tab algn="l" pos="1106640"/>
                <a:tab algn="l" pos="1563840"/>
                <a:tab algn="l" pos="2021040"/>
                <a:tab algn="l" pos="2478240"/>
                <a:tab algn="l" pos="2935440"/>
                <a:tab algn="l" pos="3392640"/>
                <a:tab algn="l" pos="3849840"/>
                <a:tab algn="l" pos="4307040"/>
                <a:tab algn="l" pos="4764240"/>
                <a:tab algn="l" pos="5221440"/>
                <a:tab algn="l" pos="5678640"/>
                <a:tab algn="l" pos="6135840"/>
                <a:tab algn="l" pos="6593040"/>
                <a:tab algn="l" pos="7050240"/>
                <a:tab algn="l" pos="7507440"/>
                <a:tab algn="l" pos="7964640"/>
                <a:tab algn="l" pos="8421840"/>
                <a:tab algn="l" pos="8879040"/>
                <a:tab algn="l" pos="9336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CustomShape 281"/>
          <p:cNvSpPr/>
          <p:nvPr/>
        </p:nvSpPr>
        <p:spPr>
          <a:xfrm>
            <a:off x="360000" y="1829520"/>
            <a:ext cx="9171360" cy="46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c1c1c"/>
                </a:solidFill>
                <a:latin typeface="Calibri"/>
                <a:ea typeface="DejaVu Sans"/>
              </a:rPr>
              <a:t>Let’s Code!!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9" name="" descr=""/>
          <p:cNvPicPr/>
          <p:nvPr/>
        </p:nvPicPr>
        <p:blipFill>
          <a:blip r:embed="rId1"/>
          <a:stretch/>
        </p:blipFill>
        <p:spPr>
          <a:xfrm>
            <a:off x="3200400" y="2286000"/>
            <a:ext cx="4054320" cy="2464920"/>
          </a:xfrm>
          <a:prstGeom prst="rect">
            <a:avLst/>
          </a:prstGeom>
          <a:ln w="0">
            <a:noFill/>
          </a:ln>
        </p:spPr>
      </p:pic>
      <p:pic>
        <p:nvPicPr>
          <p:cNvPr id="490" name="" descr=""/>
          <p:cNvPicPr/>
          <p:nvPr/>
        </p:nvPicPr>
        <p:blipFill>
          <a:blip r:embed="rId2"/>
          <a:srcRect l="0" t="0" r="0" b="63366"/>
          <a:stretch/>
        </p:blipFill>
        <p:spPr>
          <a:xfrm>
            <a:off x="2743200" y="5257800"/>
            <a:ext cx="5485320" cy="836640"/>
          </a:xfrm>
          <a:prstGeom prst="rect">
            <a:avLst/>
          </a:prstGeom>
          <a:ln w="0">
            <a:noFill/>
          </a:ln>
        </p:spPr>
      </p:pic>
      <p:sp>
        <p:nvSpPr>
          <p:cNvPr id="491" name="CustomShape 217"/>
          <p:cNvSpPr/>
          <p:nvPr/>
        </p:nvSpPr>
        <p:spPr>
          <a:xfrm>
            <a:off x="7608600" y="6886080"/>
            <a:ext cx="22766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Lecture 08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6844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2021-04-28T18:38:02Z</dcterms:created>
  <dc:creator/>
  <dc:description/>
  <dc:language>en-US</dc:language>
  <cp:lastModifiedBy/>
  <cp:lastPrinted>2025-10-14T18:23:19Z</cp:lastPrinted>
  <dcterms:modified xsi:type="dcterms:W3CDTF">2026-10-23T18:30:05Z</dcterms:modified>
  <cp:revision>180</cp:revision>
  <dc:subject/>
  <dc:title>Alizarin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0</vt:bool>
  </property>
  <property fmtid="{D5CDD505-2E9C-101B-9397-08002B2CF9AE}" pid="4" name="KSOProductBuildVer">
    <vt:lpwstr>1033-11.1.0.10161</vt:lpwstr>
  </property>
  <property fmtid="{D5CDD505-2E9C-101B-9397-08002B2CF9AE}" pid="5" name="LinksUpToDate">
    <vt:bool>0</vt:bool>
  </property>
  <property fmtid="{D5CDD505-2E9C-101B-9397-08002B2CF9AE}" pid="6" name="MMClips">
    <vt:r8>0</vt:r8>
  </property>
  <property fmtid="{D5CDD505-2E9C-101B-9397-08002B2CF9AE}" pid="7" name="Notes">
    <vt:r8>14</vt:r8>
  </property>
  <property fmtid="{D5CDD505-2E9C-101B-9397-08002B2CF9AE}" pid="8" name="PresentationFormat">
    <vt:lpwstr>Personalizar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r8>14</vt:r8>
  </property>
</Properties>
</file>