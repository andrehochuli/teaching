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27.xml" ContentType="application/vnd.openxmlformats-officedocument.theme+xml"/>
  <Override PartName="/ppt/theme/theme15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4.gif" ContentType="image/gif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28.png" ContentType="image/png"/>
  <Override PartName="/ppt/media/image16.jpeg" ContentType="image/jpe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8.png" ContentType="image/png"/>
  <Override PartName="/ppt/media/image17.png" ContentType="image/png"/>
  <Override PartName="/ppt/media/image12.png" ContentType="image/png"/>
  <Override PartName="/ppt/media/image3.png" ContentType="image/png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</p:sldMasterIdLst>
  <p:notesMasterIdLst>
    <p:notesMasterId r:id="rId28"/>
  </p:notesMasterIdLst>
  <p:sldIdLst>
    <p:sldId id="256" r:id="rId29"/>
    <p:sldId id="257" r:id="rId30"/>
    <p:sldId id="258" r:id="rId31"/>
    <p:sldId id="259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272" r:id="rId45"/>
    <p:sldId id="273" r:id="rId46"/>
    <p:sldId id="274" r:id="rId47"/>
    <p:sldId id="275" r:id="rId48"/>
    <p:sldId id="276" r:id="rId49"/>
    <p:sldId id="277" r:id="rId50"/>
    <p:sldId id="278" r:id="rId51"/>
    <p:sldId id="279" r:id="rId52"/>
    <p:sldId id="280" r:id="rId53"/>
    <p:sldId id="281" r:id="rId54"/>
    <p:sldId id="282" r:id="rId55"/>
    <p:sldId id="283" r:id="rId56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.xml"/><Relationship Id="rId30" Type="http://schemas.openxmlformats.org/officeDocument/2006/relationships/slide" Target="slides/slide2.xml"/><Relationship Id="rId31" Type="http://schemas.openxmlformats.org/officeDocument/2006/relationships/slide" Target="slides/slide3.xml"/><Relationship Id="rId32" Type="http://schemas.openxmlformats.org/officeDocument/2006/relationships/slide" Target="slides/slide4.xml"/><Relationship Id="rId33" Type="http://schemas.openxmlformats.org/officeDocument/2006/relationships/slide" Target="slides/slide5.xml"/><Relationship Id="rId34" Type="http://schemas.openxmlformats.org/officeDocument/2006/relationships/slide" Target="slides/slide6.xml"/><Relationship Id="rId35" Type="http://schemas.openxmlformats.org/officeDocument/2006/relationships/slide" Target="slides/slide7.xml"/><Relationship Id="rId36" Type="http://schemas.openxmlformats.org/officeDocument/2006/relationships/slide" Target="slides/slide8.xml"/><Relationship Id="rId37" Type="http://schemas.openxmlformats.org/officeDocument/2006/relationships/slide" Target="slides/slide9.xml"/><Relationship Id="rId38" Type="http://schemas.openxmlformats.org/officeDocument/2006/relationships/slide" Target="slides/slide10.xml"/><Relationship Id="rId39" Type="http://schemas.openxmlformats.org/officeDocument/2006/relationships/slide" Target="slides/slide11.xml"/><Relationship Id="rId40" Type="http://schemas.openxmlformats.org/officeDocument/2006/relationships/slide" Target="slides/slide12.xml"/><Relationship Id="rId41" Type="http://schemas.openxmlformats.org/officeDocument/2006/relationships/slide" Target="slides/slide13.xml"/><Relationship Id="rId42" Type="http://schemas.openxmlformats.org/officeDocument/2006/relationships/slide" Target="slides/slide14.xml"/><Relationship Id="rId43" Type="http://schemas.openxmlformats.org/officeDocument/2006/relationships/slide" Target="slides/slide15.xml"/><Relationship Id="rId44" Type="http://schemas.openxmlformats.org/officeDocument/2006/relationships/slide" Target="slides/slide16.xml"/><Relationship Id="rId45" Type="http://schemas.openxmlformats.org/officeDocument/2006/relationships/slide" Target="slides/slide17.xml"/><Relationship Id="rId46" Type="http://schemas.openxmlformats.org/officeDocument/2006/relationships/slide" Target="slides/slide18.xml"/><Relationship Id="rId47" Type="http://schemas.openxmlformats.org/officeDocument/2006/relationships/slide" Target="slides/slide19.xml"/><Relationship Id="rId48" Type="http://schemas.openxmlformats.org/officeDocument/2006/relationships/slide" Target="slides/slide20.xml"/><Relationship Id="rId49" Type="http://schemas.openxmlformats.org/officeDocument/2006/relationships/slide" Target="slides/slide21.xml"/><Relationship Id="rId50" Type="http://schemas.openxmlformats.org/officeDocument/2006/relationships/slide" Target="slides/slide22.xml"/><Relationship Id="rId51" Type="http://schemas.openxmlformats.org/officeDocument/2006/relationships/slide" Target="slides/slide23.xml"/><Relationship Id="rId52" Type="http://schemas.openxmlformats.org/officeDocument/2006/relationships/slide" Target="slides/slide24.xml"/><Relationship Id="rId53" Type="http://schemas.openxmlformats.org/officeDocument/2006/relationships/slide" Target="slides/slide25.xml"/><Relationship Id="rId54" Type="http://schemas.openxmlformats.org/officeDocument/2006/relationships/slide" Target="slides/slide26.xml"/><Relationship Id="rId55" Type="http://schemas.openxmlformats.org/officeDocument/2006/relationships/slide" Target="slides/slide27.xml"/><Relationship Id="rId56" Type="http://schemas.openxmlformats.org/officeDocument/2006/relationships/slide" Target="slides/slide28.xml"/><Relationship Id="rId5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7AB366A-F842-446D-8303-97EB35F87DD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CustomShape 3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CustomShape 3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CustomShape 24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CustomShape 3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CustomShape 3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CustomShape 5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CustomShape 27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CustomShape 19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CustomShape 12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CustomShape 3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CustomShape 40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CustomShape 3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CustomShape 3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CustomShape 3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CustomShape 3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CustomShape 3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CustomShape 35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CustomShape 3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CustomShape 43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CustomShape 48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CustomShape 62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CustomShape 30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CustomShape 56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CustomShape 67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CustomShape 63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600" cy="36007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CustomShape 72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CustomShape 77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13880" cy="12538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0" y="3150000"/>
            <a:ext cx="9713880" cy="12538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stomShape 1"/>
          <p:cNvSpPr/>
          <p:nvPr/>
        </p:nvSpPr>
        <p:spPr>
          <a:xfrm>
            <a:off x="0" y="3150000"/>
            <a:ext cx="9713880" cy="12538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stomShape 1"/>
          <p:cNvSpPr/>
          <p:nvPr/>
        </p:nvSpPr>
        <p:spPr>
          <a:xfrm>
            <a:off x="0" y="3150000"/>
            <a:ext cx="9713880" cy="12538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stomShape 1"/>
          <p:cNvSpPr/>
          <p:nvPr/>
        </p:nvSpPr>
        <p:spPr>
          <a:xfrm>
            <a:off x="0" y="3150000"/>
            <a:ext cx="9713880" cy="12538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stomShape 1"/>
          <p:cNvSpPr/>
          <p:nvPr/>
        </p:nvSpPr>
        <p:spPr>
          <a:xfrm>
            <a:off x="0" y="3150000"/>
            <a:ext cx="9713880" cy="12538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stomShape 1"/>
          <p:cNvSpPr/>
          <p:nvPr/>
        </p:nvSpPr>
        <p:spPr>
          <a:xfrm>
            <a:off x="0" y="3150000"/>
            <a:ext cx="9713880" cy="12538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0" y="3150000"/>
            <a:ext cx="9713880" cy="12538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3150000"/>
            <a:ext cx="9713880" cy="12538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0" y="3150000"/>
            <a:ext cx="9713880" cy="12538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0" y="3150000"/>
            <a:ext cx="9713880" cy="12538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0" y="3150000"/>
            <a:ext cx="9713880" cy="12538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0" y="180000"/>
            <a:ext cx="9713880" cy="125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7560000" y="6840000"/>
            <a:ext cx="2513880" cy="53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" name="CustomShape 3"/>
          <p:cNvSpPr/>
          <p:nvPr/>
        </p:nvSpPr>
        <p:spPr>
          <a:xfrm>
            <a:off x="900000" y="6840000"/>
            <a:ext cx="6473880" cy="5338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CustomShape 4"/>
          <p:cNvSpPr/>
          <p:nvPr/>
        </p:nvSpPr>
        <p:spPr>
          <a:xfrm>
            <a:off x="180000" y="6840000"/>
            <a:ext cx="533880" cy="5338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0" y="180000"/>
            <a:ext cx="9713880" cy="125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7560000" y="6840000"/>
            <a:ext cx="2513880" cy="53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900000" y="6840000"/>
            <a:ext cx="6473880" cy="5338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" name="CustomShape 4"/>
          <p:cNvSpPr/>
          <p:nvPr/>
        </p:nvSpPr>
        <p:spPr>
          <a:xfrm>
            <a:off x="180000" y="6840000"/>
            <a:ext cx="533880" cy="5338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0" y="180000"/>
            <a:ext cx="9713880" cy="125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7560000" y="6840000"/>
            <a:ext cx="2513880" cy="53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" name="CustomShape 3"/>
          <p:cNvSpPr/>
          <p:nvPr/>
        </p:nvSpPr>
        <p:spPr>
          <a:xfrm>
            <a:off x="900000" y="6840000"/>
            <a:ext cx="6473880" cy="5338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CustomShape 4"/>
          <p:cNvSpPr/>
          <p:nvPr/>
        </p:nvSpPr>
        <p:spPr>
          <a:xfrm>
            <a:off x="180000" y="6840000"/>
            <a:ext cx="533880" cy="5338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0" y="180000"/>
            <a:ext cx="9713880" cy="125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7560000" y="6840000"/>
            <a:ext cx="2513880" cy="53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" name="CustomShape 3"/>
          <p:cNvSpPr/>
          <p:nvPr/>
        </p:nvSpPr>
        <p:spPr>
          <a:xfrm>
            <a:off x="900000" y="6840000"/>
            <a:ext cx="6473880" cy="5338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" name="CustomShape 4"/>
          <p:cNvSpPr/>
          <p:nvPr/>
        </p:nvSpPr>
        <p:spPr>
          <a:xfrm>
            <a:off x="180000" y="6840000"/>
            <a:ext cx="533880" cy="5338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0" y="180000"/>
            <a:ext cx="9713880" cy="125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7560000" y="6840000"/>
            <a:ext cx="2513880" cy="53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" name="CustomShape 3"/>
          <p:cNvSpPr/>
          <p:nvPr/>
        </p:nvSpPr>
        <p:spPr>
          <a:xfrm>
            <a:off x="900000" y="6840000"/>
            <a:ext cx="6473880" cy="5338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" name="CustomShape 4"/>
          <p:cNvSpPr/>
          <p:nvPr/>
        </p:nvSpPr>
        <p:spPr>
          <a:xfrm>
            <a:off x="180000" y="6840000"/>
            <a:ext cx="533880" cy="5338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0" y="180000"/>
            <a:ext cx="9713880" cy="125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7560000" y="6840000"/>
            <a:ext cx="2513880" cy="53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4" name="CustomShape 3"/>
          <p:cNvSpPr/>
          <p:nvPr/>
        </p:nvSpPr>
        <p:spPr>
          <a:xfrm>
            <a:off x="900000" y="6840000"/>
            <a:ext cx="6473880" cy="5338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" name="CustomShape 4"/>
          <p:cNvSpPr/>
          <p:nvPr/>
        </p:nvSpPr>
        <p:spPr>
          <a:xfrm>
            <a:off x="180000" y="6840000"/>
            <a:ext cx="533880" cy="5338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0" y="180000"/>
            <a:ext cx="9713880" cy="125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560000" y="6840000"/>
            <a:ext cx="2513880" cy="53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2" name="CustomShape 3"/>
          <p:cNvSpPr/>
          <p:nvPr/>
        </p:nvSpPr>
        <p:spPr>
          <a:xfrm>
            <a:off x="900000" y="6840000"/>
            <a:ext cx="6473880" cy="5338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3" name="CustomShape 4"/>
          <p:cNvSpPr/>
          <p:nvPr/>
        </p:nvSpPr>
        <p:spPr>
          <a:xfrm>
            <a:off x="180000" y="6840000"/>
            <a:ext cx="533880" cy="5338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0" y="180000"/>
            <a:ext cx="9713880" cy="125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7560000" y="6840000"/>
            <a:ext cx="2513880" cy="53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2" name="CustomShape 3"/>
          <p:cNvSpPr/>
          <p:nvPr/>
        </p:nvSpPr>
        <p:spPr>
          <a:xfrm>
            <a:off x="900000" y="6840000"/>
            <a:ext cx="6473880" cy="5338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" name="CustomShape 4"/>
          <p:cNvSpPr/>
          <p:nvPr/>
        </p:nvSpPr>
        <p:spPr>
          <a:xfrm>
            <a:off x="180000" y="6840000"/>
            <a:ext cx="533880" cy="5338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0" y="180000"/>
            <a:ext cx="9713880" cy="125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7560000" y="6840000"/>
            <a:ext cx="2513880" cy="53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900000" y="6840000"/>
            <a:ext cx="6473880" cy="5338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CustomShape 4"/>
          <p:cNvSpPr/>
          <p:nvPr/>
        </p:nvSpPr>
        <p:spPr>
          <a:xfrm>
            <a:off x="180000" y="6840000"/>
            <a:ext cx="533880" cy="5338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0" y="180000"/>
            <a:ext cx="9713880" cy="125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7560000" y="6840000"/>
            <a:ext cx="2513880" cy="53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2" name="CustomShape 3"/>
          <p:cNvSpPr/>
          <p:nvPr/>
        </p:nvSpPr>
        <p:spPr>
          <a:xfrm>
            <a:off x="900000" y="6840000"/>
            <a:ext cx="6473880" cy="5338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" name="CustomShape 4"/>
          <p:cNvSpPr/>
          <p:nvPr/>
        </p:nvSpPr>
        <p:spPr>
          <a:xfrm>
            <a:off x="180000" y="6840000"/>
            <a:ext cx="533880" cy="5338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0" y="180000"/>
            <a:ext cx="9713880" cy="125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7560000" y="6840000"/>
            <a:ext cx="2513880" cy="53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" name="CustomShape 3"/>
          <p:cNvSpPr/>
          <p:nvPr/>
        </p:nvSpPr>
        <p:spPr>
          <a:xfrm>
            <a:off x="900000" y="6840000"/>
            <a:ext cx="6473880" cy="5338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180000" y="6840000"/>
            <a:ext cx="533880" cy="5338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180000"/>
            <a:ext cx="9713880" cy="125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7560000" y="6840000"/>
            <a:ext cx="2513880" cy="53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900000" y="6840000"/>
            <a:ext cx="6473880" cy="5338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180000" y="6840000"/>
            <a:ext cx="533880" cy="5338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0" y="3150000"/>
            <a:ext cx="9713880" cy="12538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CustomShape 1"/>
          <p:cNvSpPr/>
          <p:nvPr/>
        </p:nvSpPr>
        <p:spPr>
          <a:xfrm>
            <a:off x="0" y="3150000"/>
            <a:ext cx="9713880" cy="12538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gustavo.hochuli@pucpr.br" TargetMode="External"/><Relationship Id="rId2" Type="http://schemas.openxmlformats.org/officeDocument/2006/relationships/hyperlink" Target="mailto:aghochuli@ppgia.pucpr.br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github.com/andrehochuli/teaching/blob/main/ComputerVision/Lecture%2002%20-%20Image%20Filtering/Lecture_02_Image_Filtering.ipynb" TargetMode="Externa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3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hyperlink" Target="https://github.com/andrehochuli/teaching/blob/main/ComputerVision/Lecture%2002%20-%20Image%20Filtering/Lecture_02_Image_Filtering.ipynb" TargetMode="Externa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360000" y="333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Lecture 02 - Image Filtering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540000" y="4680000"/>
            <a:ext cx="9173880" cy="25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Prof. André Gustavo Hochuli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gustavo.hochuli@pucpr.br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aghochuli@ppgia.pucpr.br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2"/>
          <p:cNvSpPr/>
          <p:nvPr/>
        </p:nvSpPr>
        <p:spPr>
          <a:xfrm>
            <a:off x="2520360" y="3596040"/>
            <a:ext cx="503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  <a:ea typeface="DejaVu San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Topics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CustomShape 2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ustomShape 3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CustomShape 4"/>
          <p:cNvSpPr/>
          <p:nvPr/>
        </p:nvSpPr>
        <p:spPr>
          <a:xfrm>
            <a:off x="360000" y="198000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Discussion of Practice 01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Image Filtering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Convolution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Smothing, Shapening and Edge Filters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Practice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Picture 4" descr=""/>
          <p:cNvPicPr/>
          <p:nvPr/>
        </p:nvPicPr>
        <p:blipFill>
          <a:blip r:embed="rId1"/>
          <a:stretch/>
        </p:blipFill>
        <p:spPr>
          <a:xfrm>
            <a:off x="2331720" y="3751560"/>
            <a:ext cx="6620760" cy="3070080"/>
          </a:xfrm>
          <a:prstGeom prst="rect">
            <a:avLst/>
          </a:prstGeom>
          <a:ln w="0">
            <a:noFill/>
          </a:ln>
        </p:spPr>
      </p:pic>
      <p:sp>
        <p:nvSpPr>
          <p:cNvPr id="196" name="Oval 5"/>
          <p:cNvSpPr/>
          <p:nvPr/>
        </p:nvSpPr>
        <p:spPr>
          <a:xfrm>
            <a:off x="2426760" y="6436080"/>
            <a:ext cx="303480" cy="268200"/>
          </a:xfrm>
          <a:prstGeom prst="ellipse">
            <a:avLst/>
          </a:prstGeom>
          <a:solidFill>
            <a:srgbClr val="00b050"/>
          </a:solidFill>
          <a:ln>
            <a:solidFill>
              <a:srgbClr val="22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97" name="Oval 6"/>
          <p:cNvSpPr/>
          <p:nvPr/>
        </p:nvSpPr>
        <p:spPr>
          <a:xfrm>
            <a:off x="2861640" y="6451560"/>
            <a:ext cx="303480" cy="268200"/>
          </a:xfrm>
          <a:prstGeom prst="ellipse">
            <a:avLst/>
          </a:prstGeom>
          <a:solidFill>
            <a:srgbClr val="00b050"/>
          </a:solidFill>
          <a:ln>
            <a:solidFill>
              <a:srgbClr val="22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ustomShape 20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Filtering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CustomShape 21"/>
          <p:cNvSpPr/>
          <p:nvPr/>
        </p:nvSpPr>
        <p:spPr>
          <a:xfrm>
            <a:off x="540000" y="198000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8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Image Enhacement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8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Noise Reduction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8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Smothing, Sharpening and Edge Filter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8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Convolutional-Based Operations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CustomShape 22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CustomShape 23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Picture 1" descr=""/>
          <p:cNvPicPr/>
          <p:nvPr/>
        </p:nvPicPr>
        <p:blipFill>
          <a:blip r:embed="rId1"/>
          <a:stretch/>
        </p:blipFill>
        <p:spPr>
          <a:xfrm>
            <a:off x="1918080" y="4019760"/>
            <a:ext cx="6760080" cy="261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Convolution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CustomShape 2"/>
          <p:cNvSpPr/>
          <p:nvPr/>
        </p:nvSpPr>
        <p:spPr>
          <a:xfrm>
            <a:off x="540000" y="198000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8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Slides a kernel (a.k.a convolution filter) in the entire image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8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Transforming the pixel in the center of the kernel by the weights of its neighbors</a:t>
            </a:r>
            <a:r>
              <a:rPr b="0" lang="en-US" sz="1600" spc="-1" strike="noStrike">
                <a:solidFill>
                  <a:srgbClr val="d5d5d5"/>
                </a:solidFill>
                <a:latin typeface="Roboto"/>
                <a:ea typeface="DejaVu Sans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CustomShape 2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CustomShape 3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Picture 2" descr=""/>
          <p:cNvPicPr/>
          <p:nvPr/>
        </p:nvPicPr>
        <p:blipFill>
          <a:blip r:embed="rId1"/>
          <a:stretch/>
        </p:blipFill>
        <p:spPr>
          <a:xfrm>
            <a:off x="2134440" y="1828080"/>
            <a:ext cx="5805360" cy="581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Convolution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CustomShape 2"/>
          <p:cNvSpPr/>
          <p:nvPr/>
        </p:nvSpPr>
        <p:spPr>
          <a:xfrm>
            <a:off x="540000" y="198000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0" name="CustomShape 2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CustomShape 3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Picture 2" descr="A group of squares with numbers&#10;&#10;AI-generated content may be incorrect."/>
          <p:cNvPicPr/>
          <p:nvPr/>
        </p:nvPicPr>
        <p:blipFill>
          <a:blip r:embed="rId1"/>
          <a:stretch/>
        </p:blipFill>
        <p:spPr>
          <a:xfrm>
            <a:off x="1151640" y="2131560"/>
            <a:ext cx="7770960" cy="437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7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4" name="CustomShape 8"/>
          <p:cNvSpPr/>
          <p:nvPr/>
        </p:nvSpPr>
        <p:spPr>
          <a:xfrm>
            <a:off x="540000" y="176400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492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Spatial frequency: rate of intensity variation across space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Low Frequency →  Slow Intensity Variations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Smooth or homogeneous regions :  [100, 102, 98, 103, 99]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High Frequency →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Rapid Intensity Variations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Edges, fine details, textures, and often noise: [100, 145, 73, 132, 88]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CustomShape 9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CustomShape 10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" descr=""/>
          <p:cNvPicPr/>
          <p:nvPr/>
        </p:nvPicPr>
        <p:blipFill>
          <a:blip r:embed="rId1"/>
          <a:stretch/>
        </p:blipFill>
        <p:spPr>
          <a:xfrm>
            <a:off x="1553040" y="4993200"/>
            <a:ext cx="7092000" cy="1709280"/>
          </a:xfrm>
          <a:prstGeom prst="rect">
            <a:avLst/>
          </a:prstGeom>
          <a:ln w="0">
            <a:noFill/>
          </a:ln>
        </p:spPr>
      </p:pic>
      <p:sp>
        <p:nvSpPr>
          <p:cNvPr id="218" name=""/>
          <p:cNvSpPr/>
          <p:nvPr/>
        </p:nvSpPr>
        <p:spPr>
          <a:xfrm>
            <a:off x="228600" y="610920"/>
            <a:ext cx="3796200" cy="6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Spatial Frequency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stomShape 16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Spatial Frequency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CustomShape 25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CustomShape 26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1"/>
          <a:stretch/>
        </p:blipFill>
        <p:spPr>
          <a:xfrm>
            <a:off x="687600" y="1454760"/>
            <a:ext cx="8912520" cy="543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CustomShape 15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Low- and High-Pass Filters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CustomShape 17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CustomShape 18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1"/>
          <a:stretch/>
        </p:blipFill>
        <p:spPr>
          <a:xfrm>
            <a:off x="1371600" y="1600200"/>
            <a:ext cx="7771320" cy="518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ustomShape 6"/>
          <p:cNvSpPr/>
          <p:nvPr/>
        </p:nvSpPr>
        <p:spPr>
          <a:xfrm>
            <a:off x="360000" y="333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Smothing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CustomShape 11"/>
          <p:cNvSpPr/>
          <p:nvPr/>
        </p:nvSpPr>
        <p:spPr>
          <a:xfrm>
            <a:off x="540000" y="4680000"/>
            <a:ext cx="9173880" cy="25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3"/>
          <p:cNvSpPr/>
          <p:nvPr/>
        </p:nvSpPr>
        <p:spPr>
          <a:xfrm>
            <a:off x="2520360" y="3596040"/>
            <a:ext cx="503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  <a:ea typeface="DejaVu San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Smothing Filters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CustomShape 2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ustomShape 3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" descr=""/>
          <p:cNvPicPr/>
          <p:nvPr/>
        </p:nvPicPr>
        <p:blipFill>
          <a:blip r:embed="rId1"/>
          <a:stretch/>
        </p:blipFill>
        <p:spPr>
          <a:xfrm>
            <a:off x="540000" y="4572000"/>
            <a:ext cx="9085320" cy="2027520"/>
          </a:xfrm>
          <a:prstGeom prst="rect">
            <a:avLst/>
          </a:prstGeom>
          <a:ln w="0">
            <a:noFill/>
          </a:ln>
        </p:spPr>
      </p:pic>
      <p:sp>
        <p:nvSpPr>
          <p:cNvPr id="234" name="CustomShape 41"/>
          <p:cNvSpPr/>
          <p:nvPr/>
        </p:nvSpPr>
        <p:spPr>
          <a:xfrm>
            <a:off x="540000" y="176400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492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Goal: Reduce rapid intensity variations and attenuate image noise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Main Effect: Produce smoother images by suppressing high-frequency components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" descr=""/>
          <p:cNvPicPr/>
          <p:nvPr/>
        </p:nvPicPr>
        <p:blipFill>
          <a:blip r:embed="rId2"/>
          <a:stretch/>
        </p:blipFill>
        <p:spPr>
          <a:xfrm>
            <a:off x="5867640" y="3048480"/>
            <a:ext cx="3503880" cy="1065240"/>
          </a:xfrm>
          <a:prstGeom prst="rect">
            <a:avLst/>
          </a:prstGeom>
          <a:ln w="0">
            <a:noFill/>
          </a:ln>
        </p:spPr>
      </p:pic>
      <p:pic>
        <p:nvPicPr>
          <p:cNvPr id="236" name="" descr=""/>
          <p:cNvPicPr/>
          <p:nvPr/>
        </p:nvPicPr>
        <p:blipFill>
          <a:blip r:embed="rId3"/>
          <a:stretch/>
        </p:blipFill>
        <p:spPr>
          <a:xfrm>
            <a:off x="695520" y="3200400"/>
            <a:ext cx="4561200" cy="49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36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Mean Filter (Low-Pass)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CustomShape 37"/>
          <p:cNvSpPr/>
          <p:nvPr/>
        </p:nvSpPr>
        <p:spPr>
          <a:xfrm>
            <a:off x="540000" y="158148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57200" indent="-45720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Replaces the center pixel with the mean of its neighborhood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Spreads (Average) the outlier value to its neighbors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Details are smoothed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CustomShape 38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CustomShape 39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1" name="Picture 6" descr="Heterogeneous Compute Case Study: Image Convolution Filtering - Edge AI and  Vision Alliance"/>
          <p:cNvPicPr/>
          <p:nvPr/>
        </p:nvPicPr>
        <p:blipFill>
          <a:blip r:embed="rId1"/>
          <a:srcRect l="-1178" t="-263" r="11414" b="65855"/>
          <a:stretch/>
        </p:blipFill>
        <p:spPr>
          <a:xfrm>
            <a:off x="1371600" y="2514600"/>
            <a:ext cx="7008840" cy="2059920"/>
          </a:xfrm>
          <a:prstGeom prst="rect">
            <a:avLst/>
          </a:prstGeom>
          <a:ln w="0">
            <a:noFill/>
          </a:ln>
        </p:spPr>
      </p:pic>
      <p:pic>
        <p:nvPicPr>
          <p:cNvPr id="242" name="" descr=""/>
          <p:cNvPicPr/>
          <p:nvPr/>
        </p:nvPicPr>
        <p:blipFill>
          <a:blip r:embed="rId2"/>
          <a:stretch/>
        </p:blipFill>
        <p:spPr>
          <a:xfrm>
            <a:off x="864720" y="4797360"/>
            <a:ext cx="8278200" cy="178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stomShape 1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Mean Filter (Low-Pass)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CustomShape 2"/>
          <p:cNvSpPr/>
          <p:nvPr/>
        </p:nvSpPr>
        <p:spPr>
          <a:xfrm>
            <a:off x="540000" y="158148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57200" indent="-45720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Replaces the center pixel with the mean of its neighborhood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Spreads (Average) the outlier value to its neighbors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Details are smoothed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CustomShape 2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CustomShape 3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7" name="Imagem 2" descr=""/>
          <p:cNvPicPr/>
          <p:nvPr/>
        </p:nvPicPr>
        <p:blipFill>
          <a:blip r:embed="rId1"/>
          <a:stretch/>
        </p:blipFill>
        <p:spPr>
          <a:xfrm>
            <a:off x="1737000" y="3283920"/>
            <a:ext cx="6780240" cy="336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Median Filter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540000" y="154620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57200" indent="-45720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Replaces the center pixel with by a median of its neighborhood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Preserves more details when compared to the mean filter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CustomShape 2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CustomShape 3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2" name="Imagem 3" descr=""/>
          <p:cNvPicPr/>
          <p:nvPr/>
        </p:nvPicPr>
        <p:blipFill>
          <a:blip r:embed="rId1"/>
          <a:stretch/>
        </p:blipFill>
        <p:spPr>
          <a:xfrm>
            <a:off x="544680" y="3686400"/>
            <a:ext cx="6799320" cy="3198240"/>
          </a:xfrm>
          <a:prstGeom prst="rect">
            <a:avLst/>
          </a:prstGeom>
          <a:ln w="0">
            <a:noFill/>
          </a:ln>
        </p:spPr>
      </p:pic>
      <p:pic>
        <p:nvPicPr>
          <p:cNvPr id="253" name="Picture 2" descr="Example of Median Filtering using a 3×3 sampling window, keeping border...  | Download Scientific Diagram"/>
          <p:cNvPicPr/>
          <p:nvPr/>
        </p:nvPicPr>
        <p:blipFill>
          <a:blip r:embed="rId2"/>
          <a:stretch/>
        </p:blipFill>
        <p:spPr>
          <a:xfrm>
            <a:off x="6041160" y="2057400"/>
            <a:ext cx="3787560" cy="221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Gaussian Filter (Low-Pass)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CustomShape 2"/>
          <p:cNvSpPr/>
          <p:nvPr/>
        </p:nvSpPr>
        <p:spPr>
          <a:xfrm>
            <a:off x="540000" y="162828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Gaussian distribution of pixels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The kernel is composed of probabilities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Weighted Mean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The standard deviation determines the blur degree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CustomShape 3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8" name="Picture 5" descr="image processing - Why Gauss filter chooses such values? - Stack Overflow"/>
          <p:cNvPicPr/>
          <p:nvPr/>
        </p:nvPicPr>
        <p:blipFill>
          <a:blip r:embed="rId1"/>
          <a:stretch/>
        </p:blipFill>
        <p:spPr>
          <a:xfrm>
            <a:off x="2572560" y="4194360"/>
            <a:ext cx="5637240" cy="2005200"/>
          </a:xfrm>
          <a:prstGeom prst="rect">
            <a:avLst/>
          </a:prstGeom>
          <a:ln w="0">
            <a:noFill/>
          </a:ln>
        </p:spPr>
      </p:pic>
      <p:pic>
        <p:nvPicPr>
          <p:cNvPr id="259" name="Picture 7" descr="Gaussian filter - Wikipedia"/>
          <p:cNvPicPr/>
          <p:nvPr/>
        </p:nvPicPr>
        <p:blipFill>
          <a:blip r:embed="rId2"/>
          <a:stretch/>
        </p:blipFill>
        <p:spPr>
          <a:xfrm>
            <a:off x="5673600" y="821520"/>
            <a:ext cx="4040280" cy="268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Gaussian Filter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CustomShape 2"/>
          <p:cNvSpPr/>
          <p:nvPr/>
        </p:nvSpPr>
        <p:spPr>
          <a:xfrm>
            <a:off x="540000" y="162828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Gaussian distribution of pixels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The kernel is composed of probabilities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Weighted Mean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The standard deviation determines the blur degree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CustomShape 2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CustomShape 3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4" name="Imagem 2" descr=""/>
          <p:cNvPicPr/>
          <p:nvPr/>
        </p:nvPicPr>
        <p:blipFill>
          <a:blip r:embed="rId1"/>
          <a:stretch/>
        </p:blipFill>
        <p:spPr>
          <a:xfrm>
            <a:off x="2342520" y="3513960"/>
            <a:ext cx="6808680" cy="325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CustomShape 1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Bilateral Filter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CustomShape 2"/>
          <p:cNvSpPr/>
          <p:nvPr/>
        </p:nvSpPr>
        <p:spPr>
          <a:xfrm>
            <a:off x="540000" y="153468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Gaussian Distribution based (spacial and pixel intensity)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Add Normalization Factors and Range Weight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Preserve details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CustomShape 3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9" name="Picture 2" descr="Python | Bilateral Filtering - GeeksforGeeks"/>
          <p:cNvPicPr/>
          <p:nvPr/>
        </p:nvPicPr>
        <p:blipFill>
          <a:blip r:embed="rId1"/>
          <a:stretch/>
        </p:blipFill>
        <p:spPr>
          <a:xfrm>
            <a:off x="1668600" y="3115800"/>
            <a:ext cx="6916680" cy="309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Bilateral Filter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CustomShape 2"/>
          <p:cNvSpPr/>
          <p:nvPr/>
        </p:nvSpPr>
        <p:spPr>
          <a:xfrm>
            <a:off x="540000" y="153468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Gaussian Distribution based (spacial and pixel intensity)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Add Normalization Factors and Range Weight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Preserve details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CustomShape 2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CustomShape 3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4" name="Imagem 2" descr=""/>
          <p:cNvPicPr/>
          <p:nvPr/>
        </p:nvPicPr>
        <p:blipFill>
          <a:blip r:embed="rId1"/>
          <a:stretch/>
        </p:blipFill>
        <p:spPr>
          <a:xfrm>
            <a:off x="1604160" y="2891160"/>
            <a:ext cx="6865920" cy="365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1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Comparison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CustomShape 33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CustomShape 34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8" name="" descr=""/>
          <p:cNvPicPr/>
          <p:nvPr/>
        </p:nvPicPr>
        <p:blipFill>
          <a:blip r:embed="rId1"/>
          <a:stretch/>
        </p:blipFill>
        <p:spPr>
          <a:xfrm>
            <a:off x="1107000" y="1477800"/>
            <a:ext cx="5773320" cy="5342760"/>
          </a:xfrm>
          <a:prstGeom prst="rect">
            <a:avLst/>
          </a:prstGeom>
          <a:ln w="0">
            <a:noFill/>
          </a:ln>
        </p:spPr>
      </p:pic>
      <p:pic>
        <p:nvPicPr>
          <p:cNvPr id="279" name="" descr=""/>
          <p:cNvPicPr/>
          <p:nvPr/>
        </p:nvPicPr>
        <p:blipFill>
          <a:blip r:embed="rId2"/>
          <a:srcRect l="0" t="1902" r="0" b="0"/>
          <a:stretch/>
        </p:blipFill>
        <p:spPr>
          <a:xfrm>
            <a:off x="6966000" y="1578960"/>
            <a:ext cx="1592640" cy="519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CustomShape 1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Practice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CustomShape 2"/>
          <p:cNvSpPr/>
          <p:nvPr/>
        </p:nvSpPr>
        <p:spPr>
          <a:xfrm>
            <a:off x="540000" y="198000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 u="sng" baseline="-25000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Link: Practice 02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CustomShape 2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CustomShape 3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CustomShape 32"/>
          <p:cNvSpPr/>
          <p:nvPr/>
        </p:nvSpPr>
        <p:spPr>
          <a:xfrm>
            <a:off x="360000" y="333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Sharpening and Edge Filters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CustomShape 42"/>
          <p:cNvSpPr/>
          <p:nvPr/>
        </p:nvSpPr>
        <p:spPr>
          <a:xfrm>
            <a:off x="540000" y="4680000"/>
            <a:ext cx="9173880" cy="25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4"/>
          <p:cNvSpPr/>
          <p:nvPr/>
        </p:nvSpPr>
        <p:spPr>
          <a:xfrm>
            <a:off x="2520360" y="3596040"/>
            <a:ext cx="503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  <a:ea typeface="DejaVu San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ustomShape 44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8" name="CustomShape 45"/>
          <p:cNvSpPr/>
          <p:nvPr/>
        </p:nvSpPr>
        <p:spPr>
          <a:xfrm>
            <a:off x="540000" y="162828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Smoothing suppresses high-frequency information; sharpening and edge filters emphasize it.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High Frequencies are associated with: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Edges and object boundaries, Fine details, Textures, Noise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CustomShape 46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CustomShape 47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79920" y="685800"/>
            <a:ext cx="586296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Sharpening and Edge Filters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2" name="" descr=""/>
          <p:cNvPicPr/>
          <p:nvPr/>
        </p:nvPicPr>
        <p:blipFill>
          <a:blip r:embed="rId1"/>
          <a:stretch/>
        </p:blipFill>
        <p:spPr>
          <a:xfrm>
            <a:off x="457560" y="4343760"/>
            <a:ext cx="9165240" cy="190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CustomShape 58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4" name="CustomShape 59"/>
          <p:cNvSpPr/>
          <p:nvPr/>
        </p:nvSpPr>
        <p:spPr>
          <a:xfrm>
            <a:off x="540000" y="162828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Smoothing suppresses high-frequency information; sharpening and edge filters emphasize it.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High Frequencies are associated with: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1c1c"/>
              </a:buClr>
              <a:buFont typeface="Arial"/>
              <a:buChar char="•"/>
            </a:pPr>
            <a:r>
              <a:rPr b="1" lang="en-US" sz="24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Edges and object boundaries, Fine details, Textures, Noise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CustomShape 60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CustomShape 61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79920" y="685800"/>
            <a:ext cx="586296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Sharpening and Edge Filters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8" name="" descr=""/>
          <p:cNvPicPr/>
          <p:nvPr/>
        </p:nvPicPr>
        <p:blipFill>
          <a:blip r:embed="rId1"/>
          <a:stretch/>
        </p:blipFill>
        <p:spPr>
          <a:xfrm>
            <a:off x="457560" y="4343760"/>
            <a:ext cx="9165240" cy="190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CustomShape 13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0" name="CustomShape 28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CustomShape 29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79920" y="685800"/>
            <a:ext cx="586296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Sharpening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3" name="" descr=""/>
          <p:cNvPicPr/>
          <p:nvPr/>
        </p:nvPicPr>
        <p:blipFill>
          <a:blip r:embed="rId1"/>
          <a:srcRect l="0" t="0" r="67321" b="0"/>
          <a:stretch/>
        </p:blipFill>
        <p:spPr>
          <a:xfrm>
            <a:off x="6836400" y="1752840"/>
            <a:ext cx="2992680" cy="1904040"/>
          </a:xfrm>
          <a:prstGeom prst="rect">
            <a:avLst/>
          </a:prstGeom>
          <a:ln w="0">
            <a:noFill/>
          </a:ln>
        </p:spPr>
      </p:pic>
      <p:pic>
        <p:nvPicPr>
          <p:cNvPr id="304" name="" descr=""/>
          <p:cNvPicPr/>
          <p:nvPr/>
        </p:nvPicPr>
        <p:blipFill>
          <a:blip r:embed="rId2"/>
          <a:srcRect l="67321" t="0" r="237" b="0"/>
          <a:stretch/>
        </p:blipFill>
        <p:spPr>
          <a:xfrm>
            <a:off x="6858360" y="4267440"/>
            <a:ext cx="2970720" cy="1904040"/>
          </a:xfrm>
          <a:prstGeom prst="rect">
            <a:avLst/>
          </a:prstGeom>
          <a:ln w="0">
            <a:noFill/>
          </a:ln>
        </p:spPr>
      </p:pic>
      <p:pic>
        <p:nvPicPr>
          <p:cNvPr id="305" name="" descr=""/>
          <p:cNvPicPr/>
          <p:nvPr/>
        </p:nvPicPr>
        <p:blipFill>
          <a:blip r:embed="rId3"/>
          <a:stretch/>
        </p:blipFill>
        <p:spPr>
          <a:xfrm>
            <a:off x="829440" y="2057400"/>
            <a:ext cx="5113440" cy="379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CustomShape 14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7" name="CustomShape 54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CustomShape 55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79920" y="685800"/>
            <a:ext cx="586296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Sharpening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0" name="" descr=""/>
          <p:cNvPicPr/>
          <p:nvPr/>
        </p:nvPicPr>
        <p:blipFill>
          <a:blip r:embed="rId1"/>
          <a:srcRect l="0" t="0" r="67321" b="0"/>
          <a:stretch/>
        </p:blipFill>
        <p:spPr>
          <a:xfrm>
            <a:off x="2264400" y="4872600"/>
            <a:ext cx="2992680" cy="1904040"/>
          </a:xfrm>
          <a:prstGeom prst="rect">
            <a:avLst/>
          </a:prstGeom>
          <a:ln w="0">
            <a:noFill/>
          </a:ln>
        </p:spPr>
      </p:pic>
      <p:pic>
        <p:nvPicPr>
          <p:cNvPr id="311" name="" descr=""/>
          <p:cNvPicPr/>
          <p:nvPr/>
        </p:nvPicPr>
        <p:blipFill>
          <a:blip r:embed="rId2"/>
          <a:srcRect l="67321" t="0" r="237" b="0"/>
          <a:stretch/>
        </p:blipFill>
        <p:spPr>
          <a:xfrm>
            <a:off x="5486760" y="4872600"/>
            <a:ext cx="2970720" cy="1904040"/>
          </a:xfrm>
          <a:prstGeom prst="rect">
            <a:avLst/>
          </a:prstGeom>
          <a:ln w="0">
            <a:noFill/>
          </a:ln>
        </p:spPr>
      </p:pic>
      <p:sp>
        <p:nvSpPr>
          <p:cNvPr id="312" name="CustomShape 57"/>
          <p:cNvSpPr/>
          <p:nvPr/>
        </p:nvSpPr>
        <p:spPr>
          <a:xfrm>
            <a:off x="540000" y="1399680"/>
            <a:ext cx="9173880" cy="20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1c1c"/>
              </a:buClr>
              <a:buFont typeface="Arial"/>
              <a:buChar char="•"/>
            </a:pPr>
            <a:r>
              <a:rPr b="1" lang="en-US" sz="28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Unsharp Mask (blur + sharp)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3" name="" descr=""/>
          <p:cNvPicPr/>
          <p:nvPr/>
        </p:nvPicPr>
        <p:blipFill>
          <a:blip r:embed="rId3"/>
          <a:srcRect l="0" t="0" r="0" b="40051"/>
          <a:stretch/>
        </p:blipFill>
        <p:spPr>
          <a:xfrm>
            <a:off x="300600" y="1828800"/>
            <a:ext cx="4417560" cy="2970720"/>
          </a:xfrm>
          <a:prstGeom prst="rect">
            <a:avLst/>
          </a:prstGeom>
          <a:ln w="0">
            <a:noFill/>
          </a:ln>
        </p:spPr>
      </p:pic>
      <p:pic>
        <p:nvPicPr>
          <p:cNvPr id="314" name="" descr=""/>
          <p:cNvPicPr/>
          <p:nvPr/>
        </p:nvPicPr>
        <p:blipFill>
          <a:blip r:embed="rId4"/>
          <a:srcRect l="0" t="59910" r="0" b="-1446"/>
          <a:stretch/>
        </p:blipFill>
        <p:spPr>
          <a:xfrm>
            <a:off x="5029200" y="1854000"/>
            <a:ext cx="4417560" cy="2056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CustomShape 50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6" name="CustomShape 51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CustomShape 52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79920" y="685800"/>
            <a:ext cx="586296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Sharpening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9" name="" descr=""/>
          <p:cNvPicPr/>
          <p:nvPr/>
        </p:nvPicPr>
        <p:blipFill>
          <a:blip r:embed="rId1"/>
          <a:srcRect l="0" t="0" r="67321" b="0"/>
          <a:stretch/>
        </p:blipFill>
        <p:spPr>
          <a:xfrm>
            <a:off x="2264400" y="4872600"/>
            <a:ext cx="2992680" cy="1904040"/>
          </a:xfrm>
          <a:prstGeom prst="rect">
            <a:avLst/>
          </a:prstGeom>
          <a:ln w="0">
            <a:noFill/>
          </a:ln>
        </p:spPr>
      </p:pic>
      <p:pic>
        <p:nvPicPr>
          <p:cNvPr id="320" name="" descr=""/>
          <p:cNvPicPr/>
          <p:nvPr/>
        </p:nvPicPr>
        <p:blipFill>
          <a:blip r:embed="rId2"/>
          <a:srcRect l="67321" t="0" r="237" b="0"/>
          <a:stretch/>
        </p:blipFill>
        <p:spPr>
          <a:xfrm>
            <a:off x="5486760" y="4872600"/>
            <a:ext cx="2970720" cy="1904040"/>
          </a:xfrm>
          <a:prstGeom prst="rect">
            <a:avLst/>
          </a:prstGeom>
          <a:ln w="0">
            <a:noFill/>
          </a:ln>
        </p:spPr>
      </p:pic>
      <p:sp>
        <p:nvSpPr>
          <p:cNvPr id="321" name="CustomShape 66"/>
          <p:cNvSpPr/>
          <p:nvPr/>
        </p:nvSpPr>
        <p:spPr>
          <a:xfrm>
            <a:off x="540000" y="1399680"/>
            <a:ext cx="9173880" cy="20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1c1c"/>
              </a:buClr>
              <a:buFont typeface="Arial"/>
              <a:buChar char="•"/>
            </a:pPr>
            <a:r>
              <a:rPr b="1" lang="en-US" sz="28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Unsharp Mask (blur + sharp)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2" name="" descr=""/>
          <p:cNvPicPr/>
          <p:nvPr/>
        </p:nvPicPr>
        <p:blipFill>
          <a:blip r:embed="rId3"/>
          <a:stretch/>
        </p:blipFill>
        <p:spPr>
          <a:xfrm>
            <a:off x="2591280" y="2286360"/>
            <a:ext cx="5409000" cy="182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ustomShape 49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4" name="CustomShape 53"/>
          <p:cNvSpPr/>
          <p:nvPr/>
        </p:nvSpPr>
        <p:spPr>
          <a:xfrm>
            <a:off x="540000" y="1628280"/>
            <a:ext cx="9173880" cy="20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1c1c"/>
              </a:buClr>
              <a:buFont typeface="Arial"/>
              <a:buChar char="•"/>
            </a:pPr>
            <a:r>
              <a:rPr b="1" lang="en-US" sz="32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Identifies locations of significant intensity changes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1c1c"/>
              </a:buClr>
              <a:buFont typeface="Arial"/>
              <a:buChar char="•"/>
            </a:pPr>
            <a:r>
              <a:rPr b="1" lang="en-US" sz="3200" spc="-1" strike="noStrike" baseline="-25000">
                <a:solidFill>
                  <a:srgbClr val="1c1c1c"/>
                </a:solidFill>
                <a:latin typeface="Latin Modern Sans"/>
                <a:ea typeface="DejaVu Sans"/>
              </a:rPr>
              <a:t>Produces a representation emphasizing object boundaries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CustomShape 64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CustomShape 65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79920" y="685800"/>
            <a:ext cx="586296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Edge Detection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8" name="" descr=""/>
          <p:cNvPicPr/>
          <p:nvPr/>
        </p:nvPicPr>
        <p:blipFill>
          <a:blip r:embed="rId1"/>
          <a:stretch/>
        </p:blipFill>
        <p:spPr>
          <a:xfrm>
            <a:off x="457200" y="4062600"/>
            <a:ext cx="8914680" cy="142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ustomShape 68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0" name="CustomShape 69"/>
          <p:cNvSpPr/>
          <p:nvPr/>
        </p:nvSpPr>
        <p:spPr>
          <a:xfrm>
            <a:off x="540000" y="1628280"/>
            <a:ext cx="9173880" cy="20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CustomShape 70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CustomShape 71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79920" y="685800"/>
            <a:ext cx="586296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Edge Detection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" descr=""/>
          <p:cNvPicPr/>
          <p:nvPr/>
        </p:nvPicPr>
        <p:blipFill>
          <a:blip r:embed="rId1"/>
          <a:stretch/>
        </p:blipFill>
        <p:spPr>
          <a:xfrm>
            <a:off x="685800" y="4800600"/>
            <a:ext cx="8914680" cy="1423080"/>
          </a:xfrm>
          <a:prstGeom prst="rect">
            <a:avLst/>
          </a:prstGeom>
          <a:ln w="0">
            <a:noFill/>
          </a:ln>
        </p:spPr>
      </p:pic>
      <p:pic>
        <p:nvPicPr>
          <p:cNvPr id="335" name="" descr=""/>
          <p:cNvPicPr/>
          <p:nvPr/>
        </p:nvPicPr>
        <p:blipFill>
          <a:blip r:embed="rId2"/>
          <a:stretch/>
        </p:blipFill>
        <p:spPr>
          <a:xfrm>
            <a:off x="435240" y="1938960"/>
            <a:ext cx="8936640" cy="217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CustomShape 73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Practice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CustomShape 74"/>
          <p:cNvSpPr/>
          <p:nvPr/>
        </p:nvSpPr>
        <p:spPr>
          <a:xfrm>
            <a:off x="540000" y="1980000"/>
            <a:ext cx="9173880" cy="46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 u="sng" baseline="-25000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Link: Practice 02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CustomShape 75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CustomShape 76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1123</TotalTime>
  <Application>LibreOffice/24.2.7.2$Linux_X86_64 LibreOffice_project/420$Build-2</Application>
  <AppVersion>15.0000</AppVersion>
  <Words>393</Words>
  <Paragraphs>92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2021-04-28T18:38:02Z</dcterms:created>
  <dc:creator/>
  <dc:description/>
  <dc:language>en-US</dc:language>
  <cp:lastModifiedBy/>
  <dcterms:modified xsi:type="dcterms:W3CDTF">2026-08-11T18:20:35Z</dcterms:modified>
  <cp:revision>125</cp:revision>
  <dc:subject/>
  <dc:title>Alizarin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KSOProductBuildVer">
    <vt:lpwstr>1033-11.1.0.10161</vt:lpwstr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13</vt:i4>
  </property>
  <property fmtid="{D5CDD505-2E9C-101B-9397-08002B2CF9AE}" pid="8" name="PresentationFormat">
    <vt:lpwstr>Custom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13</vt:i4>
  </property>
</Properties>
</file>