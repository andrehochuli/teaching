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27.xml" ContentType="application/vnd.openxmlformats-officedocument.theme+xml"/>
  <Override PartName="/ppt/theme/theme15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4.gif" ContentType="image/gif"/>
  <Override PartName="/ppt/media/image10.png" ContentType="image/png"/>
  <Override PartName="/ppt/media/image1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28.png" ContentType="image/png"/>
  <Override PartName="/ppt/media/image16.jpeg" ContentType="image/jpe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.png" ContentType="image/png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</p:sldMasterIdLst>
  <p:notesMasterIdLst>
    <p:notesMasterId r:id="rId28"/>
  </p:notesMasterIdLst>
  <p:sldIdLst>
    <p:sldId id="256" r:id="rId29"/>
    <p:sldId id="257" r:id="rId30"/>
    <p:sldId id="258" r:id="rId31"/>
    <p:sldId id="259" r:id="rId32"/>
    <p:sldId id="260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  <p:sldId id="281" r:id="rId54"/>
    <p:sldId id="282" r:id="rId55"/>
    <p:sldId id="283" r:id="rId56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6BB87A6-98CD-4E70-9EC2-99ED4039508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ustomShape 24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CustomShape 5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CustomShape 27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CustomShape 19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ustomShape 12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CustomShape 40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ustomShape 35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CustomShape 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4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CustomShape 48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CustomShape 62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CustomShape 30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CustomShape 56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CustomShape 67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CustomShape 63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0960" cy="360108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CustomShape 72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44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1880" cy="420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CustomShape 77"/>
          <p:cNvSpPr/>
          <p:nvPr/>
        </p:nvSpPr>
        <p:spPr>
          <a:xfrm>
            <a:off x="0" y="10155240"/>
            <a:ext cx="3270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8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14240" cy="125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14240" cy="5342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74240" cy="5342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34240" cy="5342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0" y="3150000"/>
            <a:ext cx="9714240" cy="12542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ComputerVision/Lecture%2002%20-%20Image%20Filtering/Lecture_02_Image_Filtering.ipynb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ComputerVision/Lecture%2002%20-%20Image%20Filtering/Lecture_02_Image_Filtering.ipynb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360000" y="333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Lecture 02 - Image Filtering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540000" y="4680000"/>
            <a:ext cx="917424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"/>
          <p:cNvSpPr/>
          <p:nvPr/>
        </p:nvSpPr>
        <p:spPr>
          <a:xfrm>
            <a:off x="2520360" y="3596040"/>
            <a:ext cx="5040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CustomShape 4"/>
          <p:cNvSpPr/>
          <p:nvPr/>
        </p:nvSpPr>
        <p:spPr>
          <a:xfrm>
            <a:off x="36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Discussion of Practice 01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Image Filtering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Convolution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Smothing, Shapening and Edge Filters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Practice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Picture 4" descr=""/>
          <p:cNvPicPr/>
          <p:nvPr/>
        </p:nvPicPr>
        <p:blipFill>
          <a:blip r:embed="rId1"/>
          <a:stretch/>
        </p:blipFill>
        <p:spPr>
          <a:xfrm>
            <a:off x="2331720" y="3751560"/>
            <a:ext cx="6621120" cy="3070440"/>
          </a:xfrm>
          <a:prstGeom prst="rect">
            <a:avLst/>
          </a:prstGeom>
          <a:ln w="0">
            <a:noFill/>
          </a:ln>
        </p:spPr>
      </p:pic>
      <p:sp>
        <p:nvSpPr>
          <p:cNvPr id="196" name="Oval 5"/>
          <p:cNvSpPr/>
          <p:nvPr/>
        </p:nvSpPr>
        <p:spPr>
          <a:xfrm>
            <a:off x="2426760" y="6436080"/>
            <a:ext cx="303840" cy="26856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7" name="Oval 6"/>
          <p:cNvSpPr/>
          <p:nvPr/>
        </p:nvSpPr>
        <p:spPr>
          <a:xfrm>
            <a:off x="2861640" y="6451560"/>
            <a:ext cx="303840" cy="26856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CustomShape 20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Filtering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21"/>
          <p:cNvSpPr/>
          <p:nvPr/>
        </p:nvSpPr>
        <p:spPr>
          <a:xfrm>
            <a:off x="54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Image Enhacement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Noise Reduction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Smothing, Sharpening and Edge Filter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Convolutional-Based Operations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2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Picture 1" descr=""/>
          <p:cNvPicPr/>
          <p:nvPr/>
        </p:nvPicPr>
        <p:blipFill>
          <a:blip r:embed="rId1"/>
          <a:stretch/>
        </p:blipFill>
        <p:spPr>
          <a:xfrm>
            <a:off x="1918080" y="4019760"/>
            <a:ext cx="6760440" cy="261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Convolution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54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Slides a kernel (a.k.a convolution filter) in the entire image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Transforming the pixel in the center of the kernel by the weights of its neighbors</a:t>
            </a:r>
            <a:r>
              <a:rPr b="0" lang="en-US" sz="1600" spc="-1" strike="noStrike">
                <a:solidFill>
                  <a:srgbClr val="d5d5d5"/>
                </a:solidFill>
                <a:latin typeface="Roboto"/>
                <a:ea typeface="DejaVu Sans"/>
              </a:rPr>
              <a:t>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Picture 2" descr=""/>
          <p:cNvPicPr/>
          <p:nvPr/>
        </p:nvPicPr>
        <p:blipFill>
          <a:blip r:embed="rId1"/>
          <a:stretch/>
        </p:blipFill>
        <p:spPr>
          <a:xfrm>
            <a:off x="2134440" y="1828080"/>
            <a:ext cx="5805720" cy="581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Convolution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54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2" descr="A group of squares with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1151640" y="2131560"/>
            <a:ext cx="7771320" cy="437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CustomShape 7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CustomShape 8"/>
          <p:cNvSpPr/>
          <p:nvPr/>
        </p:nvSpPr>
        <p:spPr>
          <a:xfrm>
            <a:off x="540000" y="1764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Spatial frequency: rate of intensity variation across space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Low Frequency →  Slow Intensity Variations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Smooth or homogeneous regions :  [100, 102, 98, 103, 99]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Small changes between neighboring pixels → low frequency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High Frequency: Rapid Intensity Variations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Edges, fine details, textures, and often noise: [100, 145, 73, 132, 88]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CustomShape 9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10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1553040" y="4993200"/>
            <a:ext cx="7092360" cy="170964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/>
          <p:nvPr/>
        </p:nvSpPr>
        <p:spPr>
          <a:xfrm>
            <a:off x="228600" y="610920"/>
            <a:ext cx="3796560" cy="64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Spatial Frequency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stomShape 16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Spatial Frequency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CustomShape 25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CustomShape 26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687600" y="1454760"/>
            <a:ext cx="8912880" cy="5430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CustomShape 15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Low- and High-Pass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CustomShape 17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CustomShape 18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371600" y="1600200"/>
            <a:ext cx="7771680" cy="518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CustomShape 6"/>
          <p:cNvSpPr/>
          <p:nvPr/>
        </p:nvSpPr>
        <p:spPr>
          <a:xfrm>
            <a:off x="360000" y="333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Smothing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CustomShape 11"/>
          <p:cNvSpPr/>
          <p:nvPr/>
        </p:nvSpPr>
        <p:spPr>
          <a:xfrm>
            <a:off x="540000" y="4680000"/>
            <a:ext cx="917424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3"/>
          <p:cNvSpPr/>
          <p:nvPr/>
        </p:nvSpPr>
        <p:spPr>
          <a:xfrm>
            <a:off x="2520360" y="3596040"/>
            <a:ext cx="5040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Smothing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540000" y="4572000"/>
            <a:ext cx="9085680" cy="2027880"/>
          </a:xfrm>
          <a:prstGeom prst="rect">
            <a:avLst/>
          </a:prstGeom>
          <a:ln w="0">
            <a:noFill/>
          </a:ln>
        </p:spPr>
      </p:pic>
      <p:sp>
        <p:nvSpPr>
          <p:cNvPr id="234" name="CustomShape 41"/>
          <p:cNvSpPr/>
          <p:nvPr/>
        </p:nvSpPr>
        <p:spPr>
          <a:xfrm>
            <a:off x="540000" y="1764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Goal: Reduce rapid intensity variations and attenuate image noise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Main Effect: Produce smoother images by suppressing high-frequency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2"/>
          <a:stretch/>
        </p:blipFill>
        <p:spPr>
          <a:xfrm>
            <a:off x="5867640" y="3048480"/>
            <a:ext cx="3504240" cy="1065600"/>
          </a:xfrm>
          <a:prstGeom prst="rect">
            <a:avLst/>
          </a:prstGeom>
          <a:ln w="0">
            <a:noFill/>
          </a:ln>
        </p:spPr>
      </p:pic>
      <p:pic>
        <p:nvPicPr>
          <p:cNvPr id="236" name="" descr=""/>
          <p:cNvPicPr/>
          <p:nvPr/>
        </p:nvPicPr>
        <p:blipFill>
          <a:blip r:embed="rId3"/>
          <a:stretch/>
        </p:blipFill>
        <p:spPr>
          <a:xfrm>
            <a:off x="695520" y="3200400"/>
            <a:ext cx="4561560" cy="494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CustomShape 36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CustomShape 37"/>
          <p:cNvSpPr/>
          <p:nvPr/>
        </p:nvSpPr>
        <p:spPr>
          <a:xfrm>
            <a:off x="540000" y="15814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the mean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Spreads (Average) the outlier value to its neighbors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Details are smoothed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38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39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Picture 6" descr="Heterogeneous Compute Case Study: Image Convolution Filtering - Edge AI and  Vision Alliance"/>
          <p:cNvPicPr/>
          <p:nvPr/>
        </p:nvPicPr>
        <p:blipFill>
          <a:blip r:embed="rId1"/>
          <a:srcRect l="-1178" t="-263" r="11414" b="65861"/>
          <a:stretch/>
        </p:blipFill>
        <p:spPr>
          <a:xfrm>
            <a:off x="1371600" y="2514600"/>
            <a:ext cx="7009200" cy="2060280"/>
          </a:xfrm>
          <a:prstGeom prst="rect">
            <a:avLst/>
          </a:prstGeom>
          <a:ln w="0">
            <a:noFill/>
          </a:ln>
        </p:spPr>
      </p:pic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864720" y="4797360"/>
            <a:ext cx="8278560" cy="178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540000" y="15814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the mean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Spreads (Average) the outlier value to its neighbors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Details are smoothed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Imagem 2" descr=""/>
          <p:cNvPicPr/>
          <p:nvPr/>
        </p:nvPicPr>
        <p:blipFill>
          <a:blip r:embed="rId1"/>
          <a:stretch/>
        </p:blipFill>
        <p:spPr>
          <a:xfrm>
            <a:off x="1737000" y="3283920"/>
            <a:ext cx="6780600" cy="337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Median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540000" y="15462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by a median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Preserves more details when compared to the mean filter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Imagem 3" descr=""/>
          <p:cNvPicPr/>
          <p:nvPr/>
        </p:nvPicPr>
        <p:blipFill>
          <a:blip r:embed="rId1"/>
          <a:stretch/>
        </p:blipFill>
        <p:spPr>
          <a:xfrm>
            <a:off x="544680" y="3686400"/>
            <a:ext cx="6799680" cy="3198600"/>
          </a:xfrm>
          <a:prstGeom prst="rect">
            <a:avLst/>
          </a:prstGeom>
          <a:ln w="0">
            <a:noFill/>
          </a:ln>
        </p:spPr>
      </p:pic>
      <p:pic>
        <p:nvPicPr>
          <p:cNvPr id="253" name="Picture 2" descr="Example of Median Filtering using a 3×3 sampling window, keeping border...  | Download Scientific Diagram"/>
          <p:cNvPicPr/>
          <p:nvPr/>
        </p:nvPicPr>
        <p:blipFill>
          <a:blip r:embed="rId2"/>
          <a:stretch/>
        </p:blipFill>
        <p:spPr>
          <a:xfrm>
            <a:off x="6041160" y="2057400"/>
            <a:ext cx="3787920" cy="2220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Gaussian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540000" y="16282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of pixels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kernel is composed of probabilities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Weighted Mean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standard deviation determines the blur degree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Picture 5" descr="image processing - Why Gauss filter chooses such values? - Stack Overflow"/>
          <p:cNvPicPr/>
          <p:nvPr/>
        </p:nvPicPr>
        <p:blipFill>
          <a:blip r:embed="rId1"/>
          <a:stretch/>
        </p:blipFill>
        <p:spPr>
          <a:xfrm>
            <a:off x="2572560" y="4194360"/>
            <a:ext cx="5637600" cy="200556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7" descr="Gaussian filter - Wikipedia"/>
          <p:cNvPicPr/>
          <p:nvPr/>
        </p:nvPicPr>
        <p:blipFill>
          <a:blip r:embed="rId2"/>
          <a:stretch/>
        </p:blipFill>
        <p:spPr>
          <a:xfrm>
            <a:off x="5673600" y="821520"/>
            <a:ext cx="4040640" cy="268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Gaussian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2"/>
          <p:cNvSpPr/>
          <p:nvPr/>
        </p:nvSpPr>
        <p:spPr>
          <a:xfrm>
            <a:off x="540000" y="16282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of pixels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kernel is composed of probabilities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Weighted Mean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standard deviation determines the blur degree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Imagem 2" descr=""/>
          <p:cNvPicPr/>
          <p:nvPr/>
        </p:nvPicPr>
        <p:blipFill>
          <a:blip r:embed="rId1"/>
          <a:stretch/>
        </p:blipFill>
        <p:spPr>
          <a:xfrm>
            <a:off x="2342520" y="3513960"/>
            <a:ext cx="6809040" cy="325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Bilateral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540000" y="15346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based (spacial and pixel intensity)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Add Normalization Factors and Range Weight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 details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Picture 2" descr="Python | Bilateral Filtering - GeeksforGeeks"/>
          <p:cNvPicPr/>
          <p:nvPr/>
        </p:nvPicPr>
        <p:blipFill>
          <a:blip r:embed="rId1"/>
          <a:stretch/>
        </p:blipFill>
        <p:spPr>
          <a:xfrm>
            <a:off x="1668600" y="3115800"/>
            <a:ext cx="6917040" cy="3093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Bilateral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40000" y="15346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based (spacial and pixel intensity)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Add Normalization Factors and Range Weight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 details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4" name="Imagem 2" descr=""/>
          <p:cNvPicPr/>
          <p:nvPr/>
        </p:nvPicPr>
        <p:blipFill>
          <a:blip r:embed="rId1"/>
          <a:stretch/>
        </p:blipFill>
        <p:spPr>
          <a:xfrm>
            <a:off x="1604160" y="2891160"/>
            <a:ext cx="6866280" cy="365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3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Comparison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33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CustomShape 34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1"/>
          <a:stretch/>
        </p:blipFill>
        <p:spPr>
          <a:xfrm>
            <a:off x="1107000" y="1477800"/>
            <a:ext cx="5773680" cy="5343120"/>
          </a:xfrm>
          <a:prstGeom prst="rect">
            <a:avLst/>
          </a:prstGeom>
          <a:ln w="0">
            <a:noFill/>
          </a:ln>
        </p:spPr>
      </p:pic>
      <p:pic>
        <p:nvPicPr>
          <p:cNvPr id="279" name="" descr=""/>
          <p:cNvPicPr/>
          <p:nvPr/>
        </p:nvPicPr>
        <p:blipFill>
          <a:blip r:embed="rId2"/>
          <a:srcRect l="0" t="1902" r="0" b="0"/>
          <a:stretch/>
        </p:blipFill>
        <p:spPr>
          <a:xfrm>
            <a:off x="6966000" y="1578960"/>
            <a:ext cx="1593000" cy="519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Practice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54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 u="sng" baseline="-25000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Link: Practice 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ustomShape 3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32"/>
          <p:cNvSpPr/>
          <p:nvPr/>
        </p:nvSpPr>
        <p:spPr>
          <a:xfrm>
            <a:off x="360000" y="333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42"/>
          <p:cNvSpPr/>
          <p:nvPr/>
        </p:nvSpPr>
        <p:spPr>
          <a:xfrm>
            <a:off x="540000" y="4680000"/>
            <a:ext cx="917424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"/>
          <p:cNvSpPr/>
          <p:nvPr/>
        </p:nvSpPr>
        <p:spPr>
          <a:xfrm>
            <a:off x="2520360" y="3596040"/>
            <a:ext cx="5040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CustomShape 44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CustomShape 45"/>
          <p:cNvSpPr/>
          <p:nvPr/>
        </p:nvSpPr>
        <p:spPr>
          <a:xfrm>
            <a:off x="540000" y="16282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Smoothing suppresses high-frequency information; sharpening and edge filters emphasize it.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High Frequencies are associated with: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Edges and object boundaries, Fine details, Textures, Noise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CustomShape 46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47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2" name="" descr=""/>
          <p:cNvPicPr/>
          <p:nvPr/>
        </p:nvPicPr>
        <p:blipFill>
          <a:blip r:embed="rId1"/>
          <a:stretch/>
        </p:blipFill>
        <p:spPr>
          <a:xfrm>
            <a:off x="457560" y="4343760"/>
            <a:ext cx="9165600" cy="190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58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CustomShape 59"/>
          <p:cNvSpPr/>
          <p:nvPr/>
        </p:nvSpPr>
        <p:spPr>
          <a:xfrm>
            <a:off x="540000" y="162828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Smoothing suppresses high-frequency information; sharpening and edge filters emphasize it.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High Frequencies are associated with: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Edges and object boundaries, Fine details, Textures, Noise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60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61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"/>
          <a:stretch/>
        </p:blipFill>
        <p:spPr>
          <a:xfrm>
            <a:off x="457560" y="4343760"/>
            <a:ext cx="9165600" cy="190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CustomShape 13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" name="CustomShape 28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CustomShape 29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rcRect l="0" t="0" r="67328" b="0"/>
          <a:stretch/>
        </p:blipFill>
        <p:spPr>
          <a:xfrm>
            <a:off x="6836400" y="1752840"/>
            <a:ext cx="2993040" cy="1904400"/>
          </a:xfrm>
          <a:prstGeom prst="rect">
            <a:avLst/>
          </a:prstGeom>
          <a:ln w="0">
            <a:noFill/>
          </a:ln>
        </p:spPr>
      </p:pic>
      <p:pic>
        <p:nvPicPr>
          <p:cNvPr id="304" name="" descr=""/>
          <p:cNvPicPr/>
          <p:nvPr/>
        </p:nvPicPr>
        <p:blipFill>
          <a:blip r:embed="rId2"/>
          <a:srcRect l="67328" t="0" r="237" b="0"/>
          <a:stretch/>
        </p:blipFill>
        <p:spPr>
          <a:xfrm>
            <a:off x="6858360" y="4267440"/>
            <a:ext cx="2971080" cy="1904400"/>
          </a:xfrm>
          <a:prstGeom prst="rect">
            <a:avLst/>
          </a:prstGeom>
          <a:ln w="0">
            <a:noFill/>
          </a:ln>
        </p:spPr>
      </p:pic>
      <p:pic>
        <p:nvPicPr>
          <p:cNvPr id="305" name="" descr=""/>
          <p:cNvPicPr/>
          <p:nvPr/>
        </p:nvPicPr>
        <p:blipFill>
          <a:blip r:embed="rId3"/>
          <a:stretch/>
        </p:blipFill>
        <p:spPr>
          <a:xfrm>
            <a:off x="829440" y="2057400"/>
            <a:ext cx="5113800" cy="379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4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" name="CustomShape 54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55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" name="" descr=""/>
          <p:cNvPicPr/>
          <p:nvPr/>
        </p:nvPicPr>
        <p:blipFill>
          <a:blip r:embed="rId1"/>
          <a:srcRect l="0" t="0" r="67328" b="0"/>
          <a:stretch/>
        </p:blipFill>
        <p:spPr>
          <a:xfrm>
            <a:off x="2264400" y="4872600"/>
            <a:ext cx="2993040" cy="1904400"/>
          </a:xfrm>
          <a:prstGeom prst="rect">
            <a:avLst/>
          </a:prstGeom>
          <a:ln w="0">
            <a:noFill/>
          </a:ln>
        </p:spPr>
      </p:pic>
      <p:pic>
        <p:nvPicPr>
          <p:cNvPr id="311" name="" descr=""/>
          <p:cNvPicPr/>
          <p:nvPr/>
        </p:nvPicPr>
        <p:blipFill>
          <a:blip r:embed="rId2"/>
          <a:srcRect l="67328" t="0" r="237" b="0"/>
          <a:stretch/>
        </p:blipFill>
        <p:spPr>
          <a:xfrm>
            <a:off x="5486760" y="4872600"/>
            <a:ext cx="2971080" cy="1904400"/>
          </a:xfrm>
          <a:prstGeom prst="rect">
            <a:avLst/>
          </a:prstGeom>
          <a:ln w="0">
            <a:noFill/>
          </a:ln>
        </p:spPr>
      </p:pic>
      <p:sp>
        <p:nvSpPr>
          <p:cNvPr id="312" name="CustomShape 57"/>
          <p:cNvSpPr/>
          <p:nvPr/>
        </p:nvSpPr>
        <p:spPr>
          <a:xfrm>
            <a:off x="540000" y="1399680"/>
            <a:ext cx="9174240" cy="20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Unsharp Mask (blur + sharp)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3"/>
          <a:srcRect l="0" t="0" r="0" b="40056"/>
          <a:stretch/>
        </p:blipFill>
        <p:spPr>
          <a:xfrm>
            <a:off x="300600" y="1828800"/>
            <a:ext cx="4417920" cy="2971080"/>
          </a:xfrm>
          <a:prstGeom prst="rect">
            <a:avLst/>
          </a:prstGeom>
          <a:ln w="0">
            <a:noFill/>
          </a:ln>
        </p:spPr>
      </p:pic>
      <p:pic>
        <p:nvPicPr>
          <p:cNvPr id="314" name="" descr=""/>
          <p:cNvPicPr/>
          <p:nvPr/>
        </p:nvPicPr>
        <p:blipFill>
          <a:blip r:embed="rId4"/>
          <a:srcRect l="0" t="59915" r="0" b="-1446"/>
          <a:stretch/>
        </p:blipFill>
        <p:spPr>
          <a:xfrm>
            <a:off x="5029200" y="1854000"/>
            <a:ext cx="4417920" cy="205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50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" name="CustomShape 51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52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1"/>
          <a:srcRect l="0" t="0" r="67328" b="0"/>
          <a:stretch/>
        </p:blipFill>
        <p:spPr>
          <a:xfrm>
            <a:off x="2264400" y="4872600"/>
            <a:ext cx="2993040" cy="1904400"/>
          </a:xfrm>
          <a:prstGeom prst="rect">
            <a:avLst/>
          </a:prstGeom>
          <a:ln w="0">
            <a:noFill/>
          </a:ln>
        </p:spPr>
      </p:pic>
      <p:pic>
        <p:nvPicPr>
          <p:cNvPr id="320" name="" descr=""/>
          <p:cNvPicPr/>
          <p:nvPr/>
        </p:nvPicPr>
        <p:blipFill>
          <a:blip r:embed="rId2"/>
          <a:srcRect l="67328" t="0" r="237" b="0"/>
          <a:stretch/>
        </p:blipFill>
        <p:spPr>
          <a:xfrm>
            <a:off x="5486760" y="4872600"/>
            <a:ext cx="2971080" cy="1904400"/>
          </a:xfrm>
          <a:prstGeom prst="rect">
            <a:avLst/>
          </a:prstGeom>
          <a:ln w="0">
            <a:noFill/>
          </a:ln>
        </p:spPr>
      </p:pic>
      <p:sp>
        <p:nvSpPr>
          <p:cNvPr id="321" name="CustomShape 66"/>
          <p:cNvSpPr/>
          <p:nvPr/>
        </p:nvSpPr>
        <p:spPr>
          <a:xfrm>
            <a:off x="540000" y="1399680"/>
            <a:ext cx="9174240" cy="20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Unsharp Mask (blur + sharp)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2" name="" descr=""/>
          <p:cNvPicPr/>
          <p:nvPr/>
        </p:nvPicPr>
        <p:blipFill>
          <a:blip r:embed="rId3"/>
          <a:stretch/>
        </p:blipFill>
        <p:spPr>
          <a:xfrm>
            <a:off x="2591280" y="2286360"/>
            <a:ext cx="5409360" cy="1828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49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CustomShape 53"/>
          <p:cNvSpPr/>
          <p:nvPr/>
        </p:nvSpPr>
        <p:spPr>
          <a:xfrm>
            <a:off x="540000" y="1628280"/>
            <a:ext cx="9174240" cy="20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32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Identifies locations of significant intensity changes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32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Produces a representation emphasizing object boundaries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CustomShape 64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CustomShape 65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Edge Detection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8" name="" descr=""/>
          <p:cNvPicPr/>
          <p:nvPr/>
        </p:nvPicPr>
        <p:blipFill>
          <a:blip r:embed="rId1"/>
          <a:stretch/>
        </p:blipFill>
        <p:spPr>
          <a:xfrm>
            <a:off x="457200" y="4062600"/>
            <a:ext cx="8915040" cy="1423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68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CustomShape 69"/>
          <p:cNvSpPr/>
          <p:nvPr/>
        </p:nvSpPr>
        <p:spPr>
          <a:xfrm>
            <a:off x="540000" y="1628280"/>
            <a:ext cx="9174240" cy="20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CustomShape 70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CustomShape 71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79920" y="685800"/>
            <a:ext cx="58633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Edge Detection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" descr=""/>
          <p:cNvPicPr/>
          <p:nvPr/>
        </p:nvPicPr>
        <p:blipFill>
          <a:blip r:embed="rId1"/>
          <a:stretch/>
        </p:blipFill>
        <p:spPr>
          <a:xfrm>
            <a:off x="685800" y="4800600"/>
            <a:ext cx="8915040" cy="1423440"/>
          </a:xfrm>
          <a:prstGeom prst="rect">
            <a:avLst/>
          </a:prstGeom>
          <a:ln w="0">
            <a:noFill/>
          </a:ln>
        </p:spPr>
      </p:pic>
      <p:pic>
        <p:nvPicPr>
          <p:cNvPr id="335" name="" descr=""/>
          <p:cNvPicPr/>
          <p:nvPr/>
        </p:nvPicPr>
        <p:blipFill>
          <a:blip r:embed="rId2"/>
          <a:stretch/>
        </p:blipFill>
        <p:spPr>
          <a:xfrm>
            <a:off x="435240" y="1938960"/>
            <a:ext cx="8937000" cy="2175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CustomShape 73"/>
          <p:cNvSpPr/>
          <p:nvPr/>
        </p:nvSpPr>
        <p:spPr>
          <a:xfrm>
            <a:off x="360000" y="360000"/>
            <a:ext cx="9354240" cy="8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Practice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CustomShape 74"/>
          <p:cNvSpPr/>
          <p:nvPr/>
        </p:nvSpPr>
        <p:spPr>
          <a:xfrm>
            <a:off x="540000" y="1980000"/>
            <a:ext cx="9174240" cy="46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 u="sng" baseline="-25000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Link: Practice 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75"/>
          <p:cNvSpPr/>
          <p:nvPr/>
        </p:nvSpPr>
        <p:spPr>
          <a:xfrm>
            <a:off x="897120" y="6886080"/>
            <a:ext cx="64414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CustomShape 76"/>
          <p:cNvSpPr/>
          <p:nvPr/>
        </p:nvSpPr>
        <p:spPr>
          <a:xfrm>
            <a:off x="7608600" y="6886080"/>
            <a:ext cx="2279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1121</TotalTime>
  <Application>LibreOffice/24.2.7.2$Linux_X86_64 LibreOffice_project/420$Build-2</Application>
  <AppVersion>15.0000</AppVersion>
  <Words>393</Words>
  <Paragraphs>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/>
  <dcterms:modified xsi:type="dcterms:W3CDTF">2026-08-11T18:16:51Z</dcterms:modified>
  <cp:revision>124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13</vt:i4>
  </property>
  <property fmtid="{D5CDD505-2E9C-101B-9397-08002B2CF9AE}" pid="8" name="PresentationFormat">
    <vt:lpwstr>Custom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13</vt:i4>
  </property>
</Properties>
</file>