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slideMaster14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26.xml" ContentType="application/vnd.openxmlformats-officedocument.theme+xml"/>
  <Override PartName="/ppt/theme/theme14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14.png" ContentType="image/png"/>
  <Override PartName="/ppt/media/image5.png" ContentType="image/png"/>
  <Override PartName="/ppt/media/image37.png" ContentType="image/png"/>
  <Override PartName="/ppt/media/image15.png" ContentType="image/png"/>
  <Override PartName="/ppt/media/image6.png" ContentType="image/png"/>
  <Override PartName="/ppt/media/image38.png" ContentType="image/png"/>
  <Override PartName="/ppt/media/image1.png" ContentType="image/png"/>
  <Override PartName="/ppt/media/image3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40.png" ContentType="image/png"/>
  <Override PartName="/ppt/media/image41.png" ContentType="image/png"/>
  <Override PartName="/ppt/media/image30.png" ContentType="image/png"/>
  <Override PartName="/ppt/media/image42.png" ContentType="image/png"/>
  <Override PartName="/ppt/media/image31.png" ContentType="image/png"/>
  <Override PartName="/ppt/media/image43.png" ContentType="image/png"/>
  <Override PartName="/ppt/media/image32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11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10.png" ContentType="image/png"/>
  <Override PartName="/ppt/media/image47.png" ContentType="image/png"/>
  <Override PartName="/ppt/media/image3.png" ContentType="image/png"/>
  <Override PartName="/ppt/media/image35.png" ContentType="image/png"/>
  <Override PartName="/ppt/media/image8.png" ContentType="image/png"/>
  <Override PartName="/ppt/media/image17.png" ContentType="image/png"/>
  <Override PartName="/ppt/media/image2.png" ContentType="image/png"/>
  <Override PartName="/ppt/media/image34.png" ContentType="image/png"/>
  <Override PartName="/ppt/media/image39.png" ContentType="image/png"/>
  <Override PartName="/ppt/media/image7.png" ContentType="image/png"/>
  <Override PartName="/ppt/media/image16.png" ContentType="image/png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</p:sldMasterIdLst>
  <p:notesMasterIdLst>
    <p:notesMasterId r:id="rId27"/>
  </p:notesMasterIdLst>
  <p:sldIdLst>
    <p:sldId id="256" r:id="rId28"/>
    <p:sldId id="257" r:id="rId29"/>
    <p:sldId id="258" r:id="rId30"/>
    <p:sldId id="259" r:id="rId31"/>
    <p:sldId id="260" r:id="rId32"/>
    <p:sldId id="261" r:id="rId33"/>
    <p:sldId id="262" r:id="rId34"/>
    <p:sldId id="263" r:id="rId35"/>
    <p:sldId id="264" r:id="rId36"/>
    <p:sldId id="265" r:id="rId37"/>
    <p:sldId id="266" r:id="rId38"/>
    <p:sldId id="267" r:id="rId39"/>
    <p:sldId id="268" r:id="rId40"/>
    <p:sldId id="269" r:id="rId41"/>
    <p:sldId id="270" r:id="rId42"/>
    <p:sldId id="271" r:id="rId43"/>
    <p:sldId id="272" r:id="rId44"/>
    <p:sldId id="273" r:id="rId45"/>
    <p:sldId id="274" r:id="rId46"/>
    <p:sldId id="275" r:id="rId47"/>
    <p:sldId id="276" r:id="rId48"/>
    <p:sldId id="277" r:id="rId49"/>
    <p:sldId id="278" r:id="rId50"/>
    <p:sldId id="279" r:id="rId51"/>
    <p:sldId id="280" r:id="rId52"/>
    <p:sldId id="281" r:id="rId53"/>
  </p:sldIdLst>
  <p:sldSz cx="10080625" cy="7559675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notesMaster" Target="notesMasters/notesMaster1.xml"/><Relationship Id="rId28" Type="http://schemas.openxmlformats.org/officeDocument/2006/relationships/slide" Target="slides/slide1.xml"/><Relationship Id="rId29" Type="http://schemas.openxmlformats.org/officeDocument/2006/relationships/slide" Target="slides/slide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slide" Target="slides/slide9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2.xml"/><Relationship Id="rId40" Type="http://schemas.openxmlformats.org/officeDocument/2006/relationships/slide" Target="slides/slide13.xml"/><Relationship Id="rId41" Type="http://schemas.openxmlformats.org/officeDocument/2006/relationships/slide" Target="slides/slide14.xml"/><Relationship Id="rId42" Type="http://schemas.openxmlformats.org/officeDocument/2006/relationships/slide" Target="slides/slide15.xml"/><Relationship Id="rId43" Type="http://schemas.openxmlformats.org/officeDocument/2006/relationships/slide" Target="slides/slide16.xml"/><Relationship Id="rId44" Type="http://schemas.openxmlformats.org/officeDocument/2006/relationships/slide" Target="slides/slide17.xml"/><Relationship Id="rId45" Type="http://schemas.openxmlformats.org/officeDocument/2006/relationships/slide" Target="slides/slide18.xml"/><Relationship Id="rId46" Type="http://schemas.openxmlformats.org/officeDocument/2006/relationships/slide" Target="slides/slide19.xml"/><Relationship Id="rId47" Type="http://schemas.openxmlformats.org/officeDocument/2006/relationships/slide" Target="slides/slide20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3.xml"/><Relationship Id="rId51" Type="http://schemas.openxmlformats.org/officeDocument/2006/relationships/slide" Target="slides/slide24.xml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CDDC6AE-DAFC-4652-971F-14381E9D161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9880" cy="360144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680" cy="360144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CustomShape 8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CustomShape 12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600" cy="360036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0800" cy="420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CustomShape 3"/>
          <p:cNvSpPr/>
          <p:nvPr/>
        </p:nvSpPr>
        <p:spPr>
          <a:xfrm>
            <a:off x="0" y="10155240"/>
            <a:ext cx="32691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CustomShape 16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CustomShape 20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CustomShape 24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CustomShape 28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CustomShape 32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CustomShape 36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CustomShape 40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CustomShape 44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CustomShape 48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072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160" cy="420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CustomShape 52"/>
          <p:cNvSpPr/>
          <p:nvPr/>
        </p:nvSpPr>
        <p:spPr>
          <a:xfrm>
            <a:off x="0" y="10155240"/>
            <a:ext cx="3269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0" y="3150000"/>
            <a:ext cx="9713160" cy="12531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1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2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8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8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2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6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4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1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2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1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2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7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8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2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3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4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/>
          <p:cNvSpPr/>
          <p:nvPr/>
        </p:nvSpPr>
        <p:spPr>
          <a:xfrm>
            <a:off x="0" y="180000"/>
            <a:ext cx="9713160" cy="125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7560000" y="6840000"/>
            <a:ext cx="2513160" cy="5331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900000" y="6840000"/>
            <a:ext cx="6473160" cy="5331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" name="CustomShape 4"/>
          <p:cNvSpPr/>
          <p:nvPr/>
        </p:nvSpPr>
        <p:spPr>
          <a:xfrm>
            <a:off x="180000" y="6840000"/>
            <a:ext cx="533160" cy="5331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CustomShape 1"/>
          <p:cNvSpPr/>
          <p:nvPr/>
        </p:nvSpPr>
        <p:spPr>
          <a:xfrm>
            <a:off x="0" y="180000"/>
            <a:ext cx="9713520" cy="12535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7" name="CustomShape 2"/>
          <p:cNvSpPr/>
          <p:nvPr/>
        </p:nvSpPr>
        <p:spPr>
          <a:xfrm>
            <a:off x="7560000" y="6840000"/>
            <a:ext cx="2513520" cy="5335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8" name="CustomShape 3"/>
          <p:cNvSpPr/>
          <p:nvPr/>
        </p:nvSpPr>
        <p:spPr>
          <a:xfrm>
            <a:off x="900000" y="6840000"/>
            <a:ext cx="6473520" cy="5335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" name="CustomShape 4"/>
          <p:cNvSpPr/>
          <p:nvPr/>
        </p:nvSpPr>
        <p:spPr>
          <a:xfrm>
            <a:off x="180000" y="6840000"/>
            <a:ext cx="533520" cy="5335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gustavo.hochuli@pucpr.br" TargetMode="External"/><Relationship Id="rId2" Type="http://schemas.openxmlformats.org/officeDocument/2006/relationships/hyperlink" Target="mailto:aghochuli@ppgia.pucpr.b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hyperlink" Target="https://github.com/andrehochuli/teaching/blob/main/ComputerVision/Lecture%2005%20-%20Feature%20Extraction/Lecture_05_Feature_Extraction_Projections.ipynb" TargetMode="External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11.png"/><Relationship Id="rId7" Type="http://schemas.openxmlformats.org/officeDocument/2006/relationships/slideLayout" Target="../slideLayouts/slideLayout13.xml"/><Relationship Id="rId8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slideLayout" Target="../slideLayouts/slideLayout13.xml"/><Relationship Id="rId8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13.png"/><Relationship Id="rId8" Type="http://schemas.openxmlformats.org/officeDocument/2006/relationships/slideLayout" Target="../slideLayouts/slideLayout13.xml"/><Relationship Id="rId9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hyperlink" Target="https://github.com/andrehochuli/teaching/blob/main/ComputerVision/Lecture%2005%20-%20Feature%20Extraction/Lecture_05_Feature_Extraction_Projections.ipynb" TargetMode="External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hyperlink" Target="https://github.com/andrehochuli/teaching/blob/main/ComputerVision/Lecture%2005%20-%20Feature%20Extraction/Lecture_05_Image_Descriptors_Edges.ipynb" TargetMode="External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1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hyperlink" Target="https://github.com/andrehochuli/teaching/blob/main/ComputerVision/Lecture%2005%20-%20Feature%20Extraction/Lecture_05_Image_Descriptors_Edges.ipynb" TargetMode="External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40.png"/><Relationship Id="rId3" Type="http://schemas.openxmlformats.org/officeDocument/2006/relationships/hyperlink" Target="https://github.com/andrehochuli/teaching/blob/main/ComputerVision/Lecture%2005%20-%20Feature%20Extraction/Lecture_05_Image_Descriptors_Texture_and_Others.ipynb" TargetMode="External"/><Relationship Id="rId4" Type="http://schemas.openxmlformats.org/officeDocument/2006/relationships/slideLayout" Target="../slideLayouts/slideLayout25.xml"/><Relationship Id="rId5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slideLayout" Target="../slideLayouts/slideLayout25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slideLayout" Target="../slideLayouts/slideLayout25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hyperlink" Target="https://github.com/andrehochuli/teaching/blob/main/ComputerVision/Lecture%2005%20-%20Feature%20Extraction/Lecture_05_Image_Descriptors_Texture_and_Others.ipynb" TargetMode="External"/><Relationship Id="rId4" Type="http://schemas.openxmlformats.org/officeDocument/2006/relationships/slideLayout" Target="../slideLayouts/slideLayout25.xml"/><Relationship Id="rId5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ustomShape 1"/>
          <p:cNvSpPr/>
          <p:nvPr/>
        </p:nvSpPr>
        <p:spPr>
          <a:xfrm>
            <a:off x="360000" y="333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Lecture 05 - Feature Extraction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540000" y="4680000"/>
            <a:ext cx="9173160" cy="25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Prof. André Gustavo Hochuli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gustavo.hochuli@pucpr.br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2"/>
              </a:rPr>
              <a:t>aghochuli@ppgia.pucpr.br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Topics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CustomShape 4"/>
          <p:cNvSpPr/>
          <p:nvPr/>
        </p:nvSpPr>
        <p:spPr>
          <a:xfrm>
            <a:off x="360000" y="1648800"/>
            <a:ext cx="9173160" cy="46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c1c1c"/>
                </a:solidFill>
                <a:latin typeface="Calibri"/>
                <a:ea typeface="DejaVu Sans"/>
              </a:rPr>
              <a:t>[Recap] Lecture 04 – Finding Components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c1c1c"/>
                </a:solidFill>
                <a:latin typeface="Calibri"/>
                <a:ea typeface="DejaVu Sans"/>
              </a:rPr>
              <a:t>Lecture 05 - Feature Extraction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c1c1c"/>
                </a:solidFill>
                <a:latin typeface="Calibri"/>
                <a:ea typeface="DejaVu Sans"/>
              </a:rPr>
              <a:t>Feature Vector / Embeddings / Representations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c1c1c"/>
                </a:solidFill>
                <a:latin typeface="Calibri"/>
                <a:ea typeface="DejaVu Sans"/>
              </a:rPr>
              <a:t>Feature Space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c1c1c"/>
                </a:solidFill>
                <a:latin typeface="Calibri"/>
                <a:ea typeface="DejaVu Sans"/>
              </a:rPr>
              <a:t>Feature Engineering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c1c1c"/>
                </a:solidFill>
                <a:latin typeface="Calibri"/>
                <a:ea typeface="DejaVu Sans"/>
              </a:rPr>
              <a:t>Descriptors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c1c1c"/>
                </a:solidFill>
                <a:latin typeface="Calibri"/>
                <a:ea typeface="DejaVu Sans"/>
              </a:rPr>
              <a:t>Practice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Picture 2" descr=""/>
          <p:cNvPicPr/>
          <p:nvPr/>
        </p:nvPicPr>
        <p:blipFill>
          <a:blip r:embed="rId1"/>
          <a:stretch/>
        </p:blipFill>
        <p:spPr>
          <a:xfrm>
            <a:off x="2622600" y="3780000"/>
            <a:ext cx="6125040" cy="2840400"/>
          </a:xfrm>
          <a:prstGeom prst="rect">
            <a:avLst/>
          </a:prstGeom>
          <a:ln w="0">
            <a:noFill/>
          </a:ln>
        </p:spPr>
      </p:pic>
      <p:sp>
        <p:nvSpPr>
          <p:cNvPr id="195" name="Oval 3"/>
          <p:cNvSpPr/>
          <p:nvPr/>
        </p:nvSpPr>
        <p:spPr>
          <a:xfrm>
            <a:off x="2729880" y="6274440"/>
            <a:ext cx="273600" cy="23004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96" name="Oval 4"/>
          <p:cNvSpPr/>
          <p:nvPr/>
        </p:nvSpPr>
        <p:spPr>
          <a:xfrm>
            <a:off x="3122640" y="6279120"/>
            <a:ext cx="273600" cy="23004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97" name="Oval 5"/>
          <p:cNvSpPr/>
          <p:nvPr/>
        </p:nvSpPr>
        <p:spPr>
          <a:xfrm>
            <a:off x="3547800" y="6273720"/>
            <a:ext cx="273600" cy="23004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98" name="Oval 6"/>
          <p:cNvSpPr/>
          <p:nvPr/>
        </p:nvSpPr>
        <p:spPr>
          <a:xfrm>
            <a:off x="3976200" y="6274440"/>
            <a:ext cx="273600" cy="23004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99" name="Oval 7"/>
          <p:cNvSpPr/>
          <p:nvPr/>
        </p:nvSpPr>
        <p:spPr>
          <a:xfrm>
            <a:off x="4369320" y="6279120"/>
            <a:ext cx="273600" cy="23004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Computer Vision &amp; Pattern Recognition Pipeline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3" name="Picture 2" descr="Pattern recognition: Overview and applications"/>
          <p:cNvPicPr/>
          <p:nvPr/>
        </p:nvPicPr>
        <p:blipFill>
          <a:blip r:embed="rId1"/>
          <a:stretch/>
        </p:blipFill>
        <p:spPr>
          <a:xfrm>
            <a:off x="546480" y="2473560"/>
            <a:ext cx="8980200" cy="2431440"/>
          </a:xfrm>
          <a:prstGeom prst="rect">
            <a:avLst/>
          </a:prstGeom>
          <a:ln w="0">
            <a:noFill/>
          </a:ln>
        </p:spPr>
      </p:pic>
      <p:sp>
        <p:nvSpPr>
          <p:cNvPr id="204" name="Retângulo 2"/>
          <p:cNvSpPr/>
          <p:nvPr/>
        </p:nvSpPr>
        <p:spPr>
          <a:xfrm>
            <a:off x="546480" y="3098880"/>
            <a:ext cx="4317120" cy="1398960"/>
          </a:xfrm>
          <a:prstGeom prst="rect">
            <a:avLst/>
          </a:prstGeom>
          <a:solidFill>
            <a:schemeClr val="accent1">
              <a:alpha val="63000"/>
            </a:schemeClr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Feature Extraction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CaixaDeTexto 1"/>
          <p:cNvSpPr/>
          <p:nvPr/>
        </p:nvSpPr>
        <p:spPr>
          <a:xfrm>
            <a:off x="200160" y="1689840"/>
            <a:ext cx="95130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feature descriptor translates high-dimensional data to a a low dimension feature space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feature vector represents the input data produced by the feature descriptor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Later, a machine learning model will learn the representations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" name="Picture 6" descr=""/>
          <p:cNvPicPr/>
          <p:nvPr/>
        </p:nvPicPr>
        <p:blipFill>
          <a:blip r:embed="rId1"/>
          <a:stretch/>
        </p:blipFill>
        <p:spPr>
          <a:xfrm>
            <a:off x="1738800" y="3416400"/>
            <a:ext cx="6595920" cy="947520"/>
          </a:xfrm>
          <a:prstGeom prst="rect">
            <a:avLst/>
          </a:prstGeom>
          <a:ln w="0">
            <a:noFill/>
          </a:ln>
        </p:spPr>
      </p:pic>
      <p:pic>
        <p:nvPicPr>
          <p:cNvPr id="210" name="Picture 10" descr=""/>
          <p:cNvPicPr/>
          <p:nvPr/>
        </p:nvPicPr>
        <p:blipFill>
          <a:blip r:embed="rId2"/>
          <a:stretch/>
        </p:blipFill>
        <p:spPr>
          <a:xfrm>
            <a:off x="464040" y="4828320"/>
            <a:ext cx="3985920" cy="1585800"/>
          </a:xfrm>
          <a:prstGeom prst="rect">
            <a:avLst/>
          </a:prstGeom>
          <a:ln w="0">
            <a:noFill/>
          </a:ln>
        </p:spPr>
      </p:pic>
      <p:pic>
        <p:nvPicPr>
          <p:cNvPr id="211" name="Picture 8" descr=""/>
          <p:cNvPicPr/>
          <p:nvPr/>
        </p:nvPicPr>
        <p:blipFill>
          <a:blip r:embed="rId3"/>
          <a:stretch/>
        </p:blipFill>
        <p:spPr>
          <a:xfrm>
            <a:off x="5410800" y="5667120"/>
            <a:ext cx="3116520" cy="927000"/>
          </a:xfrm>
          <a:prstGeom prst="rect">
            <a:avLst/>
          </a:prstGeom>
          <a:ln w="0">
            <a:noFill/>
          </a:ln>
        </p:spPr>
      </p:pic>
      <p:pic>
        <p:nvPicPr>
          <p:cNvPr id="212" name="Picture 12" descr=""/>
          <p:cNvPicPr/>
          <p:nvPr/>
        </p:nvPicPr>
        <p:blipFill>
          <a:blip r:embed="rId4"/>
          <a:stretch/>
        </p:blipFill>
        <p:spPr>
          <a:xfrm>
            <a:off x="4836600" y="4413240"/>
            <a:ext cx="4610160" cy="1023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Feature Extraction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CaixaDeTexto 1"/>
          <p:cNvSpPr/>
          <p:nvPr/>
        </p:nvSpPr>
        <p:spPr>
          <a:xfrm>
            <a:off x="200160" y="1689840"/>
            <a:ext cx="9513000" cy="158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Let us represent an image by its dimensions. Thus, an image ‘I’ belonging to class ‘X’ can be represented as: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f(I,X) = [I.width,I.heigth,X]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7" name="Picture 2" descr=""/>
          <p:cNvPicPr/>
          <p:nvPr/>
        </p:nvPicPr>
        <p:blipFill>
          <a:blip r:embed="rId1"/>
          <a:stretch/>
        </p:blipFill>
        <p:spPr>
          <a:xfrm>
            <a:off x="579240" y="2892240"/>
            <a:ext cx="8642880" cy="1589400"/>
          </a:xfrm>
          <a:prstGeom prst="rect">
            <a:avLst/>
          </a:prstGeom>
          <a:ln w="0">
            <a:noFill/>
          </a:ln>
        </p:spPr>
      </p:pic>
      <p:pic>
        <p:nvPicPr>
          <p:cNvPr id="218" name="Imagem 4" descr=""/>
          <p:cNvPicPr/>
          <p:nvPr/>
        </p:nvPicPr>
        <p:blipFill>
          <a:blip r:embed="rId2"/>
          <a:stretch/>
        </p:blipFill>
        <p:spPr>
          <a:xfrm>
            <a:off x="635400" y="5467680"/>
            <a:ext cx="8642880" cy="269640"/>
          </a:xfrm>
          <a:prstGeom prst="rect">
            <a:avLst/>
          </a:prstGeom>
          <a:ln w="0">
            <a:noFill/>
          </a:ln>
        </p:spPr>
      </p:pic>
      <p:sp>
        <p:nvSpPr>
          <p:cNvPr id="219" name="Seta: para Baixo 3"/>
          <p:cNvSpPr/>
          <p:nvPr/>
        </p:nvSpPr>
        <p:spPr>
          <a:xfrm>
            <a:off x="897120" y="448488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" name="Seta: para Baixo 12"/>
          <p:cNvSpPr/>
          <p:nvPr/>
        </p:nvSpPr>
        <p:spPr>
          <a:xfrm>
            <a:off x="1699920" y="448488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" name="Seta: para Baixo 13"/>
          <p:cNvSpPr/>
          <p:nvPr/>
        </p:nvSpPr>
        <p:spPr>
          <a:xfrm>
            <a:off x="2502360" y="448488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" name="Seta: para Baixo 14"/>
          <p:cNvSpPr/>
          <p:nvPr/>
        </p:nvSpPr>
        <p:spPr>
          <a:xfrm>
            <a:off x="3305160" y="448488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" name="Seta: para Baixo 15"/>
          <p:cNvSpPr/>
          <p:nvPr/>
        </p:nvSpPr>
        <p:spPr>
          <a:xfrm>
            <a:off x="4039560" y="448488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" name="Seta: para Baixo 16"/>
          <p:cNvSpPr/>
          <p:nvPr/>
        </p:nvSpPr>
        <p:spPr>
          <a:xfrm>
            <a:off x="4842360" y="448488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" name="Seta: para Baixo 17"/>
          <p:cNvSpPr/>
          <p:nvPr/>
        </p:nvSpPr>
        <p:spPr>
          <a:xfrm>
            <a:off x="5644800" y="448488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" name="Seta: para Baixo 18"/>
          <p:cNvSpPr/>
          <p:nvPr/>
        </p:nvSpPr>
        <p:spPr>
          <a:xfrm>
            <a:off x="6447600" y="448488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" name="Seta: para Baixo 19"/>
          <p:cNvSpPr/>
          <p:nvPr/>
        </p:nvSpPr>
        <p:spPr>
          <a:xfrm>
            <a:off x="7151040" y="447192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" name="Seta: para Baixo 20"/>
          <p:cNvSpPr/>
          <p:nvPr/>
        </p:nvSpPr>
        <p:spPr>
          <a:xfrm>
            <a:off x="7953840" y="447192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" name="Seta: para Baixo 21"/>
          <p:cNvSpPr/>
          <p:nvPr/>
        </p:nvSpPr>
        <p:spPr>
          <a:xfrm>
            <a:off x="8756280" y="4471920"/>
            <a:ext cx="194760" cy="886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" name="TextBox 228"/>
          <p:cNvSpPr/>
          <p:nvPr/>
        </p:nvSpPr>
        <p:spPr>
          <a:xfrm>
            <a:off x="457200" y="5943600"/>
            <a:ext cx="90954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LET’S CODE: </a:t>
            </a:r>
            <a:r>
              <a:rPr b="0" lang="en-US" sz="1800" spc="-1" strike="noStrike" u="sng">
                <a:solidFill>
                  <a:srgbClr val="0000ff"/>
                </a:solidFill>
                <a:uFillTx/>
                <a:latin typeface="Arial"/>
                <a:ea typeface="DejaVu Sans"/>
                <a:hlinkClick r:id="rId3"/>
              </a:rPr>
              <a:t>Lecture_05_Feature_Extraction_Projections.ipynb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Feature Vector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CaixaDeTexto 1"/>
          <p:cNvSpPr/>
          <p:nvPr/>
        </p:nvSpPr>
        <p:spPr>
          <a:xfrm>
            <a:off x="200160" y="1689840"/>
            <a:ext cx="9513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Does this feature vector provide a representative encoding of the image?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5" name="Picture 6" descr=""/>
          <p:cNvPicPr/>
          <p:nvPr/>
        </p:nvPicPr>
        <p:blipFill>
          <a:blip r:embed="rId1"/>
          <a:stretch/>
        </p:blipFill>
        <p:spPr>
          <a:xfrm>
            <a:off x="2245320" y="3596760"/>
            <a:ext cx="5092200" cy="3491640"/>
          </a:xfrm>
          <a:prstGeom prst="rect">
            <a:avLst/>
          </a:prstGeom>
          <a:ln w="0">
            <a:noFill/>
          </a:ln>
        </p:spPr>
      </p:pic>
      <p:pic>
        <p:nvPicPr>
          <p:cNvPr id="236" name="Picture 2" descr=""/>
          <p:cNvPicPr/>
          <p:nvPr/>
        </p:nvPicPr>
        <p:blipFill>
          <a:blip r:embed="rId2"/>
          <a:stretch/>
        </p:blipFill>
        <p:spPr>
          <a:xfrm>
            <a:off x="707040" y="1867680"/>
            <a:ext cx="8642880" cy="1589400"/>
          </a:xfrm>
          <a:prstGeom prst="rect">
            <a:avLst/>
          </a:prstGeom>
          <a:ln w="0">
            <a:noFill/>
          </a:ln>
        </p:spPr>
      </p:pic>
      <p:pic>
        <p:nvPicPr>
          <p:cNvPr id="237" name="Imagem 11" descr=""/>
          <p:cNvPicPr/>
          <p:nvPr/>
        </p:nvPicPr>
        <p:blipFill>
          <a:blip r:embed="rId3"/>
          <a:stretch/>
        </p:blipFill>
        <p:spPr>
          <a:xfrm>
            <a:off x="727560" y="3323880"/>
            <a:ext cx="8642880" cy="269640"/>
          </a:xfrm>
          <a:prstGeom prst="rect">
            <a:avLst/>
          </a:prstGeom>
          <a:ln w="0">
            <a:noFill/>
          </a:ln>
        </p:spPr>
      </p:pic>
      <p:pic>
        <p:nvPicPr>
          <p:cNvPr id="238" name="Imagem 3" descr=""/>
          <p:cNvPicPr/>
          <p:nvPr/>
        </p:nvPicPr>
        <p:blipFill>
          <a:blip r:embed="rId4"/>
          <a:stretch/>
        </p:blipFill>
        <p:spPr>
          <a:xfrm>
            <a:off x="6436800" y="3702960"/>
            <a:ext cx="739800" cy="263520"/>
          </a:xfrm>
          <a:prstGeom prst="rect">
            <a:avLst/>
          </a:prstGeom>
          <a:ln w="0">
            <a:noFill/>
          </a:ln>
        </p:spPr>
      </p:pic>
      <p:pic>
        <p:nvPicPr>
          <p:cNvPr id="239" name="Imagem 12" descr=""/>
          <p:cNvPicPr/>
          <p:nvPr/>
        </p:nvPicPr>
        <p:blipFill>
          <a:blip r:embed="rId5"/>
          <a:stretch/>
        </p:blipFill>
        <p:spPr>
          <a:xfrm>
            <a:off x="4691880" y="6028560"/>
            <a:ext cx="673200" cy="253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Feature Vector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CaixaDeTexto 1"/>
          <p:cNvSpPr/>
          <p:nvPr/>
        </p:nvSpPr>
        <p:spPr>
          <a:xfrm>
            <a:off x="200160" y="1689840"/>
            <a:ext cx="9513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Does this feature vector provide a representative encoding of the image?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4" name="Picture 6" descr=""/>
          <p:cNvPicPr/>
          <p:nvPr/>
        </p:nvPicPr>
        <p:blipFill>
          <a:blip r:embed="rId1"/>
          <a:stretch/>
        </p:blipFill>
        <p:spPr>
          <a:xfrm>
            <a:off x="2245320" y="3596760"/>
            <a:ext cx="5092200" cy="3491640"/>
          </a:xfrm>
          <a:prstGeom prst="rect">
            <a:avLst/>
          </a:prstGeom>
          <a:ln w="0">
            <a:noFill/>
          </a:ln>
        </p:spPr>
      </p:pic>
      <p:pic>
        <p:nvPicPr>
          <p:cNvPr id="245" name="Picture 2" descr=""/>
          <p:cNvPicPr/>
          <p:nvPr/>
        </p:nvPicPr>
        <p:blipFill>
          <a:blip r:embed="rId2"/>
          <a:stretch/>
        </p:blipFill>
        <p:spPr>
          <a:xfrm>
            <a:off x="707040" y="1867680"/>
            <a:ext cx="8642880" cy="1589400"/>
          </a:xfrm>
          <a:prstGeom prst="rect">
            <a:avLst/>
          </a:prstGeom>
          <a:ln w="0">
            <a:noFill/>
          </a:ln>
        </p:spPr>
      </p:pic>
      <p:pic>
        <p:nvPicPr>
          <p:cNvPr id="246" name="Imagem 11" descr=""/>
          <p:cNvPicPr/>
          <p:nvPr/>
        </p:nvPicPr>
        <p:blipFill>
          <a:blip r:embed="rId3"/>
          <a:stretch/>
        </p:blipFill>
        <p:spPr>
          <a:xfrm>
            <a:off x="727560" y="3323880"/>
            <a:ext cx="8642880" cy="269640"/>
          </a:xfrm>
          <a:prstGeom prst="rect">
            <a:avLst/>
          </a:prstGeom>
          <a:ln w="0">
            <a:noFill/>
          </a:ln>
        </p:spPr>
      </p:pic>
      <p:pic>
        <p:nvPicPr>
          <p:cNvPr id="247" name="Imagem 3" descr=""/>
          <p:cNvPicPr/>
          <p:nvPr/>
        </p:nvPicPr>
        <p:blipFill>
          <a:blip r:embed="rId4"/>
          <a:stretch/>
        </p:blipFill>
        <p:spPr>
          <a:xfrm>
            <a:off x="6436800" y="3702960"/>
            <a:ext cx="739800" cy="263520"/>
          </a:xfrm>
          <a:prstGeom prst="rect">
            <a:avLst/>
          </a:prstGeom>
          <a:ln w="0">
            <a:noFill/>
          </a:ln>
        </p:spPr>
      </p:pic>
      <p:pic>
        <p:nvPicPr>
          <p:cNvPr id="248" name="Imagem 6" descr=""/>
          <p:cNvPicPr/>
          <p:nvPr/>
        </p:nvPicPr>
        <p:blipFill>
          <a:blip r:embed="rId5"/>
          <a:stretch/>
        </p:blipFill>
        <p:spPr>
          <a:xfrm>
            <a:off x="5932080" y="5432040"/>
            <a:ext cx="692280" cy="272880"/>
          </a:xfrm>
          <a:prstGeom prst="rect">
            <a:avLst/>
          </a:prstGeom>
          <a:ln w="0">
            <a:noFill/>
          </a:ln>
        </p:spPr>
      </p:pic>
      <p:pic>
        <p:nvPicPr>
          <p:cNvPr id="249" name="Imagem 12" descr=""/>
          <p:cNvPicPr/>
          <p:nvPr/>
        </p:nvPicPr>
        <p:blipFill>
          <a:blip r:embed="rId6"/>
          <a:stretch/>
        </p:blipFill>
        <p:spPr>
          <a:xfrm>
            <a:off x="4691880" y="6028560"/>
            <a:ext cx="673200" cy="253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Feature Vector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CaixaDeTexto 1"/>
          <p:cNvSpPr/>
          <p:nvPr/>
        </p:nvSpPr>
        <p:spPr>
          <a:xfrm>
            <a:off x="200160" y="1689840"/>
            <a:ext cx="9513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Does this feature vector provide a representative encoding of the image?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4" name="Picture 6" descr=""/>
          <p:cNvPicPr/>
          <p:nvPr/>
        </p:nvPicPr>
        <p:blipFill>
          <a:blip r:embed="rId1"/>
          <a:stretch/>
        </p:blipFill>
        <p:spPr>
          <a:xfrm>
            <a:off x="2245320" y="3596760"/>
            <a:ext cx="5092200" cy="3491640"/>
          </a:xfrm>
          <a:prstGeom prst="rect">
            <a:avLst/>
          </a:prstGeom>
          <a:ln w="0">
            <a:noFill/>
          </a:ln>
        </p:spPr>
      </p:pic>
      <p:pic>
        <p:nvPicPr>
          <p:cNvPr id="255" name="Picture 2" descr=""/>
          <p:cNvPicPr/>
          <p:nvPr/>
        </p:nvPicPr>
        <p:blipFill>
          <a:blip r:embed="rId2"/>
          <a:stretch/>
        </p:blipFill>
        <p:spPr>
          <a:xfrm>
            <a:off x="707040" y="1867680"/>
            <a:ext cx="8642880" cy="1589400"/>
          </a:xfrm>
          <a:prstGeom prst="rect">
            <a:avLst/>
          </a:prstGeom>
          <a:ln w="0">
            <a:noFill/>
          </a:ln>
        </p:spPr>
      </p:pic>
      <p:pic>
        <p:nvPicPr>
          <p:cNvPr id="256" name="Imagem 11" descr=""/>
          <p:cNvPicPr/>
          <p:nvPr/>
        </p:nvPicPr>
        <p:blipFill>
          <a:blip r:embed="rId3"/>
          <a:stretch/>
        </p:blipFill>
        <p:spPr>
          <a:xfrm>
            <a:off x="727560" y="3323880"/>
            <a:ext cx="8642880" cy="269640"/>
          </a:xfrm>
          <a:prstGeom prst="rect">
            <a:avLst/>
          </a:prstGeom>
          <a:ln w="0">
            <a:noFill/>
          </a:ln>
        </p:spPr>
      </p:pic>
      <p:pic>
        <p:nvPicPr>
          <p:cNvPr id="257" name="Imagem 3" descr=""/>
          <p:cNvPicPr/>
          <p:nvPr/>
        </p:nvPicPr>
        <p:blipFill>
          <a:blip r:embed="rId4"/>
          <a:stretch/>
        </p:blipFill>
        <p:spPr>
          <a:xfrm>
            <a:off x="6436800" y="3702960"/>
            <a:ext cx="739800" cy="263520"/>
          </a:xfrm>
          <a:prstGeom prst="rect">
            <a:avLst/>
          </a:prstGeom>
          <a:ln w="0">
            <a:noFill/>
          </a:ln>
        </p:spPr>
      </p:pic>
      <p:pic>
        <p:nvPicPr>
          <p:cNvPr id="258" name="Imagem 12" descr=""/>
          <p:cNvPicPr/>
          <p:nvPr/>
        </p:nvPicPr>
        <p:blipFill>
          <a:blip r:embed="rId5"/>
          <a:stretch/>
        </p:blipFill>
        <p:spPr>
          <a:xfrm>
            <a:off x="4691880" y="6028560"/>
            <a:ext cx="673200" cy="253800"/>
          </a:xfrm>
          <a:prstGeom prst="rect">
            <a:avLst/>
          </a:prstGeom>
          <a:ln w="0">
            <a:noFill/>
          </a:ln>
        </p:spPr>
      </p:pic>
      <p:pic>
        <p:nvPicPr>
          <p:cNvPr id="259" name="Picture 155" descr=""/>
          <p:cNvPicPr/>
          <p:nvPr/>
        </p:nvPicPr>
        <p:blipFill>
          <a:blip r:embed="rId6"/>
          <a:stretch/>
        </p:blipFill>
        <p:spPr>
          <a:xfrm>
            <a:off x="5934600" y="5286960"/>
            <a:ext cx="693360" cy="426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Feature Vector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CaixaDeTexto 1"/>
          <p:cNvSpPr/>
          <p:nvPr/>
        </p:nvSpPr>
        <p:spPr>
          <a:xfrm>
            <a:off x="200160" y="1689840"/>
            <a:ext cx="9513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Is the feature vector representative?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4" name="Picture 6" descr=""/>
          <p:cNvPicPr/>
          <p:nvPr/>
        </p:nvPicPr>
        <p:blipFill>
          <a:blip r:embed="rId1"/>
          <a:stretch/>
        </p:blipFill>
        <p:spPr>
          <a:xfrm>
            <a:off x="2245320" y="3596760"/>
            <a:ext cx="5092200" cy="3491640"/>
          </a:xfrm>
          <a:prstGeom prst="rect">
            <a:avLst/>
          </a:prstGeom>
          <a:ln w="0">
            <a:noFill/>
          </a:ln>
        </p:spPr>
      </p:pic>
      <p:pic>
        <p:nvPicPr>
          <p:cNvPr id="265" name="Picture 2" descr=""/>
          <p:cNvPicPr/>
          <p:nvPr/>
        </p:nvPicPr>
        <p:blipFill>
          <a:blip r:embed="rId2"/>
          <a:stretch/>
        </p:blipFill>
        <p:spPr>
          <a:xfrm>
            <a:off x="707040" y="1867680"/>
            <a:ext cx="8642880" cy="1589400"/>
          </a:xfrm>
          <a:prstGeom prst="rect">
            <a:avLst/>
          </a:prstGeom>
          <a:ln w="0">
            <a:noFill/>
          </a:ln>
        </p:spPr>
      </p:pic>
      <p:pic>
        <p:nvPicPr>
          <p:cNvPr id="266" name="Imagem 11" descr=""/>
          <p:cNvPicPr/>
          <p:nvPr/>
        </p:nvPicPr>
        <p:blipFill>
          <a:blip r:embed="rId3"/>
          <a:stretch/>
        </p:blipFill>
        <p:spPr>
          <a:xfrm>
            <a:off x="727560" y="3323880"/>
            <a:ext cx="8642880" cy="269640"/>
          </a:xfrm>
          <a:prstGeom prst="rect">
            <a:avLst/>
          </a:prstGeom>
          <a:ln w="0">
            <a:noFill/>
          </a:ln>
        </p:spPr>
      </p:pic>
      <p:pic>
        <p:nvPicPr>
          <p:cNvPr id="267" name="Imagem 3" descr=""/>
          <p:cNvPicPr/>
          <p:nvPr/>
        </p:nvPicPr>
        <p:blipFill>
          <a:blip r:embed="rId4"/>
          <a:stretch/>
        </p:blipFill>
        <p:spPr>
          <a:xfrm>
            <a:off x="6436800" y="3702960"/>
            <a:ext cx="739800" cy="263520"/>
          </a:xfrm>
          <a:prstGeom prst="rect">
            <a:avLst/>
          </a:prstGeom>
          <a:ln w="0">
            <a:noFill/>
          </a:ln>
        </p:spPr>
      </p:pic>
      <p:pic>
        <p:nvPicPr>
          <p:cNvPr id="268" name="Imagem 12" descr=""/>
          <p:cNvPicPr/>
          <p:nvPr/>
        </p:nvPicPr>
        <p:blipFill>
          <a:blip r:embed="rId5"/>
          <a:stretch/>
        </p:blipFill>
        <p:spPr>
          <a:xfrm>
            <a:off x="4691880" y="6028560"/>
            <a:ext cx="673200" cy="253800"/>
          </a:xfrm>
          <a:prstGeom prst="rect">
            <a:avLst/>
          </a:prstGeom>
          <a:ln w="0">
            <a:noFill/>
          </a:ln>
        </p:spPr>
      </p:pic>
      <p:pic>
        <p:nvPicPr>
          <p:cNvPr id="269" name="Imagem 5" descr=""/>
          <p:cNvPicPr/>
          <p:nvPr/>
        </p:nvPicPr>
        <p:blipFill>
          <a:blip r:embed="rId6"/>
          <a:stretch/>
        </p:blipFill>
        <p:spPr>
          <a:xfrm>
            <a:off x="5933160" y="5075640"/>
            <a:ext cx="682560" cy="196920"/>
          </a:xfrm>
          <a:prstGeom prst="rect">
            <a:avLst/>
          </a:prstGeom>
          <a:ln w="0">
            <a:noFill/>
          </a:ln>
        </p:spPr>
      </p:pic>
      <p:pic>
        <p:nvPicPr>
          <p:cNvPr id="270" name="Picture 166" descr=""/>
          <p:cNvPicPr/>
          <p:nvPr/>
        </p:nvPicPr>
        <p:blipFill>
          <a:blip r:embed="rId7"/>
          <a:stretch/>
        </p:blipFill>
        <p:spPr>
          <a:xfrm>
            <a:off x="5943600" y="5250960"/>
            <a:ext cx="693360" cy="426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Feature Vector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CaixaDeTexto 1"/>
          <p:cNvSpPr/>
          <p:nvPr/>
        </p:nvSpPr>
        <p:spPr>
          <a:xfrm>
            <a:off x="200160" y="1689840"/>
            <a:ext cx="9513000" cy="131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Does this feature vector provide a representative encoding of the image?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5" name="Picture 6" descr=""/>
          <p:cNvPicPr/>
          <p:nvPr/>
        </p:nvPicPr>
        <p:blipFill>
          <a:blip r:embed="rId1"/>
          <a:stretch/>
        </p:blipFill>
        <p:spPr>
          <a:xfrm>
            <a:off x="2245320" y="3596760"/>
            <a:ext cx="5092200" cy="3491640"/>
          </a:xfrm>
          <a:prstGeom prst="rect">
            <a:avLst/>
          </a:prstGeom>
          <a:ln w="0">
            <a:noFill/>
          </a:ln>
        </p:spPr>
      </p:pic>
      <p:pic>
        <p:nvPicPr>
          <p:cNvPr id="276" name="Picture 2" descr=""/>
          <p:cNvPicPr/>
          <p:nvPr/>
        </p:nvPicPr>
        <p:blipFill>
          <a:blip r:embed="rId2"/>
          <a:stretch/>
        </p:blipFill>
        <p:spPr>
          <a:xfrm>
            <a:off x="707040" y="1867680"/>
            <a:ext cx="8642880" cy="1589400"/>
          </a:xfrm>
          <a:prstGeom prst="rect">
            <a:avLst/>
          </a:prstGeom>
          <a:ln w="0">
            <a:noFill/>
          </a:ln>
        </p:spPr>
      </p:pic>
      <p:pic>
        <p:nvPicPr>
          <p:cNvPr id="277" name="Imagem 11" descr=""/>
          <p:cNvPicPr/>
          <p:nvPr/>
        </p:nvPicPr>
        <p:blipFill>
          <a:blip r:embed="rId3"/>
          <a:stretch/>
        </p:blipFill>
        <p:spPr>
          <a:xfrm>
            <a:off x="727560" y="3323880"/>
            <a:ext cx="8642880" cy="269640"/>
          </a:xfrm>
          <a:prstGeom prst="rect">
            <a:avLst/>
          </a:prstGeom>
          <a:ln w="0">
            <a:noFill/>
          </a:ln>
        </p:spPr>
      </p:pic>
      <p:sp>
        <p:nvSpPr>
          <p:cNvPr id="278" name="Retângulo 2"/>
          <p:cNvSpPr/>
          <p:nvPr/>
        </p:nvSpPr>
        <p:spPr>
          <a:xfrm>
            <a:off x="3891240" y="3240360"/>
            <a:ext cx="748440" cy="383400"/>
          </a:xfrm>
          <a:prstGeom prst="rect">
            <a:avLst/>
          </a:prstGeom>
          <a:solidFill>
            <a:schemeClr val="accent2">
              <a:alpha val="53000"/>
            </a:schemeClr>
          </a:solidFill>
          <a:ln>
            <a:solidFill>
              <a:srgbClr val="8e3b38"/>
            </a:solidFill>
            <a:rou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" name="Retângulo 12"/>
          <p:cNvSpPr/>
          <p:nvPr/>
        </p:nvSpPr>
        <p:spPr>
          <a:xfrm>
            <a:off x="7040880" y="3247200"/>
            <a:ext cx="748440" cy="383400"/>
          </a:xfrm>
          <a:prstGeom prst="rect">
            <a:avLst/>
          </a:prstGeom>
          <a:solidFill>
            <a:schemeClr val="accent2">
              <a:alpha val="53000"/>
            </a:schemeClr>
          </a:solidFill>
          <a:ln>
            <a:solidFill>
              <a:srgbClr val="8e3b38"/>
            </a:solidFill>
            <a:rou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" name="Retângulo 13"/>
          <p:cNvSpPr/>
          <p:nvPr/>
        </p:nvSpPr>
        <p:spPr>
          <a:xfrm>
            <a:off x="7848000" y="3247200"/>
            <a:ext cx="748440" cy="383400"/>
          </a:xfrm>
          <a:prstGeom prst="rect">
            <a:avLst/>
          </a:prstGeom>
          <a:solidFill>
            <a:schemeClr val="accent2">
              <a:alpha val="53000"/>
            </a:schemeClr>
          </a:solidFill>
          <a:ln>
            <a:solidFill>
              <a:srgbClr val="8e3b38"/>
            </a:solidFill>
            <a:rou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" name="Retângulo 14"/>
          <p:cNvSpPr/>
          <p:nvPr/>
        </p:nvSpPr>
        <p:spPr>
          <a:xfrm>
            <a:off x="8641800" y="3247200"/>
            <a:ext cx="748440" cy="383400"/>
          </a:xfrm>
          <a:prstGeom prst="rect">
            <a:avLst/>
          </a:prstGeom>
          <a:solidFill>
            <a:schemeClr val="accent2">
              <a:alpha val="53000"/>
            </a:schemeClr>
          </a:solidFill>
          <a:ln>
            <a:solidFill>
              <a:srgbClr val="8e3b38"/>
            </a:solidFill>
            <a:rou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" name="Retângulo 15"/>
          <p:cNvSpPr/>
          <p:nvPr/>
        </p:nvSpPr>
        <p:spPr>
          <a:xfrm>
            <a:off x="5594040" y="5676480"/>
            <a:ext cx="748440" cy="383400"/>
          </a:xfrm>
          <a:prstGeom prst="rect">
            <a:avLst/>
          </a:prstGeom>
          <a:solidFill>
            <a:schemeClr val="accent2">
              <a:alpha val="53000"/>
            </a:schemeClr>
          </a:solidFill>
          <a:ln>
            <a:solidFill>
              <a:srgbClr val="8e3b38"/>
            </a:solidFill>
            <a:rou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" name="Retângulo 16"/>
          <p:cNvSpPr/>
          <p:nvPr/>
        </p:nvSpPr>
        <p:spPr>
          <a:xfrm>
            <a:off x="4682520" y="3250800"/>
            <a:ext cx="748440" cy="383400"/>
          </a:xfrm>
          <a:prstGeom prst="rect">
            <a:avLst/>
          </a:prstGeom>
          <a:solidFill>
            <a:schemeClr val="accent2">
              <a:alpha val="53000"/>
            </a:schemeClr>
          </a:solidFill>
          <a:ln>
            <a:solidFill>
              <a:srgbClr val="8e3b38"/>
            </a:solidFill>
            <a:rou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" name="Retângulo 17"/>
          <p:cNvSpPr/>
          <p:nvPr/>
        </p:nvSpPr>
        <p:spPr>
          <a:xfrm>
            <a:off x="5466240" y="3250800"/>
            <a:ext cx="748440" cy="383400"/>
          </a:xfrm>
          <a:prstGeom prst="rect">
            <a:avLst/>
          </a:prstGeom>
          <a:solidFill>
            <a:schemeClr val="accent2">
              <a:alpha val="53000"/>
            </a:schemeClr>
          </a:solidFill>
          <a:ln>
            <a:solidFill>
              <a:srgbClr val="8e3b38"/>
            </a:solidFill>
            <a:rou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" name="Retângulo 18"/>
          <p:cNvSpPr/>
          <p:nvPr/>
        </p:nvSpPr>
        <p:spPr>
          <a:xfrm>
            <a:off x="5685480" y="6179760"/>
            <a:ext cx="748440" cy="383400"/>
          </a:xfrm>
          <a:prstGeom prst="rect">
            <a:avLst/>
          </a:prstGeom>
          <a:solidFill>
            <a:schemeClr val="accent2">
              <a:alpha val="53000"/>
            </a:schemeClr>
          </a:solidFill>
          <a:ln>
            <a:solidFill>
              <a:srgbClr val="8e3b38"/>
            </a:solidFill>
            <a:round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" name="CaixaDeTexto 3"/>
          <p:cNvSpPr/>
          <p:nvPr/>
        </p:nvSpPr>
        <p:spPr>
          <a:xfrm>
            <a:off x="7320600" y="5525280"/>
            <a:ext cx="208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Non Discriminative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eta: para a Direita 4"/>
          <p:cNvSpPr/>
          <p:nvPr/>
        </p:nvSpPr>
        <p:spPr>
          <a:xfrm rot="10800000">
            <a:off x="6775560" y="5873040"/>
            <a:ext cx="1072440" cy="190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Feature Engineering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CaixaDeTexto 1"/>
          <p:cNvSpPr/>
          <p:nvPr/>
        </p:nvSpPr>
        <p:spPr>
          <a:xfrm>
            <a:off x="200160" y="1689840"/>
            <a:ext cx="95130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How to produce a discriminative feature space?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Features must describe a singular characteristic of the problem for good generalization.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2" name="Imagem 19" descr=""/>
          <p:cNvPicPr/>
          <p:nvPr/>
        </p:nvPicPr>
        <p:blipFill>
          <a:blip r:embed="rId1"/>
          <a:stretch/>
        </p:blipFill>
        <p:spPr>
          <a:xfrm>
            <a:off x="1500120" y="3444480"/>
            <a:ext cx="7072560" cy="3029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Imagem 5" descr=""/>
          <p:cNvPicPr/>
          <p:nvPr/>
        </p:nvPicPr>
        <p:blipFill>
          <a:blip r:embed="rId1"/>
          <a:stretch/>
        </p:blipFill>
        <p:spPr>
          <a:xfrm>
            <a:off x="3674160" y="4583880"/>
            <a:ext cx="2965680" cy="2251080"/>
          </a:xfrm>
          <a:prstGeom prst="rect">
            <a:avLst/>
          </a:prstGeom>
          <a:ln w="0">
            <a:noFill/>
          </a:ln>
        </p:spPr>
      </p:pic>
      <p:pic>
        <p:nvPicPr>
          <p:cNvPr id="294" name="Imagem 3" descr=""/>
          <p:cNvPicPr/>
          <p:nvPr/>
        </p:nvPicPr>
        <p:blipFill>
          <a:blip r:embed="rId2"/>
          <a:stretch/>
        </p:blipFill>
        <p:spPr>
          <a:xfrm>
            <a:off x="3555720" y="1864080"/>
            <a:ext cx="3084120" cy="2211480"/>
          </a:xfrm>
          <a:prstGeom prst="rect">
            <a:avLst/>
          </a:prstGeom>
          <a:ln w="0">
            <a:noFill/>
          </a:ln>
        </p:spPr>
      </p:pic>
      <p:sp>
        <p:nvSpPr>
          <p:cNvPr id="295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Problem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CaixaDeTexto 1"/>
          <p:cNvSpPr/>
          <p:nvPr/>
        </p:nvSpPr>
        <p:spPr>
          <a:xfrm>
            <a:off x="200160" y="1677960"/>
            <a:ext cx="9514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How discriminating are features?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Imagem 14" descr=""/>
          <p:cNvPicPr/>
          <p:nvPr/>
        </p:nvPicPr>
        <p:blipFill>
          <a:blip r:embed="rId3"/>
          <a:stretch/>
        </p:blipFill>
        <p:spPr>
          <a:xfrm>
            <a:off x="360000" y="4531680"/>
            <a:ext cx="3200400" cy="2151720"/>
          </a:xfrm>
          <a:prstGeom prst="rect">
            <a:avLst/>
          </a:prstGeom>
          <a:ln w="0">
            <a:noFill/>
          </a:ln>
        </p:spPr>
      </p:pic>
      <p:pic>
        <p:nvPicPr>
          <p:cNvPr id="300" name="Imagem 18" descr=""/>
          <p:cNvPicPr/>
          <p:nvPr/>
        </p:nvPicPr>
        <p:blipFill>
          <a:blip r:embed="rId4"/>
          <a:stretch/>
        </p:blipFill>
        <p:spPr>
          <a:xfrm>
            <a:off x="6795720" y="4609800"/>
            <a:ext cx="3041640" cy="2121120"/>
          </a:xfrm>
          <a:prstGeom prst="rect">
            <a:avLst/>
          </a:prstGeom>
          <a:ln w="0">
            <a:noFill/>
          </a:ln>
        </p:spPr>
      </p:pic>
      <p:sp>
        <p:nvSpPr>
          <p:cNvPr id="301" name="CaixaDeTexto 21"/>
          <p:cNvSpPr/>
          <p:nvPr/>
        </p:nvSpPr>
        <p:spPr>
          <a:xfrm>
            <a:off x="2085840" y="2667600"/>
            <a:ext cx="1393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Input Space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CaixaDeTexto 22"/>
          <p:cNvSpPr/>
          <p:nvPr/>
        </p:nvSpPr>
        <p:spPr>
          <a:xfrm>
            <a:off x="199440" y="4264560"/>
            <a:ext cx="1827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Feature Space’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CaixaDeTexto 25"/>
          <p:cNvSpPr/>
          <p:nvPr/>
        </p:nvSpPr>
        <p:spPr>
          <a:xfrm>
            <a:off x="3481560" y="4290120"/>
            <a:ext cx="5036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Feature Space’’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CaixaDeTexto 27"/>
          <p:cNvSpPr/>
          <p:nvPr/>
        </p:nvSpPr>
        <p:spPr>
          <a:xfrm>
            <a:off x="6641640" y="4273920"/>
            <a:ext cx="5036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Feature Space ’’’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Conector reto 29"/>
          <p:cNvSpPr/>
          <p:nvPr/>
        </p:nvSpPr>
        <p:spPr>
          <a:xfrm>
            <a:off x="360000" y="4171680"/>
            <a:ext cx="9356400" cy="36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6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Shape/Edges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CustomShape 5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CustomShape 7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CaixaDeTexto 4"/>
          <p:cNvSpPr/>
          <p:nvPr/>
        </p:nvSpPr>
        <p:spPr>
          <a:xfrm>
            <a:off x="200160" y="1689840"/>
            <a:ext cx="9513360" cy="365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Gradient Based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Projections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Convolutional (Filters)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0" name="Imagem 7" descr=""/>
          <p:cNvPicPr/>
          <p:nvPr/>
        </p:nvPicPr>
        <p:blipFill>
          <a:blip r:embed="rId1"/>
          <a:stretch/>
        </p:blipFill>
        <p:spPr>
          <a:xfrm>
            <a:off x="1671480" y="4975200"/>
            <a:ext cx="6515640" cy="1680480"/>
          </a:xfrm>
          <a:prstGeom prst="rect">
            <a:avLst/>
          </a:prstGeom>
          <a:ln w="0">
            <a:noFill/>
          </a:ln>
        </p:spPr>
      </p:pic>
      <p:pic>
        <p:nvPicPr>
          <p:cNvPr id="311" name="Imagem 8" descr=""/>
          <p:cNvPicPr/>
          <p:nvPr/>
        </p:nvPicPr>
        <p:blipFill>
          <a:blip r:embed="rId2"/>
          <a:stretch/>
        </p:blipFill>
        <p:spPr>
          <a:xfrm>
            <a:off x="1671480" y="2608920"/>
            <a:ext cx="6476760" cy="1749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CaixaDeTexto 1"/>
          <p:cNvSpPr/>
          <p:nvPr/>
        </p:nvSpPr>
        <p:spPr>
          <a:xfrm>
            <a:off x="200160" y="1689840"/>
            <a:ext cx="95130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Vertical and Horizontal Projection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6" name="Picture 2" descr="Projection Histogram of image using Python and Opencv | by Felipe Meganha |  Medium"/>
          <p:cNvPicPr/>
          <p:nvPr/>
        </p:nvPicPr>
        <p:blipFill>
          <a:blip r:embed="rId1"/>
          <a:stretch/>
        </p:blipFill>
        <p:spPr>
          <a:xfrm>
            <a:off x="512640" y="2760120"/>
            <a:ext cx="4442400" cy="1327320"/>
          </a:xfrm>
          <a:prstGeom prst="rect">
            <a:avLst/>
          </a:prstGeom>
          <a:ln w="0">
            <a:noFill/>
          </a:ln>
        </p:spPr>
      </p:pic>
      <p:pic>
        <p:nvPicPr>
          <p:cNvPr id="317" name="Picture 6" descr="computer vision - OpenCV Color Concentration Histogram - Stack Overflow"/>
          <p:cNvPicPr/>
          <p:nvPr/>
        </p:nvPicPr>
        <p:blipFill>
          <a:blip r:embed="rId2"/>
          <a:stretch/>
        </p:blipFill>
        <p:spPr>
          <a:xfrm>
            <a:off x="5485320" y="2487600"/>
            <a:ext cx="4079520" cy="2997360"/>
          </a:xfrm>
          <a:prstGeom prst="rect">
            <a:avLst/>
          </a:prstGeom>
          <a:ln w="0">
            <a:noFill/>
          </a:ln>
        </p:spPr>
      </p:pic>
      <p:sp>
        <p:nvSpPr>
          <p:cNvPr id="318" name="AutoShape 12"/>
          <p:cNvSpPr/>
          <p:nvPr/>
        </p:nvSpPr>
        <p:spPr>
          <a:xfrm>
            <a:off x="4888080" y="3627360"/>
            <a:ext cx="30168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19" name="Imagem 12" descr=""/>
          <p:cNvPicPr/>
          <p:nvPr/>
        </p:nvPicPr>
        <p:blipFill>
          <a:blip r:embed="rId3"/>
          <a:stretch/>
        </p:blipFill>
        <p:spPr>
          <a:xfrm>
            <a:off x="789840" y="4894920"/>
            <a:ext cx="3941280" cy="1209600"/>
          </a:xfrm>
          <a:prstGeom prst="rect">
            <a:avLst/>
          </a:prstGeom>
          <a:ln w="0">
            <a:noFill/>
          </a:ln>
        </p:spPr>
      </p:pic>
      <p:sp>
        <p:nvSpPr>
          <p:cNvPr id="320" name="CaixaDeTexto 13"/>
          <p:cNvSpPr/>
          <p:nvPr/>
        </p:nvSpPr>
        <p:spPr>
          <a:xfrm>
            <a:off x="1026000" y="4714200"/>
            <a:ext cx="181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" name="TextBox 306"/>
          <p:cNvSpPr/>
          <p:nvPr/>
        </p:nvSpPr>
        <p:spPr>
          <a:xfrm>
            <a:off x="1735200" y="6400800"/>
            <a:ext cx="6722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LET’S CODE: </a:t>
            </a:r>
            <a:r>
              <a:rPr b="0" lang="en-US" sz="1800" spc="-1" strike="noStrike" u="sng">
                <a:solidFill>
                  <a:srgbClr val="0000ff"/>
                </a:solidFill>
                <a:uFillTx/>
                <a:latin typeface="Arial"/>
                <a:ea typeface="DejaVu Sans"/>
                <a:hlinkClick r:id="rId4"/>
              </a:rPr>
              <a:t>Lecture_05_Feature_Extraction_Projections.ipynb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CustomShape 9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Shape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CustomShape 10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CustomShape 11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5" name="Imagem 1" descr=""/>
          <p:cNvPicPr/>
          <p:nvPr/>
        </p:nvPicPr>
        <p:blipFill>
          <a:blip r:embed="rId1"/>
          <a:stretch/>
        </p:blipFill>
        <p:spPr>
          <a:xfrm>
            <a:off x="617760" y="1904400"/>
            <a:ext cx="5132880" cy="1385640"/>
          </a:xfrm>
          <a:prstGeom prst="rect">
            <a:avLst/>
          </a:prstGeom>
          <a:ln w="0">
            <a:noFill/>
          </a:ln>
        </p:spPr>
      </p:pic>
      <p:pic>
        <p:nvPicPr>
          <p:cNvPr id="326" name="Picture 4" descr="The vertical and horizontal projection histograms for the letter “a”. |  Download Scientific Diagram"/>
          <p:cNvPicPr/>
          <p:nvPr/>
        </p:nvPicPr>
        <p:blipFill>
          <a:blip r:embed="rId2"/>
          <a:stretch/>
        </p:blipFill>
        <p:spPr>
          <a:xfrm>
            <a:off x="6910200" y="1640160"/>
            <a:ext cx="2549880" cy="1787760"/>
          </a:xfrm>
          <a:prstGeom prst="rect">
            <a:avLst/>
          </a:prstGeom>
          <a:ln w="0">
            <a:noFill/>
          </a:ln>
        </p:spPr>
      </p:pic>
      <p:pic>
        <p:nvPicPr>
          <p:cNvPr id="327" name="Imagem 2" descr=""/>
          <p:cNvPicPr/>
          <p:nvPr/>
        </p:nvPicPr>
        <p:blipFill>
          <a:blip r:embed="rId3"/>
          <a:stretch/>
        </p:blipFill>
        <p:spPr>
          <a:xfrm>
            <a:off x="2743200" y="3998520"/>
            <a:ext cx="4113720" cy="217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CustomShape 1"/>
          <p:cNvSpPr/>
          <p:nvPr/>
        </p:nvSpPr>
        <p:spPr>
          <a:xfrm>
            <a:off x="360000" y="360000"/>
            <a:ext cx="9353160" cy="8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CustomShape 2"/>
          <p:cNvSpPr/>
          <p:nvPr/>
        </p:nvSpPr>
        <p:spPr>
          <a:xfrm>
            <a:off x="897120" y="6886080"/>
            <a:ext cx="64404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CustomShape 3"/>
          <p:cNvSpPr/>
          <p:nvPr/>
        </p:nvSpPr>
        <p:spPr>
          <a:xfrm>
            <a:off x="7608600" y="6886080"/>
            <a:ext cx="2278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CaixaDeTexto 1"/>
          <p:cNvSpPr/>
          <p:nvPr/>
        </p:nvSpPr>
        <p:spPr>
          <a:xfrm>
            <a:off x="200160" y="1689840"/>
            <a:ext cx="951300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Vertical and Horizontal Projection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AutoShape 12"/>
          <p:cNvSpPr/>
          <p:nvPr/>
        </p:nvSpPr>
        <p:spPr>
          <a:xfrm>
            <a:off x="4888080" y="3627360"/>
            <a:ext cx="30168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" name="CaixaDeTexto 13"/>
          <p:cNvSpPr/>
          <p:nvPr/>
        </p:nvSpPr>
        <p:spPr>
          <a:xfrm>
            <a:off x="1026000" y="4714200"/>
            <a:ext cx="181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34" name="Picture 6" descr=""/>
          <p:cNvPicPr/>
          <p:nvPr/>
        </p:nvPicPr>
        <p:blipFill>
          <a:blip r:embed="rId1"/>
          <a:stretch/>
        </p:blipFill>
        <p:spPr>
          <a:xfrm>
            <a:off x="592920" y="3590280"/>
            <a:ext cx="4445640" cy="3112200"/>
          </a:xfrm>
          <a:prstGeom prst="rect">
            <a:avLst/>
          </a:prstGeom>
          <a:ln w="0">
            <a:noFill/>
          </a:ln>
        </p:spPr>
      </p:pic>
      <p:pic>
        <p:nvPicPr>
          <p:cNvPr id="335" name="Picture 8" descr=""/>
          <p:cNvPicPr/>
          <p:nvPr/>
        </p:nvPicPr>
        <p:blipFill>
          <a:blip r:embed="rId2"/>
          <a:stretch/>
        </p:blipFill>
        <p:spPr>
          <a:xfrm>
            <a:off x="5267520" y="3627360"/>
            <a:ext cx="4445640" cy="3087720"/>
          </a:xfrm>
          <a:prstGeom prst="rect">
            <a:avLst/>
          </a:prstGeom>
          <a:ln w="0">
            <a:noFill/>
          </a:ln>
        </p:spPr>
      </p:pic>
      <p:pic>
        <p:nvPicPr>
          <p:cNvPr id="336" name="Picture 6" descr=""/>
          <p:cNvPicPr/>
          <p:nvPr/>
        </p:nvPicPr>
        <p:blipFill>
          <a:blip r:embed="rId3"/>
          <a:stretch/>
        </p:blipFill>
        <p:spPr>
          <a:xfrm>
            <a:off x="5486400" y="788400"/>
            <a:ext cx="4183200" cy="2868120"/>
          </a:xfrm>
          <a:prstGeom prst="rect">
            <a:avLst/>
          </a:prstGeom>
          <a:ln w="0">
            <a:noFill/>
          </a:ln>
        </p:spPr>
      </p:pic>
      <p:pic>
        <p:nvPicPr>
          <p:cNvPr id="337" name="Picture 13" descr=""/>
          <p:cNvPicPr/>
          <p:nvPr/>
        </p:nvPicPr>
        <p:blipFill>
          <a:blip r:embed="rId4"/>
          <a:stretch/>
        </p:blipFill>
        <p:spPr>
          <a:xfrm>
            <a:off x="200160" y="2057400"/>
            <a:ext cx="4968720" cy="913320"/>
          </a:xfrm>
          <a:prstGeom prst="rect">
            <a:avLst/>
          </a:prstGeom>
          <a:ln w="0">
            <a:noFill/>
          </a:ln>
        </p:spPr>
      </p:pic>
      <p:sp>
        <p:nvSpPr>
          <p:cNvPr id="338" name="Rectangle 323"/>
          <p:cNvSpPr/>
          <p:nvPr/>
        </p:nvSpPr>
        <p:spPr>
          <a:xfrm>
            <a:off x="5943600" y="788400"/>
            <a:ext cx="255564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f(I,X) = [I.width,I.heigth,X]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CustomShape 13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Edges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CustomShape 14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CustomShape 15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CaixaDeTexto 5"/>
          <p:cNvSpPr/>
          <p:nvPr/>
        </p:nvSpPr>
        <p:spPr>
          <a:xfrm>
            <a:off x="200160" y="1689840"/>
            <a:ext cx="951336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Sobel Filter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3" name="Imagem 9" descr=""/>
          <p:cNvPicPr/>
          <p:nvPr/>
        </p:nvPicPr>
        <p:blipFill>
          <a:blip r:embed="rId1"/>
          <a:stretch/>
        </p:blipFill>
        <p:spPr>
          <a:xfrm>
            <a:off x="3362760" y="2154960"/>
            <a:ext cx="3721680" cy="1759680"/>
          </a:xfrm>
          <a:prstGeom prst="rect">
            <a:avLst/>
          </a:prstGeom>
          <a:ln w="0">
            <a:noFill/>
          </a:ln>
        </p:spPr>
      </p:pic>
      <p:pic>
        <p:nvPicPr>
          <p:cNvPr id="344" name="Imagem 10" descr=""/>
          <p:cNvPicPr/>
          <p:nvPr/>
        </p:nvPicPr>
        <p:blipFill>
          <a:blip r:embed="rId2"/>
          <a:stretch/>
        </p:blipFill>
        <p:spPr>
          <a:xfrm>
            <a:off x="897120" y="4350960"/>
            <a:ext cx="8653320" cy="2374920"/>
          </a:xfrm>
          <a:prstGeom prst="rect">
            <a:avLst/>
          </a:prstGeom>
          <a:ln w="0">
            <a:noFill/>
          </a:ln>
        </p:spPr>
      </p:pic>
      <p:sp>
        <p:nvSpPr>
          <p:cNvPr id="345" name="TextBox 330"/>
          <p:cNvSpPr/>
          <p:nvPr/>
        </p:nvSpPr>
        <p:spPr>
          <a:xfrm>
            <a:off x="3200400" y="1454760"/>
            <a:ext cx="617148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Let’s Code: </a:t>
            </a:r>
            <a:r>
              <a:rPr b="0" lang="en-US" sz="1800" spc="-1" strike="noStrike" u="sng">
                <a:solidFill>
                  <a:srgbClr val="0000ff"/>
                </a:solidFill>
                <a:uFillTx/>
                <a:latin typeface="Arial"/>
                <a:ea typeface="DejaVu Sans"/>
                <a:hlinkClick r:id="rId3"/>
              </a:rPr>
              <a:t>Lecture_05_Image_Descriptors_Edges.ipynb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CustomShape 17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Edges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CustomShape 18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CaixaDeTexto 6"/>
          <p:cNvSpPr/>
          <p:nvPr/>
        </p:nvSpPr>
        <p:spPr>
          <a:xfrm>
            <a:off x="200160" y="1689840"/>
            <a:ext cx="951336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Sobel Filter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9" name="Imagem 13" descr=""/>
          <p:cNvPicPr/>
          <p:nvPr/>
        </p:nvPicPr>
        <p:blipFill>
          <a:blip r:embed="rId1"/>
          <a:stretch/>
        </p:blipFill>
        <p:spPr>
          <a:xfrm>
            <a:off x="1148040" y="3036240"/>
            <a:ext cx="3721680" cy="1759680"/>
          </a:xfrm>
          <a:prstGeom prst="rect">
            <a:avLst/>
          </a:prstGeom>
          <a:ln w="0">
            <a:noFill/>
          </a:ln>
        </p:spPr>
      </p:pic>
      <p:pic>
        <p:nvPicPr>
          <p:cNvPr id="350" name="Imagem 14" descr=""/>
          <p:cNvPicPr/>
          <p:nvPr/>
        </p:nvPicPr>
        <p:blipFill>
          <a:blip r:embed="rId2"/>
          <a:stretch/>
        </p:blipFill>
        <p:spPr>
          <a:xfrm>
            <a:off x="6225480" y="1554480"/>
            <a:ext cx="3041280" cy="5185080"/>
          </a:xfrm>
          <a:prstGeom prst="rect">
            <a:avLst/>
          </a:prstGeom>
          <a:ln w="0">
            <a:noFill/>
          </a:ln>
        </p:spPr>
      </p:pic>
      <p:sp>
        <p:nvSpPr>
          <p:cNvPr id="351" name="CustomShape 19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CustomShape 21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Edges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CustomShape 22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CaixaDeTexto 7"/>
          <p:cNvSpPr/>
          <p:nvPr/>
        </p:nvSpPr>
        <p:spPr>
          <a:xfrm>
            <a:off x="200160" y="1689840"/>
            <a:ext cx="951336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Laplace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5" name="Imagem 15" descr=""/>
          <p:cNvPicPr/>
          <p:nvPr/>
        </p:nvPicPr>
        <p:blipFill>
          <a:blip r:embed="rId1"/>
          <a:stretch/>
        </p:blipFill>
        <p:spPr>
          <a:xfrm>
            <a:off x="614160" y="3474000"/>
            <a:ext cx="1635480" cy="1273680"/>
          </a:xfrm>
          <a:prstGeom prst="rect">
            <a:avLst/>
          </a:prstGeom>
          <a:ln w="0">
            <a:noFill/>
          </a:ln>
        </p:spPr>
      </p:pic>
      <p:pic>
        <p:nvPicPr>
          <p:cNvPr id="356" name="Imagem 16" descr=""/>
          <p:cNvPicPr/>
          <p:nvPr/>
        </p:nvPicPr>
        <p:blipFill>
          <a:blip r:embed="rId2"/>
          <a:stretch/>
        </p:blipFill>
        <p:spPr>
          <a:xfrm>
            <a:off x="5639760" y="1523880"/>
            <a:ext cx="3119400" cy="5173560"/>
          </a:xfrm>
          <a:prstGeom prst="rect">
            <a:avLst/>
          </a:prstGeom>
          <a:ln w="0">
            <a:noFill/>
          </a:ln>
        </p:spPr>
      </p:pic>
      <p:sp>
        <p:nvSpPr>
          <p:cNvPr id="357" name="CustomShape 23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CustomShape 25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Edges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CustomShape 26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CaixaDeTexto 8"/>
          <p:cNvSpPr/>
          <p:nvPr/>
        </p:nvSpPr>
        <p:spPr>
          <a:xfrm>
            <a:off x="200160" y="1689840"/>
            <a:ext cx="9513360" cy="48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Canny </a:t>
            </a:r>
            <a:r>
              <a:rPr b="0" lang="en-US" sz="2000" spc="-1" strike="noStrike">
                <a:solidFill>
                  <a:srgbClr val="000000"/>
                </a:solidFill>
                <a:latin typeface="-apple-system"/>
                <a:ea typeface="DejaVu Sans"/>
              </a:rPr>
              <a:t>(John F. Canny 1986)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-apple-system"/>
                <a:ea typeface="DejaVu Sans"/>
              </a:rPr>
              <a:t>Gaussian Gradient Based Filter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-apple-system"/>
                <a:ea typeface="DejaVu Sans"/>
              </a:rPr>
              <a:t>Gaussian Blur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-apple-system"/>
                <a:ea typeface="DejaVu Sans"/>
              </a:rPr>
              <a:t>Gradient Detection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1" name="Imagem 17" descr=""/>
          <p:cNvPicPr/>
          <p:nvPr/>
        </p:nvPicPr>
        <p:blipFill>
          <a:blip r:embed="rId1"/>
          <a:stretch/>
        </p:blipFill>
        <p:spPr>
          <a:xfrm>
            <a:off x="1143000" y="3886200"/>
            <a:ext cx="4142520" cy="1989720"/>
          </a:xfrm>
          <a:prstGeom prst="rect">
            <a:avLst/>
          </a:prstGeom>
          <a:ln w="0">
            <a:noFill/>
          </a:ln>
        </p:spPr>
      </p:pic>
      <p:pic>
        <p:nvPicPr>
          <p:cNvPr id="362" name="Imagem 18" descr=""/>
          <p:cNvPicPr/>
          <p:nvPr/>
        </p:nvPicPr>
        <p:blipFill>
          <a:blip r:embed="rId2"/>
          <a:stretch/>
        </p:blipFill>
        <p:spPr>
          <a:xfrm>
            <a:off x="6305760" y="1532880"/>
            <a:ext cx="3160440" cy="5256720"/>
          </a:xfrm>
          <a:prstGeom prst="rect">
            <a:avLst/>
          </a:prstGeom>
          <a:ln w="0">
            <a:noFill/>
          </a:ln>
        </p:spPr>
      </p:pic>
      <p:sp>
        <p:nvSpPr>
          <p:cNvPr id="363" name="CustomShape 27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CustomShape 29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Edges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CustomShape 30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CaixaDeTexto 9"/>
          <p:cNvSpPr/>
          <p:nvPr/>
        </p:nvSpPr>
        <p:spPr>
          <a:xfrm>
            <a:off x="200160" y="1689840"/>
            <a:ext cx="951336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7" name="Imagem 20" descr=""/>
          <p:cNvPicPr/>
          <p:nvPr/>
        </p:nvPicPr>
        <p:blipFill>
          <a:blip r:embed="rId1"/>
          <a:stretch/>
        </p:blipFill>
        <p:spPr>
          <a:xfrm>
            <a:off x="2001960" y="1542960"/>
            <a:ext cx="6295680" cy="5053680"/>
          </a:xfrm>
          <a:prstGeom prst="rect">
            <a:avLst/>
          </a:prstGeom>
          <a:ln w="0">
            <a:noFill/>
          </a:ln>
        </p:spPr>
      </p:pic>
      <p:sp>
        <p:nvSpPr>
          <p:cNvPr id="368" name="CustomShape 31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CustomShape 33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Edges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CustomShape 34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CaixaDeTexto 10"/>
          <p:cNvSpPr/>
          <p:nvPr/>
        </p:nvSpPr>
        <p:spPr>
          <a:xfrm>
            <a:off x="200160" y="1689840"/>
            <a:ext cx="951336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2" name="Imagem 21" descr=""/>
          <p:cNvPicPr/>
          <p:nvPr/>
        </p:nvPicPr>
        <p:blipFill>
          <a:blip r:embed="rId1"/>
          <a:stretch/>
        </p:blipFill>
        <p:spPr>
          <a:xfrm>
            <a:off x="614880" y="1829160"/>
            <a:ext cx="8683920" cy="2239200"/>
          </a:xfrm>
          <a:prstGeom prst="rect">
            <a:avLst/>
          </a:prstGeom>
          <a:ln w="0">
            <a:noFill/>
          </a:ln>
        </p:spPr>
      </p:pic>
      <p:pic>
        <p:nvPicPr>
          <p:cNvPr id="373" name="Imagem 22" descr=""/>
          <p:cNvPicPr/>
          <p:nvPr/>
        </p:nvPicPr>
        <p:blipFill>
          <a:blip r:embed="rId2"/>
          <a:stretch/>
        </p:blipFill>
        <p:spPr>
          <a:xfrm>
            <a:off x="614880" y="4563720"/>
            <a:ext cx="8683920" cy="1163880"/>
          </a:xfrm>
          <a:prstGeom prst="rect">
            <a:avLst/>
          </a:prstGeom>
          <a:ln w="0">
            <a:noFill/>
          </a:ln>
        </p:spPr>
      </p:pic>
      <p:sp>
        <p:nvSpPr>
          <p:cNvPr id="374" name="CustomShape 35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Box 360"/>
          <p:cNvSpPr/>
          <p:nvPr/>
        </p:nvSpPr>
        <p:spPr>
          <a:xfrm>
            <a:off x="2057400" y="5943600"/>
            <a:ext cx="617148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Let’s Code: </a:t>
            </a:r>
            <a:r>
              <a:rPr b="0" lang="en-US" sz="1800" spc="-1" strike="noStrike" u="sng">
                <a:solidFill>
                  <a:srgbClr val="0000ff"/>
                </a:solidFill>
                <a:uFillTx/>
                <a:latin typeface="Arial"/>
                <a:ea typeface="DejaVu Sans"/>
                <a:hlinkClick r:id="rId3"/>
              </a:rPr>
              <a:t>Lecture_05_Image_Descriptors_Edges.ipynb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CustomShape 37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Shape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CustomShape 38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CustomShape 39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CaixaDeTexto 11"/>
          <p:cNvSpPr/>
          <p:nvPr/>
        </p:nvSpPr>
        <p:spPr>
          <a:xfrm>
            <a:off x="200160" y="1689840"/>
            <a:ext cx="9513360" cy="25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Moments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Inter"/>
                <a:ea typeface="DejaVu Sans"/>
              </a:rPr>
              <a:t>Values that carry both spatial and intensity information (shape)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Weighted average of all pixel's intensities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I(x,y) </a:t>
            </a:r>
            <a:r>
              <a:rPr b="0" lang="en-US" sz="1800" spc="-1" strike="noStrike">
                <a:solidFill>
                  <a:srgbClr val="000000"/>
                </a:solidFill>
                <a:latin typeface="Wingdings"/>
                <a:ea typeface="DejaVu Sans"/>
              </a:rPr>
              <a:t>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 pixel coordinates of input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Powers, </a:t>
            </a:r>
            <a:r>
              <a:rPr b="0" i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 and </a:t>
            </a:r>
            <a:r>
              <a:rPr b="0" i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q, </a:t>
            </a:r>
            <a:r>
              <a:rPr b="0" lang="en-US" sz="1800" spc="-1" strike="noStrike">
                <a:solidFill>
                  <a:srgbClr val="000000"/>
                </a:solidFill>
                <a:latin typeface="Inter"/>
                <a:ea typeface="DejaVu Sans"/>
              </a:rPr>
              <a:t>are the weights of the horizontal and vertical dimensions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HuMoments (Hu 1962)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Translation and Scale Invariant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0" name="Imagem 23" descr=""/>
          <p:cNvPicPr/>
          <p:nvPr/>
        </p:nvPicPr>
        <p:blipFill>
          <a:blip r:embed="rId1"/>
          <a:stretch/>
        </p:blipFill>
        <p:spPr>
          <a:xfrm>
            <a:off x="897120" y="4313520"/>
            <a:ext cx="7721280" cy="2228400"/>
          </a:xfrm>
          <a:prstGeom prst="rect">
            <a:avLst/>
          </a:prstGeom>
          <a:ln w="0">
            <a:noFill/>
          </a:ln>
        </p:spPr>
      </p:pic>
      <p:pic>
        <p:nvPicPr>
          <p:cNvPr id="381" name="Imagem 24" descr=""/>
          <p:cNvPicPr/>
          <p:nvPr/>
        </p:nvPicPr>
        <p:blipFill>
          <a:blip r:embed="rId2"/>
          <a:stretch/>
        </p:blipFill>
        <p:spPr>
          <a:xfrm>
            <a:off x="6025680" y="4028400"/>
            <a:ext cx="2446920" cy="635760"/>
          </a:xfrm>
          <a:prstGeom prst="rect">
            <a:avLst/>
          </a:prstGeom>
          <a:ln w="0">
            <a:noFill/>
          </a:ln>
        </p:spPr>
      </p:pic>
      <p:sp>
        <p:nvSpPr>
          <p:cNvPr id="382" name="TextBox 368"/>
          <p:cNvSpPr/>
          <p:nvPr/>
        </p:nvSpPr>
        <p:spPr>
          <a:xfrm>
            <a:off x="2216880" y="1371600"/>
            <a:ext cx="74966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Let’s Code: </a:t>
            </a:r>
            <a:r>
              <a:rPr b="0" lang="en-US" sz="1800" spc="-1" strike="noStrike" u="sng">
                <a:solidFill>
                  <a:srgbClr val="0000ff"/>
                </a:solidFill>
                <a:uFillTx/>
                <a:latin typeface="Arial"/>
                <a:ea typeface="DejaVu Sans"/>
                <a:hlinkClick r:id="rId3"/>
              </a:rPr>
              <a:t>Lecture_05_Image_Descriptors_Texture_and_Others.ipynb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CustomShape 41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Shape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CustomShape 42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CustomShape 43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CaixaDeTexto 12"/>
          <p:cNvSpPr/>
          <p:nvPr/>
        </p:nvSpPr>
        <p:spPr>
          <a:xfrm>
            <a:off x="200160" y="1742760"/>
            <a:ext cx="951336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HoG – Histogram of Oriented Gradients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Inter"/>
                <a:ea typeface="DejaVu Sans"/>
              </a:rPr>
              <a:t>Computes the gradient and orientation of edges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Inter"/>
                <a:ea typeface="DejaVu Sans"/>
              </a:rPr>
              <a:t>Use a kernel to compute the Gradients (i.e 9x1)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Inter"/>
                <a:ea typeface="DejaVu Sans"/>
              </a:rPr>
              <a:t>Patch-Based Histogram (8x8, 16x16..)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7" name="Picture 5" descr="hog_feature"/>
          <p:cNvPicPr/>
          <p:nvPr/>
        </p:nvPicPr>
        <p:blipFill>
          <a:blip r:embed="rId1"/>
          <a:stretch/>
        </p:blipFill>
        <p:spPr>
          <a:xfrm>
            <a:off x="1737720" y="3024360"/>
            <a:ext cx="1976400" cy="3241440"/>
          </a:xfrm>
          <a:prstGeom prst="rect">
            <a:avLst/>
          </a:prstGeom>
          <a:ln w="0">
            <a:noFill/>
          </a:ln>
        </p:spPr>
      </p:pic>
      <p:pic>
        <p:nvPicPr>
          <p:cNvPr id="388" name="Imagem 25" descr=""/>
          <p:cNvPicPr/>
          <p:nvPr/>
        </p:nvPicPr>
        <p:blipFill>
          <a:blip r:embed="rId2"/>
          <a:stretch/>
        </p:blipFill>
        <p:spPr>
          <a:xfrm>
            <a:off x="5707080" y="3112200"/>
            <a:ext cx="1557720" cy="3066120"/>
          </a:xfrm>
          <a:prstGeom prst="rect">
            <a:avLst/>
          </a:prstGeom>
          <a:ln w="0">
            <a:noFill/>
          </a:ln>
        </p:spPr>
      </p:pic>
      <p:sp>
        <p:nvSpPr>
          <p:cNvPr id="389" name="Seta: para a Direita 2"/>
          <p:cNvSpPr/>
          <p:nvPr/>
        </p:nvSpPr>
        <p:spPr>
          <a:xfrm>
            <a:off x="4119120" y="4339800"/>
            <a:ext cx="1132920" cy="3585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CustomShape 45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Texture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CustomShape 46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CustomShape 47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CaixaDeTexto 14"/>
          <p:cNvSpPr/>
          <p:nvPr/>
        </p:nvSpPr>
        <p:spPr>
          <a:xfrm>
            <a:off x="200160" y="1742760"/>
            <a:ext cx="95133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Gabor Filters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Inter"/>
                <a:ea typeface="DejaVu Sans"/>
              </a:rPr>
              <a:t>Convolves the image using several Gaussian Kernels (Kernel Bank)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4" name="Picture 1" descr=""/>
          <p:cNvPicPr/>
          <p:nvPr/>
        </p:nvPicPr>
        <p:blipFill>
          <a:blip r:embed="rId1"/>
          <a:stretch/>
        </p:blipFill>
        <p:spPr>
          <a:xfrm>
            <a:off x="360000" y="2963520"/>
            <a:ext cx="3665880" cy="3665880"/>
          </a:xfrm>
          <a:prstGeom prst="rect">
            <a:avLst/>
          </a:prstGeom>
          <a:ln w="0">
            <a:noFill/>
          </a:ln>
        </p:spPr>
      </p:pic>
      <p:pic>
        <p:nvPicPr>
          <p:cNvPr id="395" name="Picture 9" descr=""/>
          <p:cNvPicPr/>
          <p:nvPr/>
        </p:nvPicPr>
        <p:blipFill>
          <a:blip r:embed="rId2"/>
          <a:stretch/>
        </p:blipFill>
        <p:spPr>
          <a:xfrm>
            <a:off x="6047640" y="2963520"/>
            <a:ext cx="3665880" cy="3665880"/>
          </a:xfrm>
          <a:prstGeom prst="rect">
            <a:avLst/>
          </a:prstGeom>
          <a:ln w="0">
            <a:noFill/>
          </a:ln>
        </p:spPr>
      </p:pic>
      <p:pic>
        <p:nvPicPr>
          <p:cNvPr id="396" name="Picture 11" descr=""/>
          <p:cNvPicPr/>
          <p:nvPr/>
        </p:nvPicPr>
        <p:blipFill>
          <a:blip r:embed="rId3"/>
          <a:stretch/>
        </p:blipFill>
        <p:spPr>
          <a:xfrm>
            <a:off x="4276080" y="4191840"/>
            <a:ext cx="1525320" cy="1015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CustomShape 49"/>
          <p:cNvSpPr/>
          <p:nvPr/>
        </p:nvSpPr>
        <p:spPr>
          <a:xfrm>
            <a:off x="360000" y="360000"/>
            <a:ext cx="935352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Descriptors – Texture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CustomShape 50"/>
          <p:cNvSpPr/>
          <p:nvPr/>
        </p:nvSpPr>
        <p:spPr>
          <a:xfrm>
            <a:off x="897120" y="6886080"/>
            <a:ext cx="64407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CustomShape 51"/>
          <p:cNvSpPr/>
          <p:nvPr/>
        </p:nvSpPr>
        <p:spPr>
          <a:xfrm>
            <a:off x="7608600" y="6886080"/>
            <a:ext cx="2278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CaixaDeTexto 15"/>
          <p:cNvSpPr/>
          <p:nvPr/>
        </p:nvSpPr>
        <p:spPr>
          <a:xfrm>
            <a:off x="228600" y="1371600"/>
            <a:ext cx="95133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Local Binary Patterns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Inter"/>
                <a:ea typeface="DejaVu Sans"/>
              </a:rPr>
              <a:t>Convolves the image using a Circular Kernel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Inter"/>
                <a:ea typeface="DejaVu Sans"/>
              </a:rPr>
              <a:t>The resulting pixel is computed in the binary neighborhood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1" name="Picture 7" descr=""/>
          <p:cNvPicPr/>
          <p:nvPr/>
        </p:nvPicPr>
        <p:blipFill>
          <a:blip r:embed="rId1"/>
          <a:stretch/>
        </p:blipFill>
        <p:spPr>
          <a:xfrm>
            <a:off x="7544520" y="1742760"/>
            <a:ext cx="2284560" cy="752760"/>
          </a:xfrm>
          <a:prstGeom prst="rect">
            <a:avLst/>
          </a:prstGeom>
          <a:ln w="0">
            <a:noFill/>
          </a:ln>
        </p:spPr>
      </p:pic>
      <p:pic>
        <p:nvPicPr>
          <p:cNvPr id="402" name="Imagem 26" descr=""/>
          <p:cNvPicPr/>
          <p:nvPr/>
        </p:nvPicPr>
        <p:blipFill>
          <a:blip r:embed="rId2"/>
          <a:stretch/>
        </p:blipFill>
        <p:spPr>
          <a:xfrm>
            <a:off x="566640" y="2347200"/>
            <a:ext cx="7205040" cy="3595680"/>
          </a:xfrm>
          <a:prstGeom prst="rect">
            <a:avLst/>
          </a:prstGeom>
          <a:ln w="0">
            <a:noFill/>
          </a:ln>
        </p:spPr>
      </p:pic>
      <p:sp>
        <p:nvSpPr>
          <p:cNvPr id="403" name="TextBox 389"/>
          <p:cNvSpPr/>
          <p:nvPr/>
        </p:nvSpPr>
        <p:spPr>
          <a:xfrm>
            <a:off x="1875240" y="6172200"/>
            <a:ext cx="74966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Let’s Code: </a:t>
            </a:r>
            <a:r>
              <a:rPr b="0" lang="en-US" sz="1800" spc="-1" strike="noStrike" u="sng">
                <a:solidFill>
                  <a:srgbClr val="0000ff"/>
                </a:solidFill>
                <a:uFillTx/>
                <a:latin typeface="Arial"/>
                <a:ea typeface="DejaVu Sans"/>
                <a:hlinkClick r:id="rId3"/>
              </a:rPr>
              <a:t>Lecture_05_Image_Descriptors_Texture_and_Others.ipynb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4759</TotalTime>
  <Application>LibreOffice/24.2.7.2$Linux_X86_64 LibreOffice_project/420$Build-2</Application>
  <AppVersion>15.0000</AppVersion>
  <Words>932</Words>
  <Paragraphs>256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2021-04-28T18:38:02Z</dcterms:created>
  <dc:creator/>
  <dc:description/>
  <dc:language>en-US</dc:language>
  <cp:lastModifiedBy/>
  <dcterms:modified xsi:type="dcterms:W3CDTF">2026-09-04T16:31:44Z</dcterms:modified>
  <cp:revision>142</cp:revision>
  <dc:subject/>
  <dc:title>Alizarin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KSOProductBuildVer">
    <vt:lpwstr>1033-11.1.0.10161</vt:lpwstr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26</vt:i4>
  </property>
  <property fmtid="{D5CDD505-2E9C-101B-9397-08002B2CF9AE}" pid="8" name="PresentationFormat">
    <vt:lpwstr>Custom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26</vt:i4>
  </property>
</Properties>
</file>