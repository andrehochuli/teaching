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19.xml.rels" ContentType="application/vnd.openxmlformats-package.relationships+xml"/>
  <Override PartName="/ppt/slideMasters/slideMaster14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11.xml" ContentType="application/vnd.openxmlformats-officedocument.theme+xml"/>
  <Override PartName="/ppt/theme/theme1.xml" ContentType="application/vnd.openxmlformats-officedocument.theme+xml"/>
  <Override PartName="/ppt/theme/theme26.xml" ContentType="application/vnd.openxmlformats-officedocument.theme+xml"/>
  <Override PartName="/ppt/theme/theme14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png" ContentType="image/png"/>
  <Override PartName="/ppt/media/image4.png" ContentType="image/png"/>
  <Override PartName="/ppt/media/image9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8.png" ContentType="image/png"/>
  <Override PartName="/ppt/media/image17.png" ContentType="image/png"/>
  <Override PartName="/ppt/media/image23.png" ContentType="image/png"/>
  <Override PartName="/ppt/media/image22.png" ContentType="image/png"/>
  <Override PartName="/ppt/media/image6.png" ContentType="image/png"/>
  <Override PartName="/ppt/media/image21.png" ContentType="image/png"/>
  <Override PartName="/ppt/media/image19.png" ContentType="image/png"/>
  <Override PartName="/ppt/media/image5.png" ContentType="image/png"/>
  <Override PartName="/ppt/media/media18.mp4" ContentType="video/mp4"/>
  <Override PartName="/ppt/media/image14.png" ContentType="image/png"/>
  <Override PartName="/ppt/media/image10.png" ContentType="image/png"/>
  <Override PartName="/ppt/media/image1.png" ContentType="image/png"/>
  <Override PartName="/ppt/media/image11.png" ContentType="image/png"/>
  <Override PartName="/ppt/media/image2.png" ContentType="image/png"/>
  <Override PartName="/ppt/media/media15.mp4" ContentType="video/mp4"/>
  <Override PartName="/ppt/media/image7.png" ContentType="image/png"/>
  <Override PartName="/ppt/media/image16.png" ContentType="image/png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5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.xml.rels" ContentType="application/vnd.openxmlformats-package.relationship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</p:sldMasterIdLst>
  <p:notesMasterIdLst>
    <p:notesMasterId r:id="rId27"/>
  </p:notesMasterIdLst>
  <p:sldIdLst>
    <p:sldId id="256" r:id="rId28"/>
    <p:sldId id="257" r:id="rId29"/>
    <p:sldId id="258" r:id="rId30"/>
    <p:sldId id="259" r:id="rId31"/>
    <p:sldId id="260" r:id="rId32"/>
    <p:sldId id="261" r:id="rId33"/>
    <p:sldId id="262" r:id="rId34"/>
    <p:sldId id="263" r:id="rId35"/>
    <p:sldId id="264" r:id="rId36"/>
    <p:sldId id="265" r:id="rId37"/>
    <p:sldId id="266" r:id="rId38"/>
    <p:sldId id="267" r:id="rId39"/>
    <p:sldId id="268" r:id="rId40"/>
    <p:sldId id="269" r:id="rId41"/>
    <p:sldId id="270" r:id="rId42"/>
    <p:sldId id="271" r:id="rId43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notesMaster" Target="notesMasters/notesMaster1.xml"/><Relationship Id="rId28" Type="http://schemas.openxmlformats.org/officeDocument/2006/relationships/slide" Target="slides/slide1.xml"/><Relationship Id="rId29" Type="http://schemas.openxmlformats.org/officeDocument/2006/relationships/slide" Target="slides/slide2.xml"/><Relationship Id="rId30" Type="http://schemas.openxmlformats.org/officeDocument/2006/relationships/slide" Target="slides/slide3.xml"/><Relationship Id="rId31" Type="http://schemas.openxmlformats.org/officeDocument/2006/relationships/slide" Target="slides/slide4.xml"/><Relationship Id="rId32" Type="http://schemas.openxmlformats.org/officeDocument/2006/relationships/slide" Target="slides/slide5.xml"/><Relationship Id="rId33" Type="http://schemas.openxmlformats.org/officeDocument/2006/relationships/slide" Target="slides/slide6.xml"/><Relationship Id="rId34" Type="http://schemas.openxmlformats.org/officeDocument/2006/relationships/slide" Target="slides/slide7.xml"/><Relationship Id="rId35" Type="http://schemas.openxmlformats.org/officeDocument/2006/relationships/slide" Target="slides/slide8.xml"/><Relationship Id="rId36" Type="http://schemas.openxmlformats.org/officeDocument/2006/relationships/slide" Target="slides/slide9.xml"/><Relationship Id="rId37" Type="http://schemas.openxmlformats.org/officeDocument/2006/relationships/slide" Target="slides/slide10.xml"/><Relationship Id="rId38" Type="http://schemas.openxmlformats.org/officeDocument/2006/relationships/slide" Target="slides/slide11.xml"/><Relationship Id="rId39" Type="http://schemas.openxmlformats.org/officeDocument/2006/relationships/slide" Target="slides/slide12.xml"/><Relationship Id="rId40" Type="http://schemas.openxmlformats.org/officeDocument/2006/relationships/slide" Target="slides/slide13.xml"/><Relationship Id="rId41" Type="http://schemas.openxmlformats.org/officeDocument/2006/relationships/slide" Target="slides/slide14.xml"/><Relationship Id="rId42" Type="http://schemas.openxmlformats.org/officeDocument/2006/relationships/slide" Target="slides/slide15.xml"/><Relationship Id="rId43" Type="http://schemas.openxmlformats.org/officeDocument/2006/relationships/slide" Target="slides/slide16.xml"/><Relationship Id="rId4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6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move the slide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6A21404-21E6-4850-8733-D384E6051DD5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2760" cy="360252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2960" cy="420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CustomShape 7"/>
          <p:cNvSpPr/>
          <p:nvPr/>
        </p:nvSpPr>
        <p:spPr>
          <a:xfrm>
            <a:off x="0" y="10155240"/>
            <a:ext cx="327132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3480" cy="360324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2960" cy="420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CustomShape 8"/>
          <p:cNvSpPr/>
          <p:nvPr/>
        </p:nvSpPr>
        <p:spPr>
          <a:xfrm>
            <a:off x="0" y="10155240"/>
            <a:ext cx="327132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2760" cy="360252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2960" cy="420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CustomShape 31"/>
          <p:cNvSpPr/>
          <p:nvPr/>
        </p:nvSpPr>
        <p:spPr>
          <a:xfrm>
            <a:off x="0" y="10155240"/>
            <a:ext cx="327132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2760" cy="360252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2960" cy="420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CustomShape 35"/>
          <p:cNvSpPr/>
          <p:nvPr/>
        </p:nvSpPr>
        <p:spPr>
          <a:xfrm>
            <a:off x="0" y="10155240"/>
            <a:ext cx="327132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2760" cy="360252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2960" cy="420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CustomShape 39"/>
          <p:cNvSpPr/>
          <p:nvPr/>
        </p:nvSpPr>
        <p:spPr>
          <a:xfrm>
            <a:off x="0" y="10155240"/>
            <a:ext cx="327132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2760" cy="360252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2960" cy="420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CustomShape 43"/>
          <p:cNvSpPr/>
          <p:nvPr/>
        </p:nvSpPr>
        <p:spPr>
          <a:xfrm>
            <a:off x="0" y="10155240"/>
            <a:ext cx="327132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2760" cy="360252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2960" cy="420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CustomShape 47"/>
          <p:cNvSpPr/>
          <p:nvPr/>
        </p:nvSpPr>
        <p:spPr>
          <a:xfrm>
            <a:off x="0" y="10155240"/>
            <a:ext cx="327132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2760" cy="360252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2960" cy="420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CustomShape 51"/>
          <p:cNvSpPr/>
          <p:nvPr/>
        </p:nvSpPr>
        <p:spPr>
          <a:xfrm>
            <a:off x="0" y="10155240"/>
            <a:ext cx="327132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802760" cy="360252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42960" cy="420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CustomShape 55"/>
          <p:cNvSpPr/>
          <p:nvPr/>
        </p:nvSpPr>
        <p:spPr>
          <a:xfrm>
            <a:off x="0" y="10155240"/>
            <a:ext cx="327132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5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5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87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BR" sz="2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 Slide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0" y="3150000"/>
            <a:ext cx="9715320" cy="12553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2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20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20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20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20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20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20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20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2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stomShape 1"/>
          <p:cNvSpPr/>
          <p:nvPr/>
        </p:nvSpPr>
        <p:spPr>
          <a:xfrm>
            <a:off x="0" y="3150000"/>
            <a:ext cx="9715320" cy="12553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ustomShape 1"/>
          <p:cNvSpPr/>
          <p:nvPr/>
        </p:nvSpPr>
        <p:spPr>
          <a:xfrm>
            <a:off x="0" y="3150000"/>
            <a:ext cx="9715320" cy="12553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ustomShape 1"/>
          <p:cNvSpPr/>
          <p:nvPr/>
        </p:nvSpPr>
        <p:spPr>
          <a:xfrm>
            <a:off x="0" y="3150000"/>
            <a:ext cx="9715320" cy="12553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3571560" y="176868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639120" y="176868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body"/>
          </p:nvPr>
        </p:nvSpPr>
        <p:spPr>
          <a:xfrm>
            <a:off x="504000" y="405864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body"/>
          </p:nvPr>
        </p:nvSpPr>
        <p:spPr>
          <a:xfrm>
            <a:off x="3571560" y="405864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8" name="PlaceHolder 7"/>
          <p:cNvSpPr>
            <a:spLocks noGrp="1"/>
          </p:cNvSpPr>
          <p:nvPr>
            <p:ph type="body"/>
          </p:nvPr>
        </p:nvSpPr>
        <p:spPr>
          <a:xfrm>
            <a:off x="6639120" y="405864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ustomShape 1"/>
          <p:cNvSpPr/>
          <p:nvPr/>
        </p:nvSpPr>
        <p:spPr>
          <a:xfrm>
            <a:off x="0" y="3150000"/>
            <a:ext cx="9715320" cy="12553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CustomShape 1"/>
          <p:cNvSpPr/>
          <p:nvPr/>
        </p:nvSpPr>
        <p:spPr>
          <a:xfrm>
            <a:off x="0" y="3150000"/>
            <a:ext cx="9715320" cy="12553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ustomShape 1"/>
          <p:cNvSpPr/>
          <p:nvPr/>
        </p:nvSpPr>
        <p:spPr>
          <a:xfrm>
            <a:off x="0" y="3150000"/>
            <a:ext cx="9715320" cy="12553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CustomShape 1"/>
          <p:cNvSpPr/>
          <p:nvPr/>
        </p:nvSpPr>
        <p:spPr>
          <a:xfrm>
            <a:off x="0" y="3150000"/>
            <a:ext cx="9715320" cy="12553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CustomShape 1"/>
          <p:cNvSpPr/>
          <p:nvPr/>
        </p:nvSpPr>
        <p:spPr>
          <a:xfrm>
            <a:off x="0" y="3150000"/>
            <a:ext cx="9715320" cy="12553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CustomShape 1"/>
          <p:cNvSpPr/>
          <p:nvPr/>
        </p:nvSpPr>
        <p:spPr>
          <a:xfrm>
            <a:off x="0" y="3150000"/>
            <a:ext cx="9715320" cy="12553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CustomShape 1"/>
          <p:cNvSpPr/>
          <p:nvPr/>
        </p:nvSpPr>
        <p:spPr>
          <a:xfrm>
            <a:off x="0" y="3150000"/>
            <a:ext cx="9715320" cy="12553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CustomShape 1"/>
          <p:cNvSpPr/>
          <p:nvPr/>
        </p:nvSpPr>
        <p:spPr>
          <a:xfrm>
            <a:off x="0" y="3150000"/>
            <a:ext cx="9715320" cy="12553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0" y="180000"/>
            <a:ext cx="9715320" cy="1255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CustomShape 2"/>
          <p:cNvSpPr/>
          <p:nvPr/>
        </p:nvSpPr>
        <p:spPr>
          <a:xfrm>
            <a:off x="7560000" y="6840000"/>
            <a:ext cx="2515320" cy="535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CustomShape 3"/>
          <p:cNvSpPr/>
          <p:nvPr/>
        </p:nvSpPr>
        <p:spPr>
          <a:xfrm>
            <a:off x="900000" y="6840000"/>
            <a:ext cx="6475320" cy="5353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CustomShape 4"/>
          <p:cNvSpPr/>
          <p:nvPr/>
        </p:nvSpPr>
        <p:spPr>
          <a:xfrm>
            <a:off x="180000" y="6840000"/>
            <a:ext cx="535320" cy="5353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2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20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20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20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20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20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20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20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2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0" y="180000"/>
            <a:ext cx="9715320" cy="1255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7560000" y="6840000"/>
            <a:ext cx="2515320" cy="535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CustomShape 3"/>
          <p:cNvSpPr/>
          <p:nvPr/>
        </p:nvSpPr>
        <p:spPr>
          <a:xfrm>
            <a:off x="900000" y="6840000"/>
            <a:ext cx="6475320" cy="5353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CustomShape 4"/>
          <p:cNvSpPr/>
          <p:nvPr/>
        </p:nvSpPr>
        <p:spPr>
          <a:xfrm>
            <a:off x="180000" y="6840000"/>
            <a:ext cx="535320" cy="5353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CustomShape 1"/>
          <p:cNvSpPr/>
          <p:nvPr/>
        </p:nvSpPr>
        <p:spPr>
          <a:xfrm>
            <a:off x="0" y="180000"/>
            <a:ext cx="9715320" cy="1255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CustomShape 2"/>
          <p:cNvSpPr/>
          <p:nvPr/>
        </p:nvSpPr>
        <p:spPr>
          <a:xfrm>
            <a:off x="7560000" y="6840000"/>
            <a:ext cx="2515320" cy="535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CustomShape 3"/>
          <p:cNvSpPr/>
          <p:nvPr/>
        </p:nvSpPr>
        <p:spPr>
          <a:xfrm>
            <a:off x="900000" y="6840000"/>
            <a:ext cx="6475320" cy="5353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CustomShape 4"/>
          <p:cNvSpPr/>
          <p:nvPr/>
        </p:nvSpPr>
        <p:spPr>
          <a:xfrm>
            <a:off x="180000" y="6840000"/>
            <a:ext cx="535320" cy="5353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0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ustomShape 1"/>
          <p:cNvSpPr/>
          <p:nvPr/>
        </p:nvSpPr>
        <p:spPr>
          <a:xfrm>
            <a:off x="0" y="180000"/>
            <a:ext cx="9715320" cy="1255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CustomShape 2"/>
          <p:cNvSpPr/>
          <p:nvPr/>
        </p:nvSpPr>
        <p:spPr>
          <a:xfrm>
            <a:off x="7560000" y="6840000"/>
            <a:ext cx="2515320" cy="535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CustomShape 3"/>
          <p:cNvSpPr/>
          <p:nvPr/>
        </p:nvSpPr>
        <p:spPr>
          <a:xfrm>
            <a:off x="900000" y="6840000"/>
            <a:ext cx="6475320" cy="5353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CustomShape 4"/>
          <p:cNvSpPr/>
          <p:nvPr/>
        </p:nvSpPr>
        <p:spPr>
          <a:xfrm>
            <a:off x="180000" y="6840000"/>
            <a:ext cx="535320" cy="5353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3571560" y="176868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body"/>
          </p:nvPr>
        </p:nvSpPr>
        <p:spPr>
          <a:xfrm>
            <a:off x="6639120" y="176868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 type="body"/>
          </p:nvPr>
        </p:nvSpPr>
        <p:spPr>
          <a:xfrm>
            <a:off x="504000" y="405864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5" name="PlaceHolder 6"/>
          <p:cNvSpPr>
            <a:spLocks noGrp="1"/>
          </p:cNvSpPr>
          <p:nvPr>
            <p:ph type="body"/>
          </p:nvPr>
        </p:nvSpPr>
        <p:spPr>
          <a:xfrm>
            <a:off x="3571560" y="405864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6" name="PlaceHolder 7"/>
          <p:cNvSpPr>
            <a:spLocks noGrp="1"/>
          </p:cNvSpPr>
          <p:nvPr>
            <p:ph type="body"/>
          </p:nvPr>
        </p:nvSpPr>
        <p:spPr>
          <a:xfrm>
            <a:off x="6639120" y="405864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0" y="180000"/>
            <a:ext cx="9715320" cy="1255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CustomShape 2"/>
          <p:cNvSpPr/>
          <p:nvPr/>
        </p:nvSpPr>
        <p:spPr>
          <a:xfrm>
            <a:off x="7560000" y="6840000"/>
            <a:ext cx="2515320" cy="535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CustomShape 3"/>
          <p:cNvSpPr/>
          <p:nvPr/>
        </p:nvSpPr>
        <p:spPr>
          <a:xfrm>
            <a:off x="900000" y="6840000"/>
            <a:ext cx="6475320" cy="5353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CustomShape 4"/>
          <p:cNvSpPr/>
          <p:nvPr/>
        </p:nvSpPr>
        <p:spPr>
          <a:xfrm>
            <a:off x="180000" y="6840000"/>
            <a:ext cx="535320" cy="5353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CustomShape 1"/>
          <p:cNvSpPr/>
          <p:nvPr/>
        </p:nvSpPr>
        <p:spPr>
          <a:xfrm>
            <a:off x="0" y="180000"/>
            <a:ext cx="9715320" cy="1255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CustomShape 2"/>
          <p:cNvSpPr/>
          <p:nvPr/>
        </p:nvSpPr>
        <p:spPr>
          <a:xfrm>
            <a:off x="7560000" y="6840000"/>
            <a:ext cx="2515320" cy="535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CustomShape 3"/>
          <p:cNvSpPr/>
          <p:nvPr/>
        </p:nvSpPr>
        <p:spPr>
          <a:xfrm>
            <a:off x="900000" y="6840000"/>
            <a:ext cx="6475320" cy="5353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CustomShape 4"/>
          <p:cNvSpPr/>
          <p:nvPr/>
        </p:nvSpPr>
        <p:spPr>
          <a:xfrm>
            <a:off x="180000" y="6840000"/>
            <a:ext cx="535320" cy="5353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CustomShape 1"/>
          <p:cNvSpPr/>
          <p:nvPr/>
        </p:nvSpPr>
        <p:spPr>
          <a:xfrm>
            <a:off x="0" y="180000"/>
            <a:ext cx="9715320" cy="1255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CustomShape 2"/>
          <p:cNvSpPr/>
          <p:nvPr/>
        </p:nvSpPr>
        <p:spPr>
          <a:xfrm>
            <a:off x="7560000" y="6840000"/>
            <a:ext cx="2515320" cy="535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CustomShape 3"/>
          <p:cNvSpPr/>
          <p:nvPr/>
        </p:nvSpPr>
        <p:spPr>
          <a:xfrm>
            <a:off x="900000" y="6840000"/>
            <a:ext cx="6475320" cy="5353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CustomShape 4"/>
          <p:cNvSpPr/>
          <p:nvPr/>
        </p:nvSpPr>
        <p:spPr>
          <a:xfrm>
            <a:off x="180000" y="6840000"/>
            <a:ext cx="535320" cy="5353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CustomShape 1"/>
          <p:cNvSpPr/>
          <p:nvPr/>
        </p:nvSpPr>
        <p:spPr>
          <a:xfrm>
            <a:off x="0" y="180000"/>
            <a:ext cx="9715320" cy="1255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CustomShape 2"/>
          <p:cNvSpPr/>
          <p:nvPr/>
        </p:nvSpPr>
        <p:spPr>
          <a:xfrm>
            <a:off x="7560000" y="6840000"/>
            <a:ext cx="2515320" cy="535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CustomShape 3"/>
          <p:cNvSpPr/>
          <p:nvPr/>
        </p:nvSpPr>
        <p:spPr>
          <a:xfrm>
            <a:off x="900000" y="6840000"/>
            <a:ext cx="6475320" cy="5353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CustomShape 4"/>
          <p:cNvSpPr/>
          <p:nvPr/>
        </p:nvSpPr>
        <p:spPr>
          <a:xfrm>
            <a:off x="180000" y="6840000"/>
            <a:ext cx="535320" cy="5353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CustomShape 1"/>
          <p:cNvSpPr/>
          <p:nvPr/>
        </p:nvSpPr>
        <p:spPr>
          <a:xfrm>
            <a:off x="0" y="180000"/>
            <a:ext cx="9715320" cy="1255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CustomShape 2"/>
          <p:cNvSpPr/>
          <p:nvPr/>
        </p:nvSpPr>
        <p:spPr>
          <a:xfrm>
            <a:off x="7560000" y="6840000"/>
            <a:ext cx="2515320" cy="535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CustomShape 3"/>
          <p:cNvSpPr/>
          <p:nvPr/>
        </p:nvSpPr>
        <p:spPr>
          <a:xfrm>
            <a:off x="900000" y="6840000"/>
            <a:ext cx="6475320" cy="5353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CustomShape 4"/>
          <p:cNvSpPr/>
          <p:nvPr/>
        </p:nvSpPr>
        <p:spPr>
          <a:xfrm>
            <a:off x="180000" y="6840000"/>
            <a:ext cx="535320" cy="5353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CustomShape 1"/>
          <p:cNvSpPr/>
          <p:nvPr/>
        </p:nvSpPr>
        <p:spPr>
          <a:xfrm>
            <a:off x="0" y="180000"/>
            <a:ext cx="9715320" cy="1255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CustomShape 2"/>
          <p:cNvSpPr/>
          <p:nvPr/>
        </p:nvSpPr>
        <p:spPr>
          <a:xfrm>
            <a:off x="7560000" y="6840000"/>
            <a:ext cx="2515320" cy="535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CustomShape 3"/>
          <p:cNvSpPr/>
          <p:nvPr/>
        </p:nvSpPr>
        <p:spPr>
          <a:xfrm>
            <a:off x="900000" y="6840000"/>
            <a:ext cx="6475320" cy="5353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CustomShape 4"/>
          <p:cNvSpPr/>
          <p:nvPr/>
        </p:nvSpPr>
        <p:spPr>
          <a:xfrm>
            <a:off x="180000" y="6840000"/>
            <a:ext cx="535320" cy="5353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CustomShape 1"/>
          <p:cNvSpPr/>
          <p:nvPr/>
        </p:nvSpPr>
        <p:spPr>
          <a:xfrm>
            <a:off x="0" y="180000"/>
            <a:ext cx="9715320" cy="1255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CustomShape 2"/>
          <p:cNvSpPr/>
          <p:nvPr/>
        </p:nvSpPr>
        <p:spPr>
          <a:xfrm>
            <a:off x="7560000" y="6840000"/>
            <a:ext cx="2515320" cy="535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CustomShape 3"/>
          <p:cNvSpPr/>
          <p:nvPr/>
        </p:nvSpPr>
        <p:spPr>
          <a:xfrm>
            <a:off x="900000" y="6840000"/>
            <a:ext cx="6475320" cy="5353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CustomShape 4"/>
          <p:cNvSpPr/>
          <p:nvPr/>
        </p:nvSpPr>
        <p:spPr>
          <a:xfrm>
            <a:off x="180000" y="6840000"/>
            <a:ext cx="535320" cy="5353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CustomShape 1"/>
          <p:cNvSpPr/>
          <p:nvPr/>
        </p:nvSpPr>
        <p:spPr>
          <a:xfrm>
            <a:off x="0" y="180000"/>
            <a:ext cx="9715320" cy="1255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CustomShape 2"/>
          <p:cNvSpPr/>
          <p:nvPr/>
        </p:nvSpPr>
        <p:spPr>
          <a:xfrm>
            <a:off x="7560000" y="6840000"/>
            <a:ext cx="2515320" cy="5353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CustomShape 3"/>
          <p:cNvSpPr/>
          <p:nvPr/>
        </p:nvSpPr>
        <p:spPr>
          <a:xfrm>
            <a:off x="900000" y="6840000"/>
            <a:ext cx="6475320" cy="5353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CustomShape 4"/>
          <p:cNvSpPr/>
          <p:nvPr/>
        </p:nvSpPr>
        <p:spPr>
          <a:xfrm>
            <a:off x="180000" y="6840000"/>
            <a:ext cx="535320" cy="5353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83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CustomShape 1"/>
          <p:cNvSpPr/>
          <p:nvPr/>
        </p:nvSpPr>
        <p:spPr>
          <a:xfrm>
            <a:off x="0" y="3150000"/>
            <a:ext cx="9715320" cy="12553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2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BR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20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BR" sz="20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20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BR" sz="20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20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BR" sz="20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R" sz="20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BR" sz="2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mailto:gustavo.hochuli@pucpr.br" TargetMode="External"/><Relationship Id="rId2" Type="http://schemas.openxmlformats.org/officeDocument/2006/relationships/hyperlink" Target="mailto:aghochuli@ppgia.pucpr.br" TargetMode="External"/><Relationship Id="rId3" Type="http://schemas.openxmlformats.org/officeDocument/2006/relationships/slideLayout" Target="../slideLayouts/slideLayout25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video" Target="../media/media15.mp4"/><Relationship Id="rId3" Type="http://schemas.microsoft.com/office/2007/relationships/media" Target="../media/media15.mp4"/><Relationship Id="rId4" Type="http://schemas.openxmlformats.org/officeDocument/2006/relationships/image" Target="../media/image16.png"/><Relationship Id="rId5" Type="http://schemas.openxmlformats.org/officeDocument/2006/relationships/hyperlink" Target="https://www.youtube.com/watch?v=fmyE7DiaIYQ" TargetMode="External"/><Relationship Id="rId6" Type="http://schemas.openxmlformats.org/officeDocument/2006/relationships/slideLayout" Target="../slideLayouts/slideLayout13.xml"/><Relationship Id="rId7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video" Target="../media/media18.mp4"/><Relationship Id="rId3" Type="http://schemas.microsoft.com/office/2007/relationships/media" Target="../media/media18.mp4"/><Relationship Id="rId4" Type="http://schemas.openxmlformats.org/officeDocument/2006/relationships/image" Target="../media/image19.png"/><Relationship Id="rId5" Type="http://schemas.openxmlformats.org/officeDocument/2006/relationships/hyperlink" Target="https://www.youtube.com/watch?v=xO3ED27rMHs" TargetMode="External"/><Relationship Id="rId6" Type="http://schemas.openxmlformats.org/officeDocument/2006/relationships/slideLayout" Target="../slideLayouts/slideLayout13.xml"/><Relationship Id="rId7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hyperlink" Target="https://github.com/andrehochuli/teaching/blob/main/ComputerVision/Lecture%2003%20-%20Morphology/Lecture_03_Morphology.ipynb" TargetMode="External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CustomShape 5"/>
          <p:cNvSpPr/>
          <p:nvPr/>
        </p:nvSpPr>
        <p:spPr>
          <a:xfrm>
            <a:off x="360000" y="3330000"/>
            <a:ext cx="935532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Lecture 03 - Morphology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CustomShape 6"/>
          <p:cNvSpPr/>
          <p:nvPr/>
        </p:nvSpPr>
        <p:spPr>
          <a:xfrm>
            <a:off x="540000" y="4680000"/>
            <a:ext cx="9175320" cy="251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22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Prof. André Gustavo Hochuli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2200" spc="-1" strike="noStrike" u="sng">
                <a:solidFill>
                  <a:srgbClr val="0000ff"/>
                </a:solidFill>
                <a:uFillTx/>
                <a:latin typeface="Latin Modern Sans"/>
                <a:ea typeface="DejaVu Sans"/>
                <a:hlinkClick r:id="rId1"/>
              </a:rPr>
              <a:t>gustavo.hochuli@pucpr.br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2200" spc="-1" strike="noStrike" u="sng">
                <a:solidFill>
                  <a:srgbClr val="0000ff"/>
                </a:solidFill>
                <a:uFillTx/>
                <a:latin typeface="Latin Modern Sans"/>
                <a:ea typeface="DejaVu Sans"/>
                <a:hlinkClick r:id="rId2"/>
              </a:rPr>
              <a:t>aghochuli@ppgia.pucpr.br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CustomShape 9"/>
          <p:cNvSpPr/>
          <p:nvPr/>
        </p:nvSpPr>
        <p:spPr>
          <a:xfrm>
            <a:off x="360000" y="360000"/>
            <a:ext cx="935532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Topics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CustomShape 10"/>
          <p:cNvSpPr/>
          <p:nvPr/>
        </p:nvSpPr>
        <p:spPr>
          <a:xfrm>
            <a:off x="897120" y="6886080"/>
            <a:ext cx="64425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CustomShape 11"/>
          <p:cNvSpPr/>
          <p:nvPr/>
        </p:nvSpPr>
        <p:spPr>
          <a:xfrm>
            <a:off x="7608600" y="6886080"/>
            <a:ext cx="228060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03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CustomShape 12"/>
          <p:cNvSpPr/>
          <p:nvPr/>
        </p:nvSpPr>
        <p:spPr>
          <a:xfrm>
            <a:off x="360000" y="1980000"/>
            <a:ext cx="9175320" cy="467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24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Discussion of Practice 02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24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Image Binarization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24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Mathematical Morphology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673200" indent="-2124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Structuring Element (or Kernel)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673200" indent="-2124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Erode /Dilate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673200" indent="-2124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Open / Close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673200" indent="-2124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Gradients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673200" indent="-2124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Watershed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24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Practice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5" name="Picture 3" descr=""/>
          <p:cNvPicPr/>
          <p:nvPr/>
        </p:nvPicPr>
        <p:blipFill>
          <a:blip r:embed="rId1"/>
          <a:stretch/>
        </p:blipFill>
        <p:spPr>
          <a:xfrm>
            <a:off x="2592720" y="3584160"/>
            <a:ext cx="6621840" cy="3071160"/>
          </a:xfrm>
          <a:prstGeom prst="rect">
            <a:avLst/>
          </a:prstGeom>
          <a:ln w="0">
            <a:noFill/>
          </a:ln>
        </p:spPr>
      </p:pic>
      <p:sp>
        <p:nvSpPr>
          <p:cNvPr id="206" name="Oval 4"/>
          <p:cNvSpPr/>
          <p:nvPr/>
        </p:nvSpPr>
        <p:spPr>
          <a:xfrm>
            <a:off x="2687760" y="6268680"/>
            <a:ext cx="304560" cy="269280"/>
          </a:xfrm>
          <a:prstGeom prst="ellipse">
            <a:avLst/>
          </a:prstGeom>
          <a:solidFill>
            <a:srgbClr val="00b050">
              <a:alpha val="70000"/>
            </a:srgbClr>
          </a:solidFill>
          <a:ln w="25560">
            <a:solidFill>
              <a:schemeClr val="accent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BR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207" name="Oval 5"/>
          <p:cNvSpPr/>
          <p:nvPr/>
        </p:nvSpPr>
        <p:spPr>
          <a:xfrm>
            <a:off x="3123000" y="6284520"/>
            <a:ext cx="304560" cy="269280"/>
          </a:xfrm>
          <a:prstGeom prst="ellipse">
            <a:avLst/>
          </a:prstGeom>
          <a:solidFill>
            <a:srgbClr val="00b050">
              <a:alpha val="70000"/>
            </a:srgbClr>
          </a:solidFill>
          <a:ln w="25560">
            <a:solidFill>
              <a:schemeClr val="accent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BR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" descr=""/>
          <p:cNvPicPr/>
          <p:nvPr/>
        </p:nvPicPr>
        <p:blipFill>
          <a:blip r:embed="rId1"/>
          <a:srcRect l="0" t="13629" r="0" b="0"/>
          <a:stretch/>
        </p:blipFill>
        <p:spPr>
          <a:xfrm>
            <a:off x="914400" y="1828800"/>
            <a:ext cx="8454960" cy="4572000"/>
          </a:xfrm>
          <a:prstGeom prst="rect">
            <a:avLst/>
          </a:prstGeom>
          <a:ln w="0">
            <a:noFill/>
          </a:ln>
        </p:spPr>
      </p:pic>
      <p:sp>
        <p:nvSpPr>
          <p:cNvPr id="209" name=""/>
          <p:cNvSpPr txBox="1"/>
          <p:nvPr/>
        </p:nvSpPr>
        <p:spPr>
          <a:xfrm>
            <a:off x="252720" y="499320"/>
            <a:ext cx="5691240" cy="644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Image Binarization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CustomShape 13"/>
          <p:cNvSpPr/>
          <p:nvPr/>
        </p:nvSpPr>
        <p:spPr>
          <a:xfrm>
            <a:off x="7608600" y="6886080"/>
            <a:ext cx="228060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03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CustomShape 14"/>
          <p:cNvSpPr/>
          <p:nvPr/>
        </p:nvSpPr>
        <p:spPr>
          <a:xfrm>
            <a:off x="897120" y="6886080"/>
            <a:ext cx="64425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" descr=""/>
          <p:cNvPicPr/>
          <p:nvPr/>
        </p:nvPicPr>
        <p:blipFill>
          <a:blip r:embed="rId1"/>
          <a:srcRect l="0" t="8331" r="0" b="0"/>
          <a:stretch/>
        </p:blipFill>
        <p:spPr>
          <a:xfrm>
            <a:off x="5486400" y="2286000"/>
            <a:ext cx="4381560" cy="2514600"/>
          </a:xfrm>
          <a:prstGeom prst="rect">
            <a:avLst/>
          </a:prstGeom>
          <a:ln w="0">
            <a:noFill/>
          </a:ln>
        </p:spPr>
      </p:pic>
      <p:sp>
        <p:nvSpPr>
          <p:cNvPr id="213" name=""/>
          <p:cNvSpPr txBox="1"/>
          <p:nvPr/>
        </p:nvSpPr>
        <p:spPr>
          <a:xfrm>
            <a:off x="228600" y="1558080"/>
            <a:ext cx="7105680" cy="552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Why Binarize the Image?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Separate foreground from background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Converts the image into two classes: object (1) and background (0).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Simplify the image representation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RGB: H×W×3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Gray: H×W, many intensity values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Binary: H×W, only 0 or 1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Enable object/component analysis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Connected-component algorithms operate on foreground pixels and group spatially connected pixels into individual objects.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Reduce irrelevant information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Once segmentation is defined, exact color/intensity values are no longer necessary for identifying components.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252360" y="498960"/>
            <a:ext cx="5691240" cy="644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Image Binarization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CustomShape 15"/>
          <p:cNvSpPr/>
          <p:nvPr/>
        </p:nvSpPr>
        <p:spPr>
          <a:xfrm>
            <a:off x="7608600" y="6886080"/>
            <a:ext cx="228060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03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CustomShape 16"/>
          <p:cNvSpPr/>
          <p:nvPr/>
        </p:nvSpPr>
        <p:spPr>
          <a:xfrm>
            <a:off x="897120" y="6886080"/>
            <a:ext cx="64425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"/>
          <p:cNvSpPr txBox="1"/>
          <p:nvPr/>
        </p:nvSpPr>
        <p:spPr>
          <a:xfrm>
            <a:off x="252720" y="499320"/>
            <a:ext cx="8891280" cy="11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Image Binarization – Threshold Selection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CustomShape 20"/>
          <p:cNvSpPr/>
          <p:nvPr/>
        </p:nvSpPr>
        <p:spPr>
          <a:xfrm>
            <a:off x="7608600" y="6886080"/>
            <a:ext cx="228060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03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CustomShape 17"/>
          <p:cNvSpPr/>
          <p:nvPr/>
        </p:nvSpPr>
        <p:spPr>
          <a:xfrm>
            <a:off x="897120" y="6886080"/>
            <a:ext cx="64425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0" name="" descr=""/>
          <p:cNvPicPr/>
          <p:nvPr/>
        </p:nvPicPr>
        <p:blipFill>
          <a:blip r:embed="rId1"/>
          <a:stretch/>
        </p:blipFill>
        <p:spPr>
          <a:xfrm>
            <a:off x="4869360" y="3633840"/>
            <a:ext cx="408960" cy="313920"/>
          </a:xfrm>
          <a:prstGeom prst="rect">
            <a:avLst/>
          </a:prstGeom>
          <a:ln w="0">
            <a:noFill/>
          </a:ln>
        </p:spPr>
      </p:pic>
      <p:sp>
        <p:nvSpPr>
          <p:cNvPr id="221" name=""/>
          <p:cNvSpPr txBox="1"/>
          <p:nvPr/>
        </p:nvSpPr>
        <p:spPr>
          <a:xfrm>
            <a:off x="457200" y="1600200"/>
            <a:ext cx="8001000" cy="471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000000"/>
                </a:solidFill>
                <a:latin typeface="Arial"/>
              </a:rPr>
              <a:t>Defining the threshold value T is a key step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B(x,y)={1,0,​I(x,y)≥TI(x,y)&lt;T​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Threshold selection is critical (20, 50, 127, 250?)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Too low → background and noise become foreground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Too high → object pixels and details are lost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Appropriate T → good foreground–background separation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Common approaches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Global Thresholding: a single T for the entire image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Otsu's Method: automatically estimates an optimal global T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Adaptive Thresholding: T varies according to local image regions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2" name="" descr=""/>
          <p:cNvPicPr/>
          <p:nvPr/>
        </p:nvPicPr>
        <p:blipFill>
          <a:blip r:embed="rId2"/>
          <a:stretch/>
        </p:blipFill>
        <p:spPr>
          <a:xfrm>
            <a:off x="5096160" y="1600200"/>
            <a:ext cx="4505040" cy="5095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"/>
          <p:cNvSpPr txBox="1"/>
          <p:nvPr/>
        </p:nvSpPr>
        <p:spPr>
          <a:xfrm>
            <a:off x="252720" y="499320"/>
            <a:ext cx="8891280" cy="11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Image Binarization – Threshold Selection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CustomShape 18"/>
          <p:cNvSpPr/>
          <p:nvPr/>
        </p:nvSpPr>
        <p:spPr>
          <a:xfrm>
            <a:off x="7608600" y="6886080"/>
            <a:ext cx="228060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03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CustomShape 19"/>
          <p:cNvSpPr/>
          <p:nvPr/>
        </p:nvSpPr>
        <p:spPr>
          <a:xfrm>
            <a:off x="897120" y="6886080"/>
            <a:ext cx="64425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6" name="" descr=""/>
          <p:cNvPicPr/>
          <p:nvPr/>
        </p:nvPicPr>
        <p:blipFill>
          <a:blip r:embed="rId1"/>
          <a:stretch/>
        </p:blipFill>
        <p:spPr>
          <a:xfrm>
            <a:off x="4869360" y="3633840"/>
            <a:ext cx="408960" cy="313920"/>
          </a:xfrm>
          <a:prstGeom prst="rect">
            <a:avLst/>
          </a:prstGeom>
          <a:ln w="0">
            <a:noFill/>
          </a:ln>
        </p:spPr>
      </p:pic>
      <p:sp>
        <p:nvSpPr>
          <p:cNvPr id="227" name=""/>
          <p:cNvSpPr txBox="1"/>
          <p:nvPr/>
        </p:nvSpPr>
        <p:spPr>
          <a:xfrm>
            <a:off x="228600" y="1828800"/>
            <a:ext cx="8001000" cy="471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000000"/>
                </a:solidFill>
                <a:latin typeface="Arial"/>
              </a:rPr>
              <a:t>Defining the threshold value T is a key step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Image Histogram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Represents the distribution of pixel intensities in an image.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Y-axis: number (or frequency) of pixels at each intensity.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Provides a global description of image appearance: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Brightness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Contrast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Intensity distribution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Useful for binarization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Peaks may represent different image regions/classes.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 threshold T can be selected near the valley between the peaks.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8" name="" descr=""/>
          <p:cNvPicPr/>
          <p:nvPr/>
        </p:nvPicPr>
        <p:blipFill>
          <a:blip r:embed="rId2"/>
          <a:stretch/>
        </p:blipFill>
        <p:spPr>
          <a:xfrm>
            <a:off x="4037400" y="1600200"/>
            <a:ext cx="5792400" cy="4235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"/>
          <p:cNvSpPr txBox="1"/>
          <p:nvPr/>
        </p:nvSpPr>
        <p:spPr>
          <a:xfrm>
            <a:off x="252720" y="499320"/>
            <a:ext cx="5691240" cy="644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Image Binarization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CustomShape 21"/>
          <p:cNvSpPr/>
          <p:nvPr/>
        </p:nvSpPr>
        <p:spPr>
          <a:xfrm>
            <a:off x="7608600" y="6886080"/>
            <a:ext cx="228060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03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CustomShape 22"/>
          <p:cNvSpPr/>
          <p:nvPr/>
        </p:nvSpPr>
        <p:spPr>
          <a:xfrm>
            <a:off x="897120" y="6886080"/>
            <a:ext cx="64425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2" name="" descr=""/>
          <p:cNvPicPr/>
          <p:nvPr/>
        </p:nvPicPr>
        <p:blipFill>
          <a:blip r:embed="rId1"/>
          <a:stretch/>
        </p:blipFill>
        <p:spPr>
          <a:xfrm>
            <a:off x="4869360" y="3633840"/>
            <a:ext cx="408960" cy="313920"/>
          </a:xfrm>
          <a:prstGeom prst="rect">
            <a:avLst/>
          </a:prstGeom>
          <a:ln w="0">
            <a:noFill/>
          </a:ln>
        </p:spPr>
      </p:pic>
      <p:pic>
        <p:nvPicPr>
          <p:cNvPr id="233" name="" descr=""/>
          <p:cNvPicPr/>
          <p:nvPr/>
        </p:nvPicPr>
        <p:blipFill>
          <a:blip r:embed="rId2"/>
          <a:stretch/>
        </p:blipFill>
        <p:spPr>
          <a:xfrm>
            <a:off x="1143000" y="1489680"/>
            <a:ext cx="8229600" cy="5250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"/>
          <p:cNvSpPr txBox="1"/>
          <p:nvPr/>
        </p:nvSpPr>
        <p:spPr>
          <a:xfrm>
            <a:off x="252720" y="499320"/>
            <a:ext cx="5691240" cy="644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Image Binarization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CustomShape 23"/>
          <p:cNvSpPr/>
          <p:nvPr/>
        </p:nvSpPr>
        <p:spPr>
          <a:xfrm>
            <a:off x="7608600" y="6886080"/>
            <a:ext cx="228060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03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CustomShape 24"/>
          <p:cNvSpPr/>
          <p:nvPr/>
        </p:nvSpPr>
        <p:spPr>
          <a:xfrm>
            <a:off x="897120" y="6886080"/>
            <a:ext cx="64425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7" name="" descr=""/>
          <p:cNvPicPr/>
          <p:nvPr/>
        </p:nvPicPr>
        <p:blipFill>
          <a:blip r:embed="rId1"/>
          <a:stretch/>
        </p:blipFill>
        <p:spPr>
          <a:xfrm>
            <a:off x="4869360" y="3633840"/>
            <a:ext cx="408960" cy="313920"/>
          </a:xfrm>
          <a:prstGeom prst="rect">
            <a:avLst/>
          </a:prstGeom>
          <a:ln w="0">
            <a:noFill/>
          </a:ln>
        </p:spPr>
      </p:pic>
      <p:pic>
        <p:nvPicPr>
          <p:cNvPr id="238" name="" descr=""/>
          <p:cNvPicPr/>
          <p:nvPr/>
        </p:nvPicPr>
        <p:blipFill>
          <a:blip r:embed="rId2"/>
          <a:stretch/>
        </p:blipFill>
        <p:spPr>
          <a:xfrm>
            <a:off x="1143000" y="1600200"/>
            <a:ext cx="8150400" cy="5257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"/>
          <p:cNvSpPr txBox="1"/>
          <p:nvPr/>
        </p:nvSpPr>
        <p:spPr>
          <a:xfrm>
            <a:off x="252720" y="499320"/>
            <a:ext cx="5691240" cy="644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Image Binarization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CustomShape 25"/>
          <p:cNvSpPr/>
          <p:nvPr/>
        </p:nvSpPr>
        <p:spPr>
          <a:xfrm>
            <a:off x="7608600" y="6886080"/>
            <a:ext cx="228060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03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CustomShape 26"/>
          <p:cNvSpPr/>
          <p:nvPr/>
        </p:nvSpPr>
        <p:spPr>
          <a:xfrm>
            <a:off x="897120" y="6886080"/>
            <a:ext cx="64425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2" name="" descr=""/>
          <p:cNvPicPr/>
          <p:nvPr/>
        </p:nvPicPr>
        <p:blipFill>
          <a:blip r:embed="rId1"/>
          <a:stretch/>
        </p:blipFill>
        <p:spPr>
          <a:xfrm>
            <a:off x="4869360" y="3633840"/>
            <a:ext cx="408960" cy="313920"/>
          </a:xfrm>
          <a:prstGeom prst="rect">
            <a:avLst/>
          </a:prstGeom>
          <a:ln w="0">
            <a:noFill/>
          </a:ln>
        </p:spPr>
      </p:pic>
      <p:pic>
        <p:nvPicPr>
          <p:cNvPr id="243" name="" descr=""/>
          <p:cNvPicPr/>
          <p:nvPr/>
        </p:nvPicPr>
        <p:blipFill>
          <a:blip r:embed="rId2"/>
          <a:srcRect l="56089" t="62721" r="18664" b="26086"/>
          <a:stretch/>
        </p:blipFill>
        <p:spPr>
          <a:xfrm>
            <a:off x="1143000" y="3657600"/>
            <a:ext cx="4344120" cy="1240560"/>
          </a:xfrm>
          <a:prstGeom prst="rect">
            <a:avLst/>
          </a:prstGeom>
          <a:ln w="0">
            <a:noFill/>
          </a:ln>
        </p:spPr>
      </p:pic>
      <p:sp>
        <p:nvSpPr>
          <p:cNvPr id="244" name=""/>
          <p:cNvSpPr txBox="1"/>
          <p:nvPr/>
        </p:nvSpPr>
        <p:spPr>
          <a:xfrm>
            <a:off x="1747080" y="1972800"/>
            <a:ext cx="6567840" cy="54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Arial"/>
              </a:rPr>
              <a:t>What If Binarization Produces Noisy or Fragmented Objects?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5" name="" descr=""/>
          <p:cNvPicPr/>
          <p:nvPr/>
        </p:nvPicPr>
        <p:blipFill>
          <a:blip r:embed="rId3"/>
          <a:stretch/>
        </p:blipFill>
        <p:spPr>
          <a:xfrm>
            <a:off x="6858000" y="2543400"/>
            <a:ext cx="1456920" cy="3628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CustomShape 27"/>
          <p:cNvSpPr/>
          <p:nvPr/>
        </p:nvSpPr>
        <p:spPr>
          <a:xfrm>
            <a:off x="360000" y="360000"/>
            <a:ext cx="935532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Mathematical</a:t>
            </a:r>
            <a:r>
              <a:rPr b="1" lang="en-US" sz="32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Morphology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CustomShape 28"/>
          <p:cNvSpPr/>
          <p:nvPr/>
        </p:nvSpPr>
        <p:spPr>
          <a:xfrm>
            <a:off x="897120" y="6886080"/>
            <a:ext cx="64425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CustomShape 29"/>
          <p:cNvSpPr/>
          <p:nvPr/>
        </p:nvSpPr>
        <p:spPr>
          <a:xfrm>
            <a:off x="7608600" y="6886080"/>
            <a:ext cx="228060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03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CaixaDeTexto 3"/>
          <p:cNvSpPr/>
          <p:nvPr/>
        </p:nvSpPr>
        <p:spPr>
          <a:xfrm>
            <a:off x="200160" y="1689840"/>
            <a:ext cx="9515160" cy="20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Morphology (Nature): Branch of Biology that study the form and structure of animals and plants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Morphology (Image Processing): Mathematical operations to extract image components based on pixel neighborhood.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Increase/Decrease Objects Size, Reduce Noise, Closing or Open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0" name="Picture 9" descr="Understanding Morphological Image Processing and Its Operations | by  Prateek Chhikara | Towards Data Science"/>
          <p:cNvPicPr/>
          <p:nvPr/>
        </p:nvPicPr>
        <p:blipFill>
          <a:blip r:embed="rId1"/>
          <a:stretch/>
        </p:blipFill>
        <p:spPr>
          <a:xfrm>
            <a:off x="446040" y="3802680"/>
            <a:ext cx="3185280" cy="1485360"/>
          </a:xfrm>
          <a:prstGeom prst="rect">
            <a:avLst/>
          </a:prstGeom>
          <a:ln w="0">
            <a:noFill/>
          </a:ln>
        </p:spPr>
      </p:pic>
      <p:pic>
        <p:nvPicPr>
          <p:cNvPr id="251" name="Picture 11" descr="OpenCV: Morphological Transformations"/>
          <p:cNvPicPr/>
          <p:nvPr/>
        </p:nvPicPr>
        <p:blipFill>
          <a:blip r:embed="rId2"/>
          <a:stretch/>
        </p:blipFill>
        <p:spPr>
          <a:xfrm>
            <a:off x="7340760" y="3818520"/>
            <a:ext cx="2467440" cy="1335960"/>
          </a:xfrm>
          <a:prstGeom prst="rect">
            <a:avLst/>
          </a:prstGeom>
          <a:ln w="0">
            <a:noFill/>
          </a:ln>
        </p:spPr>
      </p:pic>
      <p:pic>
        <p:nvPicPr>
          <p:cNvPr id="252" name="Picture 12" descr="Morphological Transformations of Images using OpenCV | Image Processing  Part-2 | by Ravjot Singh | Analytics Vidhya | Medium"/>
          <p:cNvPicPr/>
          <p:nvPr/>
        </p:nvPicPr>
        <p:blipFill>
          <a:blip r:embed="rId3"/>
          <a:stretch/>
        </p:blipFill>
        <p:spPr>
          <a:xfrm>
            <a:off x="3863880" y="3709800"/>
            <a:ext cx="3185280" cy="1480320"/>
          </a:xfrm>
          <a:prstGeom prst="rect">
            <a:avLst/>
          </a:prstGeom>
          <a:ln w="0">
            <a:noFill/>
          </a:ln>
        </p:spPr>
      </p:pic>
      <p:pic>
        <p:nvPicPr>
          <p:cNvPr id="253" name="Picture 13" descr=""/>
          <p:cNvPicPr/>
          <p:nvPr/>
        </p:nvPicPr>
        <p:blipFill>
          <a:blip r:embed="rId4"/>
          <a:stretch/>
        </p:blipFill>
        <p:spPr>
          <a:xfrm>
            <a:off x="2413440" y="5355000"/>
            <a:ext cx="5838120" cy="1459080"/>
          </a:xfrm>
          <a:prstGeom prst="rect">
            <a:avLst/>
          </a:prstGeom>
          <a:ln w="0">
            <a:noFill/>
          </a:ln>
        </p:spPr>
      </p:pic>
      <p:sp>
        <p:nvSpPr>
          <p:cNvPr id="254" name="CustomShape 30"/>
          <p:cNvSpPr/>
          <p:nvPr/>
        </p:nvSpPr>
        <p:spPr>
          <a:xfrm>
            <a:off x="7608600" y="6886080"/>
            <a:ext cx="228060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03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CustomShape 32"/>
          <p:cNvSpPr/>
          <p:nvPr/>
        </p:nvSpPr>
        <p:spPr>
          <a:xfrm>
            <a:off x="360000" y="360000"/>
            <a:ext cx="935532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Structuring Element (Kernel)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CustomShape 33"/>
          <p:cNvSpPr/>
          <p:nvPr/>
        </p:nvSpPr>
        <p:spPr>
          <a:xfrm>
            <a:off x="897120" y="6886080"/>
            <a:ext cx="64425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CustomShape 34"/>
          <p:cNvSpPr/>
          <p:nvPr/>
        </p:nvSpPr>
        <p:spPr>
          <a:xfrm>
            <a:off x="7608600" y="6886080"/>
            <a:ext cx="228060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03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CaixaDeTexto 2"/>
          <p:cNvSpPr/>
          <p:nvPr/>
        </p:nvSpPr>
        <p:spPr>
          <a:xfrm>
            <a:off x="200160" y="1689840"/>
            <a:ext cx="951516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Defines the shape of the structure to be applied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The structure is slid through the image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Erosion or Dilate operations are applied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The origin determines the pixel be changed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9" name="Imagem 2" descr=""/>
          <p:cNvPicPr/>
          <p:nvPr/>
        </p:nvPicPr>
        <p:blipFill>
          <a:blip r:embed="rId1"/>
          <a:stretch/>
        </p:blipFill>
        <p:spPr>
          <a:xfrm>
            <a:off x="3143880" y="3293640"/>
            <a:ext cx="3547800" cy="2196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CustomShape 36"/>
          <p:cNvSpPr/>
          <p:nvPr/>
        </p:nvSpPr>
        <p:spPr>
          <a:xfrm>
            <a:off x="360000" y="360000"/>
            <a:ext cx="935532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Erosion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CustomShape 37"/>
          <p:cNvSpPr/>
          <p:nvPr/>
        </p:nvSpPr>
        <p:spPr>
          <a:xfrm>
            <a:off x="897120" y="6886080"/>
            <a:ext cx="64425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CustomShape 38"/>
          <p:cNvSpPr/>
          <p:nvPr/>
        </p:nvSpPr>
        <p:spPr>
          <a:xfrm>
            <a:off x="7608600" y="6886080"/>
            <a:ext cx="228060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03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CaixaDeTexto 5"/>
          <p:cNvSpPr/>
          <p:nvPr/>
        </p:nvSpPr>
        <p:spPr>
          <a:xfrm>
            <a:off x="200160" y="1689840"/>
            <a:ext cx="951516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Moves one’s to zero’s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Binary ‘AND’ Operation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Reduces Noises and Contours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4" name="Imagem 1" descr=""/>
          <p:cNvPicPr/>
          <p:nvPr/>
        </p:nvPicPr>
        <p:blipFill>
          <a:blip r:embed="rId1"/>
          <a:srcRect l="3326" t="7753" r="3391" b="5018"/>
          <a:stretch/>
        </p:blipFill>
        <p:spPr>
          <a:xfrm>
            <a:off x="360000" y="3047040"/>
            <a:ext cx="5163480" cy="2420280"/>
          </a:xfrm>
          <a:prstGeom prst="rect">
            <a:avLst/>
          </a:prstGeom>
          <a:ln w="0">
            <a:noFill/>
          </a:ln>
        </p:spPr>
      </p:pic>
      <p:pic>
        <p:nvPicPr>
          <p:cNvPr id="265" name="" descr="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35520" y="2825280"/>
            <a:ext cx="3745440" cy="2808720"/>
          </a:xfrm>
          <a:prstGeom prst="rect">
            <a:avLst/>
          </a:prstGeom>
          <a:ln w="0">
            <a:noFill/>
          </a:ln>
        </p:spPr>
      </p:pic>
      <p:sp>
        <p:nvSpPr>
          <p:cNvPr id="266" name=""/>
          <p:cNvSpPr txBox="1"/>
          <p:nvPr/>
        </p:nvSpPr>
        <p:spPr>
          <a:xfrm>
            <a:off x="2286000" y="5943600"/>
            <a:ext cx="514152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  <a:hlinkClick r:id="rId5"/>
              </a:rPr>
              <a:t>https://www.youtube.com/watch?v=fmyE7DiaIYQ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mediacall">
                                  <p:stCondLst>
                                    <p:cond delay="0"/>
                                  </p:stCondLst>
                                  <p:childTnLst>
                                    <p:cmd type="call" cmd="play">
                                      <p:cBhvr>
                                        <p:cTn id="6" dur="29560" fill="hold"/>
                                        <p:tgtEl>
                                          <p:spTgt spid="26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7" restart="whenNotActive" nodeType="interactiveSeq" fill="hold">
                <p:stCondLst>
                  <p:cond delay="0" evt="onClick">
                    <p:tgtEl>
                      <p:spTgt spid="265"/>
                    </p:tgtEl>
                  </p:cond>
                </p:stCondLst>
                <p:childTnLst>
                  <p:par>
                    <p:cTn id="8" fill="hold">
                      <p:stCondLst>
                        <p:cond delay="0" evt="onClick">
                          <p:tgtEl>
                            <p:spTgt spid="265"/>
                          </p:tgtEl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mediacall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6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CustomShape 40"/>
          <p:cNvSpPr/>
          <p:nvPr/>
        </p:nvSpPr>
        <p:spPr>
          <a:xfrm>
            <a:off x="360000" y="360000"/>
            <a:ext cx="935532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Dilation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CustomShape 41"/>
          <p:cNvSpPr/>
          <p:nvPr/>
        </p:nvSpPr>
        <p:spPr>
          <a:xfrm>
            <a:off x="897120" y="6886080"/>
            <a:ext cx="64425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CustomShape 42"/>
          <p:cNvSpPr/>
          <p:nvPr/>
        </p:nvSpPr>
        <p:spPr>
          <a:xfrm>
            <a:off x="7608600" y="6886080"/>
            <a:ext cx="228060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03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CaixaDeTexto 4"/>
          <p:cNvSpPr/>
          <p:nvPr/>
        </p:nvSpPr>
        <p:spPr>
          <a:xfrm>
            <a:off x="200160" y="1689840"/>
            <a:ext cx="951516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Moves zero’s to one’s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Binary ‘OR’ Operation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Increases Objects, connects contours, and fill holes.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1" name="Imagem 5" descr=""/>
          <p:cNvPicPr/>
          <p:nvPr/>
        </p:nvPicPr>
        <p:blipFill>
          <a:blip r:embed="rId1"/>
          <a:stretch/>
        </p:blipFill>
        <p:spPr>
          <a:xfrm>
            <a:off x="542880" y="3275640"/>
            <a:ext cx="4894560" cy="2252520"/>
          </a:xfrm>
          <a:prstGeom prst="rect">
            <a:avLst/>
          </a:prstGeom>
          <a:ln w="0">
            <a:noFill/>
          </a:ln>
        </p:spPr>
      </p:pic>
      <p:pic>
        <p:nvPicPr>
          <p:cNvPr id="272" name="" descr="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594760" y="2791440"/>
            <a:ext cx="4294440" cy="3220560"/>
          </a:xfrm>
          <a:prstGeom prst="rect">
            <a:avLst/>
          </a:prstGeom>
          <a:ln w="0">
            <a:noFill/>
          </a:ln>
        </p:spPr>
      </p:pic>
      <p:sp>
        <p:nvSpPr>
          <p:cNvPr id="273" name=""/>
          <p:cNvSpPr txBox="1"/>
          <p:nvPr/>
        </p:nvSpPr>
        <p:spPr>
          <a:xfrm>
            <a:off x="2250000" y="6054120"/>
            <a:ext cx="52938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  <a:hlinkClick r:id="rId5"/>
              </a:rPr>
              <a:t>https://www.youtube.com/watch?v=xO3ED27rMHs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" dur="indefinite" restart="never" nodeType="tmRoot">
          <p:childTnLst>
            <p:seq>
              <p:cTn id="13" dur="indefinite" nodeType="mainSeq">
                <p:childTnLst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nodeType="clickEffect" fill="hold" presetClass="mediacall">
                                  <p:stCondLst>
                                    <p:cond delay="0"/>
                                  </p:stCondLst>
                                  <p:childTnLst>
                                    <p:cmd type="call" cmd="play">
                                      <p:cBhvr>
                                        <p:cTn id="17" dur="35560" fill="hold"/>
                                        <p:tgtEl>
                                          <p:spTgt spid="27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18" restart="whenNotActive" nodeType="interactiveSeq" fill="hold">
                <p:stCondLst>
                  <p:cond delay="0" evt="onClick">
                    <p:tgtEl>
                      <p:spTgt spid="272"/>
                    </p:tgtEl>
                  </p:cond>
                </p:stCondLst>
                <p:childTnLst>
                  <p:par>
                    <p:cTn id="19" fill="hold">
                      <p:stCondLst>
                        <p:cond delay="0" evt="onClick">
                          <p:tgtEl>
                            <p:spTgt spid="272"/>
                          </p:tgtEl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mediacall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27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CustomShape 44"/>
          <p:cNvSpPr/>
          <p:nvPr/>
        </p:nvSpPr>
        <p:spPr>
          <a:xfrm>
            <a:off x="360000" y="360000"/>
            <a:ext cx="935532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Opening and Closing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CustomShape 45"/>
          <p:cNvSpPr/>
          <p:nvPr/>
        </p:nvSpPr>
        <p:spPr>
          <a:xfrm>
            <a:off x="897120" y="6886080"/>
            <a:ext cx="64425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CustomShape 46"/>
          <p:cNvSpPr/>
          <p:nvPr/>
        </p:nvSpPr>
        <p:spPr>
          <a:xfrm>
            <a:off x="7608600" y="6886080"/>
            <a:ext cx="228060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03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CaixaDeTexto 7"/>
          <p:cNvSpPr/>
          <p:nvPr/>
        </p:nvSpPr>
        <p:spPr>
          <a:xfrm>
            <a:off x="200160" y="1689840"/>
            <a:ext cx="9515160" cy="47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Combined morphological operations that preserve the shape and size o large objects in the image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Opening: Erode + Dilate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002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Removes small objects, noises, and thin lines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Closing: Dilate + Erode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002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Fill small holes and connect segmented contours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8" name="Picture 14" descr=""/>
          <p:cNvPicPr/>
          <p:nvPr/>
        </p:nvPicPr>
        <p:blipFill>
          <a:blip r:embed="rId1"/>
          <a:stretch/>
        </p:blipFill>
        <p:spPr>
          <a:xfrm>
            <a:off x="6617160" y="2426760"/>
            <a:ext cx="2132640" cy="1427760"/>
          </a:xfrm>
          <a:prstGeom prst="rect">
            <a:avLst/>
          </a:prstGeom>
          <a:ln w="0">
            <a:noFill/>
          </a:ln>
        </p:spPr>
      </p:pic>
      <p:pic>
        <p:nvPicPr>
          <p:cNvPr id="279" name="Picture 15" descr=""/>
          <p:cNvPicPr/>
          <p:nvPr/>
        </p:nvPicPr>
        <p:blipFill>
          <a:blip r:embed="rId2"/>
          <a:stretch/>
        </p:blipFill>
        <p:spPr>
          <a:xfrm>
            <a:off x="6617160" y="4677480"/>
            <a:ext cx="2132640" cy="1427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CustomShape 48"/>
          <p:cNvSpPr/>
          <p:nvPr/>
        </p:nvSpPr>
        <p:spPr>
          <a:xfrm>
            <a:off x="360000" y="360000"/>
            <a:ext cx="935532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Others Morphological Operations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CustomShape 49"/>
          <p:cNvSpPr/>
          <p:nvPr/>
        </p:nvSpPr>
        <p:spPr>
          <a:xfrm>
            <a:off x="897120" y="6886080"/>
            <a:ext cx="64425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CustomShape 50"/>
          <p:cNvSpPr/>
          <p:nvPr/>
        </p:nvSpPr>
        <p:spPr>
          <a:xfrm>
            <a:off x="7608600" y="6886080"/>
            <a:ext cx="228060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03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CaixaDeTexto 6"/>
          <p:cNvSpPr/>
          <p:nvPr/>
        </p:nvSpPr>
        <p:spPr>
          <a:xfrm>
            <a:off x="200160" y="1689840"/>
            <a:ext cx="9515160" cy="50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Gradient: Dilate - Erosion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Outline de Object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TopHat: Open – Original Image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Reduce the effect of brightness changes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Isolates brightness objects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4" name="Picture 16" descr=""/>
          <p:cNvPicPr/>
          <p:nvPr/>
        </p:nvPicPr>
        <p:blipFill>
          <a:blip r:embed="rId1"/>
          <a:stretch/>
        </p:blipFill>
        <p:spPr>
          <a:xfrm>
            <a:off x="5644800" y="1689840"/>
            <a:ext cx="2418840" cy="1619280"/>
          </a:xfrm>
          <a:prstGeom prst="rect">
            <a:avLst/>
          </a:prstGeom>
          <a:ln w="0">
            <a:noFill/>
          </a:ln>
        </p:spPr>
      </p:pic>
      <p:pic>
        <p:nvPicPr>
          <p:cNvPr id="285" name="Picture 17" descr="Output of the top-hat transform, applied to a grayscale image of grains of rice against a darker background"/>
          <p:cNvPicPr/>
          <p:nvPr/>
        </p:nvPicPr>
        <p:blipFill>
          <a:blip r:embed="rId2"/>
          <a:stretch/>
        </p:blipFill>
        <p:spPr>
          <a:xfrm>
            <a:off x="5381280" y="4398840"/>
            <a:ext cx="2945880" cy="146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CustomShape 52"/>
          <p:cNvSpPr/>
          <p:nvPr/>
        </p:nvSpPr>
        <p:spPr>
          <a:xfrm>
            <a:off x="360000" y="360000"/>
            <a:ext cx="935532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Let’s code!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CustomShape 53"/>
          <p:cNvSpPr/>
          <p:nvPr/>
        </p:nvSpPr>
        <p:spPr>
          <a:xfrm>
            <a:off x="897120" y="6886080"/>
            <a:ext cx="64425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CustomShape 54"/>
          <p:cNvSpPr/>
          <p:nvPr/>
        </p:nvSpPr>
        <p:spPr>
          <a:xfrm>
            <a:off x="7608600" y="6886080"/>
            <a:ext cx="228060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03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CaixaDeTexto 9"/>
          <p:cNvSpPr/>
          <p:nvPr/>
        </p:nvSpPr>
        <p:spPr>
          <a:xfrm>
            <a:off x="200160" y="1689840"/>
            <a:ext cx="9515160" cy="67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1"/>
              </a:rPr>
              <a:t>Link: Morphology Operators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1819</TotalTime>
  <Application>LibreOffice/24.2.7.2$Linux_X86_64 LibreOffice_project/420$Build-2</Application>
  <AppVersion>15.0000</AppVersion>
  <Words>348</Words>
  <Paragraphs>96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2021-04-28T18:38:02Z</dcterms:created>
  <dc:creator/>
  <dc:description/>
  <dc:language>en-US</dc:language>
  <cp:lastModifiedBy/>
  <cp:lastPrinted>2026-08-21T16:14:39Z</cp:lastPrinted>
  <dcterms:modified xsi:type="dcterms:W3CDTF">2026-08-21T16:14:44Z</dcterms:modified>
  <cp:revision>127</cp:revision>
  <dc:subject/>
  <dc:title>Alizarin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0</vt:i4>
  </property>
  <property fmtid="{D5CDD505-2E9C-101B-9397-08002B2CF9AE}" pid="3" name="HyperlinksChanged">
    <vt:bool>0</vt:bool>
  </property>
  <property fmtid="{D5CDD505-2E9C-101B-9397-08002B2CF9AE}" pid="4" name="KSOProductBuildVer">
    <vt:lpwstr>1033-11.1.0.10161</vt:lpwstr>
  </property>
  <property fmtid="{D5CDD505-2E9C-101B-9397-08002B2CF9AE}" pid="5" name="LinksUpToDate">
    <vt:bool>0</vt:bool>
  </property>
  <property fmtid="{D5CDD505-2E9C-101B-9397-08002B2CF9AE}" pid="6" name="MMClips">
    <vt:i4>2</vt:i4>
  </property>
  <property fmtid="{D5CDD505-2E9C-101B-9397-08002B2CF9AE}" pid="7" name="Notes">
    <vt:i4>9</vt:i4>
  </property>
  <property fmtid="{D5CDD505-2E9C-101B-9397-08002B2CF9AE}" pid="8" name="PresentationFormat">
    <vt:lpwstr>Custom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9</vt:i4>
  </property>
</Properties>
</file>