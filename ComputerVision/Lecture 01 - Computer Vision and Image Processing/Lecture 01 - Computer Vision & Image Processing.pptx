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30.gif" ContentType="image/gif"/>
  <Override PartName="/ppt/media/image22.png" ContentType="image/png"/>
  <Override PartName="/ppt/media/image21.png" ContentType="image/png"/>
  <Override PartName="/ppt/media/image19.png" ContentType="image/png"/>
  <Override PartName="/ppt/media/image15.png" ContentType="image/png"/>
  <Override PartName="/ppt/media/image36.jpeg" ContentType="image/jpeg"/>
  <Override PartName="/ppt/media/image14.png" ContentType="image/png"/>
  <Override PartName="/ppt/media/image5.jpeg" ContentType="image/jpeg"/>
  <Override PartName="/ppt/media/image10.png" ContentType="image/png"/>
  <Override PartName="/ppt/media/image33.png" ContentType="image/png"/>
  <Override PartName="/ppt/media/image1.png" ContentType="image/png"/>
  <Override PartName="/ppt/media/image12.png" ContentType="image/png"/>
  <Override PartName="/ppt/media/image44.jpeg" ContentType="image/jpeg"/>
  <Override PartName="/ppt/media/image32.png" ContentType="image/png"/>
  <Override PartName="/ppt/media/image37.png" ContentType="image/png"/>
  <Override PartName="/ppt/media/image38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3.png" ContentType="image/png"/>
  <Override PartName="/ppt/media/image4.png" ContentType="image/png"/>
  <Override PartName="/ppt/media/image9.png" ContentType="image/png"/>
  <Override PartName="/ppt/media/image6.jpeg" ContentType="image/jpeg"/>
  <Override PartName="/ppt/media/image18.png" ContentType="image/png"/>
  <Override PartName="/ppt/media/image20.png" ContentType="image/png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notesMasterIdLst>
    <p:notesMasterId r:id="rId38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2" r:id="rId55"/>
    <p:sldId id="273" r:id="rId56"/>
    <p:sldId id="274" r:id="rId57"/>
    <p:sldId id="275" r:id="rId58"/>
    <p:sldId id="276" r:id="rId59"/>
    <p:sldId id="277" r:id="rId60"/>
    <p:sldId id="278" r:id="rId61"/>
    <p:sldId id="279" r:id="rId62"/>
    <p:sldId id="280" r:id="rId63"/>
    <p:sldId id="281" r:id="rId64"/>
    <p:sldId id="282" r:id="rId65"/>
    <p:sldId id="283" r:id="rId66"/>
    <p:sldId id="284" r:id="rId67"/>
    <p:sldId id="285" r:id="rId68"/>
    <p:sldId id="286" r:id="rId6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7.xml"/><Relationship Id="rId56" Type="http://schemas.openxmlformats.org/officeDocument/2006/relationships/slide" Target="slides/slide18.xml"/><Relationship Id="rId57" Type="http://schemas.openxmlformats.org/officeDocument/2006/relationships/slide" Target="slides/slide19.xml"/><Relationship Id="rId58" Type="http://schemas.openxmlformats.org/officeDocument/2006/relationships/slide" Target="slides/slide20.xml"/><Relationship Id="rId59" Type="http://schemas.openxmlformats.org/officeDocument/2006/relationships/slide" Target="slides/slide21.xml"/><Relationship Id="rId60" Type="http://schemas.openxmlformats.org/officeDocument/2006/relationships/slide" Target="slides/slide22.xml"/><Relationship Id="rId61" Type="http://schemas.openxmlformats.org/officeDocument/2006/relationships/slide" Target="slides/slide23.xml"/><Relationship Id="rId62" Type="http://schemas.openxmlformats.org/officeDocument/2006/relationships/slide" Target="slides/slide24.xml"/><Relationship Id="rId63" Type="http://schemas.openxmlformats.org/officeDocument/2006/relationships/slide" Target="slides/slide25.xml"/><Relationship Id="rId64" Type="http://schemas.openxmlformats.org/officeDocument/2006/relationships/slide" Target="slides/slide26.xml"/><Relationship Id="rId65" Type="http://schemas.openxmlformats.org/officeDocument/2006/relationships/slide" Target="slides/slide27.xml"/><Relationship Id="rId66" Type="http://schemas.openxmlformats.org/officeDocument/2006/relationships/slide" Target="slides/slide28.xml"/><Relationship Id="rId67" Type="http://schemas.openxmlformats.org/officeDocument/2006/relationships/slide" Target="slides/slide29.xml"/><Relationship Id="rId68" Type="http://schemas.openxmlformats.org/officeDocument/2006/relationships/slide" Target="slides/slide30.xml"/><Relationship Id="rId69" Type="http://schemas.openxmlformats.org/officeDocument/2006/relationships/slide" Target="slides/slide31.xml"/><Relationship Id="rId7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4CA4B9D-8F95-4E51-B6B6-A90A33C4F69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3480" cy="360324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480" cy="359424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396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CustomShape 11"/>
          <p:cNvSpPr/>
          <p:nvPr/>
        </p:nvSpPr>
        <p:spPr>
          <a:xfrm>
            <a:off x="0" y="10155240"/>
            <a:ext cx="3262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CustomShape 1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CustomShape 20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CustomShape 30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CustomShape 2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CustomShape 3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CustomShape 5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CustomShape 40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CustomShape 4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CustomShape 6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CustomShape 60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CustomShape 50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CustomShape 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0" y="180000"/>
            <a:ext cx="9706320" cy="124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7560000" y="6840000"/>
            <a:ext cx="2506320" cy="526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00000" y="6840000"/>
            <a:ext cx="6466320" cy="526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180000" y="6840000"/>
            <a:ext cx="526320" cy="526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5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gif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image" Target="../media/image38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tree/main/ComputerVision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360000" y="333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and Image Processing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540000" y="4680000"/>
            <a:ext cx="9175320" cy="25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4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Apresentação do Professor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 que esperar da disciplina?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Ferramentas do estado da arte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Google Colab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OpenCV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Tensorflow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…</a:t>
            </a: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..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Picture 1" descr=""/>
          <p:cNvPicPr/>
          <p:nvPr/>
        </p:nvPicPr>
        <p:blipFill>
          <a:blip r:embed="rId1"/>
          <a:stretch/>
        </p:blipFill>
        <p:spPr>
          <a:xfrm>
            <a:off x="2331720" y="3446640"/>
            <a:ext cx="6621840" cy="3071160"/>
          </a:xfrm>
          <a:prstGeom prst="rect">
            <a:avLst/>
          </a:prstGeom>
          <a:ln w="0">
            <a:noFill/>
          </a:ln>
        </p:spPr>
      </p:pic>
      <p:sp>
        <p:nvSpPr>
          <p:cNvPr id="313" name="Oval 3"/>
          <p:cNvSpPr/>
          <p:nvPr/>
        </p:nvSpPr>
        <p:spPr>
          <a:xfrm>
            <a:off x="2438280" y="6131160"/>
            <a:ext cx="304560" cy="26928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0"/>
          <p:cNvSpPr/>
          <p:nvPr/>
        </p:nvSpPr>
        <p:spPr>
          <a:xfrm>
            <a:off x="360000" y="360000"/>
            <a:ext cx="934632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Prof. André Gustavo Hochuli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6"/>
          <p:cNvSpPr/>
          <p:nvPr/>
        </p:nvSpPr>
        <p:spPr>
          <a:xfrm>
            <a:off x="360000" y="1627920"/>
            <a:ext cx="9166320" cy="46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5014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Formação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86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Ciência da Computação [2004, PUCPR]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86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Mestre [2007, PPGIA/PUCPR]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86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Doutor [2018, PPGINF/UFPR]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5014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Experiência Profissional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86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P&amp;D em Visão Computacional [2008-2013]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868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Professor Universitário [2014 – Atual]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45720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Linhas de Pesquisa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914400" indent="-27828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Aprendizagem de Máquina e Reconhecimento de Padrões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7"/>
          <p:cNvSpPr/>
          <p:nvPr/>
        </p:nvSpPr>
        <p:spPr>
          <a:xfrm>
            <a:off x="7560000" y="3216960"/>
            <a:ext cx="1500480" cy="8942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Latin Modern Sans"/>
                <a:ea typeface="DejaVu Sans"/>
              </a:rPr>
              <a:t>Hobbies</a:t>
            </a:r>
            <a:r>
              <a:rPr b="0" lang="pt-BR" sz="1400" spc="-1" strike="noStrike">
                <a:solidFill>
                  <a:srgbClr val="000000"/>
                </a:solidFill>
                <a:latin typeface="Latin Modern Sans"/>
                <a:ea typeface="DejaVu Sans"/>
              </a:rPr>
              <a:t>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Latin Modern Sans"/>
                <a:ea typeface="DejaVu Sans"/>
              </a:rPr>
              <a:t>Aviação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Latin Modern Sans"/>
                <a:ea typeface="DejaVu Sans"/>
              </a:rPr>
              <a:t>Futebol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Latin Modern Sans"/>
                <a:ea typeface="DejaVu Sans"/>
              </a:rPr>
              <a:t>Tecnologia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Picture 1" descr=""/>
          <p:cNvPicPr/>
          <p:nvPr/>
        </p:nvPicPr>
        <p:blipFill>
          <a:blip r:embed="rId1"/>
          <a:stretch/>
        </p:blipFill>
        <p:spPr>
          <a:xfrm>
            <a:off x="7560000" y="1620000"/>
            <a:ext cx="1500480" cy="1591200"/>
          </a:xfrm>
          <a:prstGeom prst="rect">
            <a:avLst/>
          </a:prstGeom>
          <a:ln w="0">
            <a:noFill/>
          </a:ln>
        </p:spPr>
      </p:pic>
      <p:sp>
        <p:nvSpPr>
          <p:cNvPr id="318" name="CustomShape 9"/>
          <p:cNvSpPr/>
          <p:nvPr/>
        </p:nvSpPr>
        <p:spPr>
          <a:xfrm>
            <a:off x="7608600" y="6886080"/>
            <a:ext cx="227160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Picture 139" descr=""/>
          <p:cNvPicPr/>
          <p:nvPr/>
        </p:nvPicPr>
        <p:blipFill>
          <a:blip r:embed="rId2"/>
          <a:stretch/>
        </p:blipFill>
        <p:spPr>
          <a:xfrm>
            <a:off x="437760" y="4572000"/>
            <a:ext cx="4421520" cy="2159280"/>
          </a:xfrm>
          <a:prstGeom prst="rect">
            <a:avLst/>
          </a:prstGeom>
          <a:ln w="0">
            <a:noFill/>
          </a:ln>
        </p:spPr>
      </p:pic>
      <p:pic>
        <p:nvPicPr>
          <p:cNvPr id="320" name="Picture 140" descr=""/>
          <p:cNvPicPr/>
          <p:nvPr/>
        </p:nvPicPr>
        <p:blipFill>
          <a:blip r:embed="rId3"/>
          <a:srcRect l="0" t="-976" r="0" b="3268"/>
          <a:stretch/>
        </p:blipFill>
        <p:spPr>
          <a:xfrm>
            <a:off x="4932000" y="4564080"/>
            <a:ext cx="5034960" cy="2233800"/>
          </a:xfrm>
          <a:prstGeom prst="rect">
            <a:avLst/>
          </a:prstGeom>
          <a:ln w="0">
            <a:noFill/>
          </a:ln>
        </p:spPr>
      </p:pic>
      <p:sp>
        <p:nvSpPr>
          <p:cNvPr id="321" name="Rectangle 141"/>
          <p:cNvSpPr/>
          <p:nvPr/>
        </p:nvSpPr>
        <p:spPr>
          <a:xfrm>
            <a:off x="937800" y="6925320"/>
            <a:ext cx="4029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8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 que esperar da disciplina 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1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Processamento de Imagens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Aprendizagem de Máquina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Resolução de problemas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Desafios encontrados no cotidiano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Aulas teóricas e práticas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Espaço para o estudante debater e trazer problemas/dúvidas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Conteúdo incremental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Trabalhos práticos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Provas práticas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OBS: Material didático em língua inglesa.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Picture 7" descr="The Era of Computer Vision Is Here - IndustryWired"/>
          <p:cNvPicPr/>
          <p:nvPr/>
        </p:nvPicPr>
        <p:blipFill>
          <a:blip r:embed="rId1"/>
          <a:stretch/>
        </p:blipFill>
        <p:spPr>
          <a:xfrm>
            <a:off x="6550920" y="1620000"/>
            <a:ext cx="2742120" cy="1665720"/>
          </a:xfrm>
          <a:prstGeom prst="rect">
            <a:avLst/>
          </a:prstGeom>
          <a:ln w="0">
            <a:noFill/>
          </a:ln>
        </p:spPr>
      </p:pic>
      <p:pic>
        <p:nvPicPr>
          <p:cNvPr id="325" name="Picture 8" descr="Guide to Computer Vision: Why It Matters and How It Helps Solve Problems |  NVIDIA Technical Blog"/>
          <p:cNvPicPr/>
          <p:nvPr/>
        </p:nvPicPr>
        <p:blipFill>
          <a:blip r:embed="rId2"/>
          <a:stretch/>
        </p:blipFill>
        <p:spPr>
          <a:xfrm>
            <a:off x="6550920" y="3353400"/>
            <a:ext cx="2736360" cy="1537920"/>
          </a:xfrm>
          <a:prstGeom prst="rect">
            <a:avLst/>
          </a:prstGeom>
          <a:ln w="0">
            <a:noFill/>
          </a:ln>
        </p:spPr>
      </p:pic>
      <p:pic>
        <p:nvPicPr>
          <p:cNvPr id="326" name="Picture 9" descr="Machine Vision and Deep Learning in Food Industry Quality Inspection"/>
          <p:cNvPicPr/>
          <p:nvPr/>
        </p:nvPicPr>
        <p:blipFill>
          <a:blip r:embed="rId3"/>
          <a:stretch/>
        </p:blipFill>
        <p:spPr>
          <a:xfrm>
            <a:off x="6556680" y="5012280"/>
            <a:ext cx="2736360" cy="1823760"/>
          </a:xfrm>
          <a:prstGeom prst="rect">
            <a:avLst/>
          </a:prstGeom>
          <a:ln w="0">
            <a:noFill/>
          </a:ln>
        </p:spPr>
      </p:pic>
      <p:sp>
        <p:nvSpPr>
          <p:cNvPr id="327" name="CustomShape 1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ustomShape 1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Ensino (Resumo)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ustomShape 17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Font typeface="Wingdings" charset="2"/>
              <a:buChar char=""/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pt-BR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PLANO DE ENSINO COMPLETO DISPONIBILIZADO NO (CANVAS)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1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1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360000" y="1990080"/>
            <a:ext cx="1095480" cy="3496320"/>
          </a:xfrm>
          <a:prstGeom prst="rect">
            <a:avLst/>
          </a:prstGeom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2"/>
          <a:stretch/>
        </p:blipFill>
        <p:spPr>
          <a:xfrm>
            <a:off x="1650600" y="2743200"/>
            <a:ext cx="7950600" cy="213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2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Ensino (Resumo)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ustomShape 27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ustomShape 2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2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1"/>
          <a:stretch/>
        </p:blipFill>
        <p:spPr>
          <a:xfrm>
            <a:off x="914400" y="1507320"/>
            <a:ext cx="8498160" cy="4893480"/>
          </a:xfrm>
          <a:prstGeom prst="rect">
            <a:avLst/>
          </a:prstGeom>
          <a:ln w="0">
            <a:noFill/>
          </a:ln>
        </p:spPr>
      </p:pic>
      <p:pic>
        <p:nvPicPr>
          <p:cNvPr id="340" name="" descr=""/>
          <p:cNvPicPr/>
          <p:nvPr/>
        </p:nvPicPr>
        <p:blipFill>
          <a:blip r:embed="rId2"/>
          <a:stretch/>
        </p:blipFill>
        <p:spPr>
          <a:xfrm>
            <a:off x="914400" y="6364800"/>
            <a:ext cx="8458200" cy="2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What is Computer Vision (CV) 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m 106" descr=""/>
          <p:cNvPicPr/>
          <p:nvPr/>
        </p:nvPicPr>
        <p:blipFill>
          <a:blip r:embed="rId1"/>
          <a:stretch/>
        </p:blipFill>
        <p:spPr>
          <a:xfrm>
            <a:off x="5370480" y="2493360"/>
            <a:ext cx="3588480" cy="3378960"/>
          </a:xfrm>
          <a:prstGeom prst="rect">
            <a:avLst/>
          </a:prstGeom>
          <a:ln w="0">
            <a:noFill/>
          </a:ln>
        </p:spPr>
      </p:pic>
      <p:pic>
        <p:nvPicPr>
          <p:cNvPr id="344" name="Imagem 107" descr=""/>
          <p:cNvPicPr/>
          <p:nvPr/>
        </p:nvPicPr>
        <p:blipFill>
          <a:blip r:embed="rId2"/>
          <a:stretch/>
        </p:blipFill>
        <p:spPr>
          <a:xfrm>
            <a:off x="748440" y="2422080"/>
            <a:ext cx="3547080" cy="3519360"/>
          </a:xfrm>
          <a:prstGeom prst="rect">
            <a:avLst/>
          </a:prstGeom>
          <a:ln w="0">
            <a:noFill/>
          </a:ln>
        </p:spPr>
      </p:pic>
      <p:sp>
        <p:nvSpPr>
          <p:cNvPr id="345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Tools &amp; Libraries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Imagem 110" descr=""/>
          <p:cNvPicPr/>
          <p:nvPr/>
        </p:nvPicPr>
        <p:blipFill>
          <a:blip r:embed="rId1"/>
          <a:stretch/>
        </p:blipFill>
        <p:spPr>
          <a:xfrm>
            <a:off x="2462400" y="1841040"/>
            <a:ext cx="5273640" cy="1997280"/>
          </a:xfrm>
          <a:prstGeom prst="rect">
            <a:avLst/>
          </a:prstGeom>
          <a:ln w="0">
            <a:noFill/>
          </a:ln>
        </p:spPr>
      </p:pic>
      <p:pic>
        <p:nvPicPr>
          <p:cNvPr id="349" name="Imagem 111" descr=""/>
          <p:cNvPicPr/>
          <p:nvPr/>
        </p:nvPicPr>
        <p:blipFill>
          <a:blip r:embed="rId2"/>
          <a:stretch/>
        </p:blipFill>
        <p:spPr>
          <a:xfrm>
            <a:off x="2834640" y="4389120"/>
            <a:ext cx="4151880" cy="1990440"/>
          </a:xfrm>
          <a:prstGeom prst="rect">
            <a:avLst/>
          </a:prstGeom>
          <a:ln w="0">
            <a:noFill/>
          </a:ln>
        </p:spPr>
      </p:pic>
      <p:sp>
        <p:nvSpPr>
          <p:cNvPr id="350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Defect Detection and Quality Assurance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Imagem 116" descr=""/>
          <p:cNvPicPr/>
          <p:nvPr/>
        </p:nvPicPr>
        <p:blipFill>
          <a:blip r:embed="rId1"/>
          <a:stretch/>
        </p:blipFill>
        <p:spPr>
          <a:xfrm>
            <a:off x="457200" y="2709720"/>
            <a:ext cx="4582080" cy="3241440"/>
          </a:xfrm>
          <a:prstGeom prst="rect">
            <a:avLst/>
          </a:prstGeom>
          <a:ln w="0">
            <a:noFill/>
          </a:ln>
        </p:spPr>
      </p:pic>
      <p:pic>
        <p:nvPicPr>
          <p:cNvPr id="355" name="Imagem 117" descr=""/>
          <p:cNvPicPr/>
          <p:nvPr/>
        </p:nvPicPr>
        <p:blipFill>
          <a:blip r:embed="rId2"/>
          <a:stretch/>
        </p:blipFill>
        <p:spPr>
          <a:xfrm>
            <a:off x="5486400" y="2286000"/>
            <a:ext cx="3419640" cy="2043720"/>
          </a:xfrm>
          <a:prstGeom prst="rect">
            <a:avLst/>
          </a:prstGeom>
          <a:ln w="0">
            <a:noFill/>
          </a:ln>
        </p:spPr>
      </p:pic>
      <p:pic>
        <p:nvPicPr>
          <p:cNvPr id="356" name="Imagem 118" descr=""/>
          <p:cNvPicPr/>
          <p:nvPr/>
        </p:nvPicPr>
        <p:blipFill>
          <a:blip r:embed="rId3"/>
          <a:stretch/>
        </p:blipFill>
        <p:spPr>
          <a:xfrm>
            <a:off x="5486400" y="4663440"/>
            <a:ext cx="3522960" cy="1686960"/>
          </a:xfrm>
          <a:prstGeom prst="rect">
            <a:avLst/>
          </a:prstGeom>
          <a:ln w="0">
            <a:noFill/>
          </a:ln>
        </p:spPr>
      </p:pic>
      <p:sp>
        <p:nvSpPr>
          <p:cNvPr id="357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Video Surveillance and Analytics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m 123" descr=""/>
          <p:cNvPicPr/>
          <p:nvPr/>
        </p:nvPicPr>
        <p:blipFill>
          <a:blip r:embed="rId1"/>
          <a:stretch/>
        </p:blipFill>
        <p:spPr>
          <a:xfrm>
            <a:off x="640080" y="2820600"/>
            <a:ext cx="4357080" cy="2755080"/>
          </a:xfrm>
          <a:prstGeom prst="rect">
            <a:avLst/>
          </a:prstGeom>
          <a:ln w="0">
            <a:noFill/>
          </a:ln>
        </p:spPr>
      </p:pic>
      <p:pic>
        <p:nvPicPr>
          <p:cNvPr id="362" name="Imagem 124" descr=""/>
          <p:cNvPicPr/>
          <p:nvPr/>
        </p:nvPicPr>
        <p:blipFill>
          <a:blip r:embed="rId2"/>
          <a:stretch/>
        </p:blipFill>
        <p:spPr>
          <a:xfrm>
            <a:off x="5303520" y="2834640"/>
            <a:ext cx="4224240" cy="2813760"/>
          </a:xfrm>
          <a:prstGeom prst="rect">
            <a:avLst/>
          </a:prstGeom>
          <a:ln w="0">
            <a:noFill/>
          </a:ln>
        </p:spPr>
      </p:pic>
      <p:sp>
        <p:nvSpPr>
          <p:cNvPr id="363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Assembly Verification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Imagem 129" descr=""/>
          <p:cNvPicPr/>
          <p:nvPr/>
        </p:nvPicPr>
        <p:blipFill>
          <a:blip r:embed="rId1"/>
          <a:stretch/>
        </p:blipFill>
        <p:spPr>
          <a:xfrm>
            <a:off x="1095480" y="2489760"/>
            <a:ext cx="8110800" cy="3231000"/>
          </a:xfrm>
          <a:prstGeom prst="rect">
            <a:avLst/>
          </a:prstGeom>
          <a:ln w="0">
            <a:noFill/>
          </a:ln>
        </p:spPr>
      </p:pic>
      <p:sp>
        <p:nvSpPr>
          <p:cNvPr id="368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...and....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Imagem 134" descr=""/>
          <p:cNvPicPr/>
          <p:nvPr/>
        </p:nvPicPr>
        <p:blipFill>
          <a:blip r:embed="rId1"/>
          <a:stretch/>
        </p:blipFill>
        <p:spPr>
          <a:xfrm>
            <a:off x="872280" y="2507760"/>
            <a:ext cx="2531160" cy="1807200"/>
          </a:xfrm>
          <a:prstGeom prst="rect">
            <a:avLst/>
          </a:prstGeom>
          <a:ln w="0">
            <a:noFill/>
          </a:ln>
        </p:spPr>
      </p:pic>
      <p:pic>
        <p:nvPicPr>
          <p:cNvPr id="373" name="Imagem 135" descr=""/>
          <p:cNvPicPr/>
          <p:nvPr/>
        </p:nvPicPr>
        <p:blipFill>
          <a:blip r:embed="rId2"/>
          <a:stretch/>
        </p:blipFill>
        <p:spPr>
          <a:xfrm>
            <a:off x="3749040" y="2566440"/>
            <a:ext cx="3131280" cy="1454760"/>
          </a:xfrm>
          <a:prstGeom prst="rect">
            <a:avLst/>
          </a:prstGeom>
          <a:ln w="0">
            <a:noFill/>
          </a:ln>
        </p:spPr>
      </p:pic>
      <p:pic>
        <p:nvPicPr>
          <p:cNvPr id="374" name="Imagem 136" descr=""/>
          <p:cNvPicPr/>
          <p:nvPr/>
        </p:nvPicPr>
        <p:blipFill>
          <a:blip r:embed="rId3"/>
          <a:stretch/>
        </p:blipFill>
        <p:spPr>
          <a:xfrm>
            <a:off x="3548880" y="4567680"/>
            <a:ext cx="3581280" cy="1373760"/>
          </a:xfrm>
          <a:prstGeom prst="rect">
            <a:avLst/>
          </a:prstGeom>
          <a:ln w="0">
            <a:noFill/>
          </a:ln>
        </p:spPr>
      </p:pic>
      <p:pic>
        <p:nvPicPr>
          <p:cNvPr id="375" name="Imagem 137" descr=""/>
          <p:cNvPicPr/>
          <p:nvPr/>
        </p:nvPicPr>
        <p:blipFill>
          <a:blip r:embed="rId4"/>
          <a:stretch/>
        </p:blipFill>
        <p:spPr>
          <a:xfrm>
            <a:off x="7066080" y="2560320"/>
            <a:ext cx="2807280" cy="1626120"/>
          </a:xfrm>
          <a:prstGeom prst="rect">
            <a:avLst/>
          </a:prstGeom>
          <a:ln w="0">
            <a:noFill/>
          </a:ln>
        </p:spPr>
      </p:pic>
      <p:sp>
        <p:nvSpPr>
          <p:cNvPr id="376" name="CustomShape 5"/>
          <p:cNvSpPr/>
          <p:nvPr/>
        </p:nvSpPr>
        <p:spPr>
          <a:xfrm>
            <a:off x="2496960" y="6217920"/>
            <a:ext cx="52732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7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Jobs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0000"/>
              </a:lnSpc>
              <a:spcAft>
                <a:spcPts val="1140"/>
              </a:spcAft>
              <a:buClr>
                <a:srgbClr val="1c1c1c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This is a field with several projects and open positions around the world.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Linkedin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Glassdoor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ustomShape 1"/>
          <p:cNvSpPr/>
          <p:nvPr/>
        </p:nvSpPr>
        <p:spPr>
          <a:xfrm>
            <a:off x="360000" y="333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Processing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ustomShape 2"/>
          <p:cNvSpPr/>
          <p:nvPr/>
        </p:nvSpPr>
        <p:spPr>
          <a:xfrm>
            <a:off x="540000" y="4680000"/>
            <a:ext cx="9175320" cy="25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ustomShape 4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Basic Definitions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Pixel, Resolution and Scale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Color Systems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GrayScale, RGB | BGR, CYMK, HSV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Color Conversion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Binarization and Image Filtering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Exercises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ustomShape 4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Image and Pixel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Image: Matrix NxM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Pixel The smallest information of an image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Range from 0 (black) to 255 (white)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Imagem 157" descr=""/>
          <p:cNvPicPr/>
          <p:nvPr/>
        </p:nvPicPr>
        <p:blipFill>
          <a:blip r:embed="rId1"/>
          <a:stretch/>
        </p:blipFill>
        <p:spPr>
          <a:xfrm>
            <a:off x="1306440" y="3253320"/>
            <a:ext cx="7976520" cy="3393360"/>
          </a:xfrm>
          <a:prstGeom prst="rect">
            <a:avLst/>
          </a:prstGeom>
          <a:ln w="0">
            <a:noFill/>
          </a:ln>
        </p:spPr>
      </p:pic>
      <p:sp>
        <p:nvSpPr>
          <p:cNvPr id="392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4" name="" descr=""/>
          <p:cNvPicPr/>
          <p:nvPr/>
        </p:nvPicPr>
        <p:blipFill>
          <a:blip r:embed="rId2"/>
          <a:srcRect l="15477" t="21676" r="15519" b="20492"/>
          <a:stretch/>
        </p:blipFill>
        <p:spPr>
          <a:xfrm>
            <a:off x="5486760" y="2544480"/>
            <a:ext cx="2742840" cy="71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CustomShape 4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Image Resolution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Pixel per Inch (PPI) for digital devices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Dots per Inch (DPI) for analog devices (printers)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Range from 0 (black) to 255 (white)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m 2" descr=""/>
          <p:cNvPicPr/>
          <p:nvPr/>
        </p:nvPicPr>
        <p:blipFill>
          <a:blip r:embed="rId1"/>
          <a:stretch/>
        </p:blipFill>
        <p:spPr>
          <a:xfrm>
            <a:off x="6300000" y="1619280"/>
            <a:ext cx="3239280" cy="734040"/>
          </a:xfrm>
          <a:prstGeom prst="rect">
            <a:avLst/>
          </a:prstGeom>
          <a:ln w="0">
            <a:noFill/>
          </a:ln>
        </p:spPr>
      </p:pic>
      <p:pic>
        <p:nvPicPr>
          <p:cNvPr id="398" name="Imagem 4" descr=""/>
          <p:cNvPicPr/>
          <p:nvPr/>
        </p:nvPicPr>
        <p:blipFill>
          <a:blip r:embed="rId2"/>
          <a:stretch/>
        </p:blipFill>
        <p:spPr>
          <a:xfrm>
            <a:off x="631080" y="3694680"/>
            <a:ext cx="4542840" cy="2561400"/>
          </a:xfrm>
          <a:prstGeom prst="rect">
            <a:avLst/>
          </a:prstGeom>
          <a:ln w="0">
            <a:noFill/>
          </a:ln>
        </p:spPr>
      </p:pic>
      <p:pic>
        <p:nvPicPr>
          <p:cNvPr id="399" name="Picture 2" descr="What Your Tech Team Needs to Know About HD Video Systems"/>
          <p:cNvPicPr/>
          <p:nvPr/>
        </p:nvPicPr>
        <p:blipFill>
          <a:blip r:embed="rId3"/>
          <a:stretch/>
        </p:blipFill>
        <p:spPr>
          <a:xfrm>
            <a:off x="5308920" y="3514320"/>
            <a:ext cx="4580280" cy="2742120"/>
          </a:xfrm>
          <a:prstGeom prst="rect">
            <a:avLst/>
          </a:prstGeom>
          <a:ln w="0">
            <a:noFill/>
          </a:ln>
        </p:spPr>
      </p:pic>
      <p:sp>
        <p:nvSpPr>
          <p:cNvPr id="400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4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Imagem 3" descr=""/>
          <p:cNvPicPr/>
          <p:nvPr/>
        </p:nvPicPr>
        <p:blipFill>
          <a:blip r:embed="rId1"/>
          <a:stretch/>
        </p:blipFill>
        <p:spPr>
          <a:xfrm>
            <a:off x="1466640" y="3107520"/>
            <a:ext cx="6961680" cy="2103840"/>
          </a:xfrm>
          <a:prstGeom prst="rect">
            <a:avLst/>
          </a:prstGeom>
          <a:ln w="0">
            <a:noFill/>
          </a:ln>
        </p:spPr>
      </p:pic>
      <p:sp>
        <p:nvSpPr>
          <p:cNvPr id="405" name="Seta: para a Direita 5"/>
          <p:cNvSpPr/>
          <p:nvPr/>
        </p:nvSpPr>
        <p:spPr>
          <a:xfrm>
            <a:off x="3395160" y="4071240"/>
            <a:ext cx="551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6" name="Seta: para a Direita 13"/>
          <p:cNvSpPr/>
          <p:nvPr/>
        </p:nvSpPr>
        <p:spPr>
          <a:xfrm>
            <a:off x="5704920" y="4071240"/>
            <a:ext cx="551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7" name="CustomShape 4"/>
          <p:cNvSpPr/>
          <p:nvPr/>
        </p:nvSpPr>
        <p:spPr>
          <a:xfrm>
            <a:off x="512280" y="188532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2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What is the problem?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CustomShape 4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eta: para a Direita 5"/>
          <p:cNvSpPr/>
          <p:nvPr/>
        </p:nvSpPr>
        <p:spPr>
          <a:xfrm>
            <a:off x="3530880" y="4505040"/>
            <a:ext cx="551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3" name="Seta: para a Direita 13"/>
          <p:cNvSpPr/>
          <p:nvPr/>
        </p:nvSpPr>
        <p:spPr>
          <a:xfrm>
            <a:off x="5840640" y="4505040"/>
            <a:ext cx="551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4" name="CustomShape 4"/>
          <p:cNvSpPr/>
          <p:nvPr/>
        </p:nvSpPr>
        <p:spPr>
          <a:xfrm>
            <a:off x="512280" y="188532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Downscale and Upscale (Resize)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Resolution loss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Interpolation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5" name="Imagem 6" descr=""/>
          <p:cNvPicPr/>
          <p:nvPr/>
        </p:nvPicPr>
        <p:blipFill>
          <a:blip r:embed="rId1"/>
          <a:stretch/>
        </p:blipFill>
        <p:spPr>
          <a:xfrm>
            <a:off x="1157400" y="3363120"/>
            <a:ext cx="1863360" cy="2260440"/>
          </a:xfrm>
          <a:prstGeom prst="rect">
            <a:avLst/>
          </a:prstGeom>
          <a:ln w="0">
            <a:noFill/>
          </a:ln>
        </p:spPr>
      </p:pic>
      <p:pic>
        <p:nvPicPr>
          <p:cNvPr id="416" name="Imagem 8" descr=""/>
          <p:cNvPicPr/>
          <p:nvPr/>
        </p:nvPicPr>
        <p:blipFill>
          <a:blip r:embed="rId2"/>
          <a:stretch/>
        </p:blipFill>
        <p:spPr>
          <a:xfrm>
            <a:off x="4388400" y="3900240"/>
            <a:ext cx="1109520" cy="1185480"/>
          </a:xfrm>
          <a:prstGeom prst="rect">
            <a:avLst/>
          </a:prstGeom>
          <a:ln w="0">
            <a:noFill/>
          </a:ln>
        </p:spPr>
      </p:pic>
      <p:pic>
        <p:nvPicPr>
          <p:cNvPr id="417" name="Imagem 10" descr=""/>
          <p:cNvPicPr/>
          <p:nvPr/>
        </p:nvPicPr>
        <p:blipFill>
          <a:blip r:embed="rId3"/>
          <a:stretch/>
        </p:blipFill>
        <p:spPr>
          <a:xfrm>
            <a:off x="7050960" y="3414240"/>
            <a:ext cx="1896480" cy="2158200"/>
          </a:xfrm>
          <a:prstGeom prst="rect">
            <a:avLst/>
          </a:prstGeom>
          <a:ln w="0">
            <a:noFill/>
          </a:ln>
        </p:spPr>
      </p:pic>
      <p:sp>
        <p:nvSpPr>
          <p:cNvPr id="418" name="CaixaDeTexto 11"/>
          <p:cNvSpPr/>
          <p:nvPr/>
        </p:nvSpPr>
        <p:spPr>
          <a:xfrm>
            <a:off x="1560960" y="5677920"/>
            <a:ext cx="105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160x200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aixaDeTexto 18"/>
          <p:cNvSpPr/>
          <p:nvPr/>
        </p:nvSpPr>
        <p:spPr>
          <a:xfrm>
            <a:off x="4478400" y="5131080"/>
            <a:ext cx="92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96x106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aixaDeTexto 20"/>
          <p:cNvSpPr/>
          <p:nvPr/>
        </p:nvSpPr>
        <p:spPr>
          <a:xfrm>
            <a:off x="7444440" y="5612400"/>
            <a:ext cx="110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160x200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Imagem 6" descr=""/>
          <p:cNvPicPr/>
          <p:nvPr/>
        </p:nvPicPr>
        <p:blipFill>
          <a:blip r:embed="rId1"/>
          <a:stretch/>
        </p:blipFill>
        <p:spPr>
          <a:xfrm>
            <a:off x="4236840" y="1843920"/>
            <a:ext cx="5043960" cy="4563360"/>
          </a:xfrm>
          <a:prstGeom prst="rect">
            <a:avLst/>
          </a:prstGeom>
          <a:ln w="0">
            <a:noFill/>
          </a:ln>
        </p:spPr>
      </p:pic>
      <p:sp>
        <p:nvSpPr>
          <p:cNvPr id="424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CustomShape 4"/>
          <p:cNvSpPr/>
          <p:nvPr/>
        </p:nvSpPr>
        <p:spPr>
          <a:xfrm>
            <a:off x="16632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</a:t>
            </a: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ColorSpaces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Binary (0-1) – 1 Channel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720"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720"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GrayScale (0-255) – 1 Channel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28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Color RGB – 3 Channels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673920" defTabSz="914400">
              <a:lnSpc>
                <a:spcPct val="100000"/>
              </a:lnSpc>
              <a:spcAft>
                <a:spcPts val="1140"/>
              </a:spcAft>
            </a:pPr>
            <a:r>
              <a:rPr b="1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(Red, Green, Blue)Color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673920" algn="ctr"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Picture 4" descr="Machine Learning - Going Furthur with CNN Part 2 - DEV Community"/>
          <p:cNvPicPr/>
          <p:nvPr/>
        </p:nvPicPr>
        <p:blipFill>
          <a:blip r:embed="rId1"/>
          <a:stretch/>
        </p:blipFill>
        <p:spPr>
          <a:xfrm>
            <a:off x="0" y="1467000"/>
            <a:ext cx="5600520" cy="3398040"/>
          </a:xfrm>
          <a:prstGeom prst="rect">
            <a:avLst/>
          </a:prstGeom>
          <a:ln w="0">
            <a:noFill/>
          </a:ln>
        </p:spPr>
      </p:pic>
      <p:pic>
        <p:nvPicPr>
          <p:cNvPr id="429" name="Imagem 4" descr=""/>
          <p:cNvPicPr/>
          <p:nvPr/>
        </p:nvPicPr>
        <p:blipFill>
          <a:blip r:embed="rId2"/>
          <a:stretch/>
        </p:blipFill>
        <p:spPr>
          <a:xfrm>
            <a:off x="4074480" y="3644280"/>
            <a:ext cx="6004800" cy="2975040"/>
          </a:xfrm>
          <a:prstGeom prst="rect">
            <a:avLst/>
          </a:prstGeom>
          <a:ln w="0">
            <a:noFill/>
          </a:ln>
        </p:spPr>
      </p:pic>
      <p:sp>
        <p:nvSpPr>
          <p:cNvPr id="430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CustomShape 4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2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CustomShape 2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ustomShape 22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6" name="CustomShape 2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CustomShape 2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457200" y="1655640"/>
            <a:ext cx="8001000" cy="85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From RGB to Grayscale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9" name="" descr=""/>
          <p:cNvPicPr/>
          <p:nvPr/>
        </p:nvPicPr>
        <p:blipFill>
          <a:blip r:embed="rId1"/>
          <a:stretch/>
        </p:blipFill>
        <p:spPr>
          <a:xfrm>
            <a:off x="3065760" y="3429000"/>
            <a:ext cx="4020840" cy="2286000"/>
          </a:xfrm>
          <a:prstGeom prst="rect">
            <a:avLst/>
          </a:prstGeom>
          <a:ln w="0">
            <a:noFill/>
          </a:ln>
        </p:spPr>
      </p:pic>
      <p:pic>
        <p:nvPicPr>
          <p:cNvPr id="440" name="" descr=""/>
          <p:cNvPicPr/>
          <p:nvPr/>
        </p:nvPicPr>
        <p:blipFill>
          <a:blip r:embed="rId2"/>
          <a:stretch/>
        </p:blipFill>
        <p:spPr>
          <a:xfrm>
            <a:off x="4829040" y="2286000"/>
            <a:ext cx="65736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3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ustomShape 32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3" name="CustomShape 3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CustomShape 3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57200" y="1655640"/>
            <a:ext cx="8001000" cy="85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From RGB to Grayscale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6" name="" descr=""/>
          <p:cNvPicPr/>
          <p:nvPr/>
        </p:nvPicPr>
        <p:blipFill>
          <a:blip r:embed="rId1"/>
          <a:stretch/>
        </p:blipFill>
        <p:spPr>
          <a:xfrm>
            <a:off x="1828800" y="2057400"/>
            <a:ext cx="6629400" cy="441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5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52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9" name="CustomShape 5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CustomShape 5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457200" y="1655640"/>
            <a:ext cx="9144000" cy="105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From RGB to Grayscale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1"/>
          <a:stretch/>
        </p:blipFill>
        <p:spPr>
          <a:xfrm>
            <a:off x="2057400" y="2278080"/>
            <a:ext cx="6527520" cy="435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CustomShape 3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CustomShape 37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5" name="CustomShape 3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CustomShape 3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57200" y="1655640"/>
            <a:ext cx="8001000" cy="85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Can We Convert Grayscale to RGB?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8" name="" descr=""/>
          <p:cNvPicPr/>
          <p:nvPr/>
        </p:nvPicPr>
        <p:blipFill>
          <a:blip r:embed="rId1"/>
          <a:srcRect l="54501" t="0" r="0" b="0"/>
          <a:stretch/>
        </p:blipFill>
        <p:spPr>
          <a:xfrm>
            <a:off x="2743200" y="3429000"/>
            <a:ext cx="1828800" cy="2286000"/>
          </a:xfrm>
          <a:prstGeom prst="rect">
            <a:avLst/>
          </a:prstGeom>
          <a:ln w="0">
            <a:noFill/>
          </a:ln>
        </p:spPr>
      </p:pic>
      <p:pic>
        <p:nvPicPr>
          <p:cNvPr id="459" name="" descr=""/>
          <p:cNvPicPr/>
          <p:nvPr/>
        </p:nvPicPr>
        <p:blipFill>
          <a:blip r:embed="rId2"/>
          <a:srcRect l="3317" t="0" r="56871" b="0"/>
          <a:stretch/>
        </p:blipFill>
        <p:spPr>
          <a:xfrm>
            <a:off x="5943600" y="3400200"/>
            <a:ext cx="1599840" cy="2286000"/>
          </a:xfrm>
          <a:prstGeom prst="rect">
            <a:avLst/>
          </a:prstGeom>
          <a:ln w="0">
            <a:noFill/>
          </a:ln>
        </p:spPr>
      </p:pic>
      <p:pic>
        <p:nvPicPr>
          <p:cNvPr id="460" name="" descr=""/>
          <p:cNvPicPr/>
          <p:nvPr/>
        </p:nvPicPr>
        <p:blipFill>
          <a:blip r:embed="rId3"/>
          <a:stretch/>
        </p:blipFill>
        <p:spPr>
          <a:xfrm>
            <a:off x="4901040" y="3886200"/>
            <a:ext cx="65736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4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CustomShape 42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3" name="CustomShape 4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CustomShape 4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457200" y="1655640"/>
            <a:ext cx="9144000" cy="396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Can We Convert Grayscale to RGB?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We can replicate the grayscale channel into the R, G, and B channels to obtain an 3-Channel image, but the original color information is irreversibly lost.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5029200" y="5486400"/>
            <a:ext cx="13716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R = G = 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rcRect l="54501" t="0" r="0" b="0"/>
          <a:stretch/>
        </p:blipFill>
        <p:spPr>
          <a:xfrm>
            <a:off x="2286000" y="3630960"/>
            <a:ext cx="1243440" cy="1435320"/>
          </a:xfrm>
          <a:prstGeom prst="rect">
            <a:avLst/>
          </a:prstGeom>
          <a:ln w="0">
            <a:noFill/>
          </a:ln>
        </p:spPr>
      </p:pic>
      <p:pic>
        <p:nvPicPr>
          <p:cNvPr id="468" name="" descr=""/>
          <p:cNvPicPr/>
          <p:nvPr/>
        </p:nvPicPr>
        <p:blipFill>
          <a:blip r:embed="rId2"/>
          <a:srcRect l="54501" t="0" r="0" b="0"/>
          <a:stretch/>
        </p:blipFill>
        <p:spPr>
          <a:xfrm>
            <a:off x="4306680" y="3200400"/>
            <a:ext cx="1243800" cy="1435320"/>
          </a:xfrm>
          <a:prstGeom prst="rect">
            <a:avLst/>
          </a:prstGeom>
          <a:ln w="0">
            <a:noFill/>
          </a:ln>
        </p:spPr>
      </p:pic>
      <p:pic>
        <p:nvPicPr>
          <p:cNvPr id="469" name="" descr=""/>
          <p:cNvPicPr/>
          <p:nvPr/>
        </p:nvPicPr>
        <p:blipFill>
          <a:blip r:embed="rId3"/>
          <a:srcRect l="54501" t="0" r="0" b="0"/>
          <a:stretch/>
        </p:blipFill>
        <p:spPr>
          <a:xfrm>
            <a:off x="4617720" y="3487320"/>
            <a:ext cx="1243440" cy="1435320"/>
          </a:xfrm>
          <a:prstGeom prst="rect">
            <a:avLst/>
          </a:prstGeom>
          <a:ln w="0">
            <a:noFill/>
          </a:ln>
        </p:spPr>
      </p:pic>
      <p:pic>
        <p:nvPicPr>
          <p:cNvPr id="470" name="" descr=""/>
          <p:cNvPicPr/>
          <p:nvPr/>
        </p:nvPicPr>
        <p:blipFill>
          <a:blip r:embed="rId4"/>
          <a:srcRect l="54501" t="0" r="0" b="0"/>
          <a:stretch/>
        </p:blipFill>
        <p:spPr>
          <a:xfrm>
            <a:off x="4928760" y="3917880"/>
            <a:ext cx="1243440" cy="1435320"/>
          </a:xfrm>
          <a:prstGeom prst="rect">
            <a:avLst/>
          </a:prstGeom>
          <a:ln w="0">
            <a:noFill/>
          </a:ln>
        </p:spPr>
      </p:pic>
      <p:sp>
        <p:nvSpPr>
          <p:cNvPr id="471" name=""/>
          <p:cNvSpPr/>
          <p:nvPr/>
        </p:nvSpPr>
        <p:spPr>
          <a:xfrm flipV="1">
            <a:off x="3529440" y="3487320"/>
            <a:ext cx="777240" cy="574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3529440" y="4061520"/>
            <a:ext cx="1243800" cy="286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3529440" y="4061520"/>
            <a:ext cx="1399320" cy="10047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6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ustomShape 62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6" name="CustomShape 6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ustomShape 6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1"/>
          <a:srcRect l="0" t="24994" r="7" b="25004"/>
          <a:stretch/>
        </p:blipFill>
        <p:spPr>
          <a:xfrm>
            <a:off x="360000" y="2972160"/>
            <a:ext cx="3200040" cy="1599840"/>
          </a:xfrm>
          <a:prstGeom prst="rect">
            <a:avLst/>
          </a:prstGeom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2"/>
          <a:srcRect l="0" t="0" r="0" b="63736"/>
          <a:stretch/>
        </p:blipFill>
        <p:spPr>
          <a:xfrm>
            <a:off x="5715000" y="3429000"/>
            <a:ext cx="3784320" cy="914040"/>
          </a:xfrm>
          <a:prstGeom prst="rect">
            <a:avLst/>
          </a:prstGeom>
          <a:ln w="0">
            <a:noFill/>
          </a:ln>
        </p:spPr>
      </p:pic>
      <p:sp>
        <p:nvSpPr>
          <p:cNvPr id="480" name=""/>
          <p:cNvSpPr/>
          <p:nvPr/>
        </p:nvSpPr>
        <p:spPr>
          <a:xfrm>
            <a:off x="3657600" y="3657600"/>
            <a:ext cx="1828800" cy="228600"/>
          </a:xfrm>
          <a:custGeom>
            <a:avLst/>
            <a:gdLst>
              <a:gd name="textAreaLeft" fmla="*/ 228600 w 1828800"/>
              <a:gd name="textAreaRight" fmla="*/ 1600200 w 182880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925080" y="3886200"/>
            <a:ext cx="1332720" cy="28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ill-posed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3"/>
          <a:stretch/>
        </p:blipFill>
        <p:spPr>
          <a:xfrm>
            <a:off x="7115040" y="4343400"/>
            <a:ext cx="657360" cy="914400"/>
          </a:xfrm>
          <a:prstGeom prst="rect">
            <a:avLst/>
          </a:prstGeom>
          <a:ln w="0">
            <a:noFill/>
          </a:ln>
        </p:spPr>
      </p:pic>
      <p:sp>
        <p:nvSpPr>
          <p:cNvPr id="483" name=""/>
          <p:cNvSpPr txBox="1"/>
          <p:nvPr/>
        </p:nvSpPr>
        <p:spPr>
          <a:xfrm>
            <a:off x="228600" y="1517040"/>
            <a:ext cx="9372600" cy="160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Recovering the original colors from a grayscale image is an ill-posed problem: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Multiple color images can produce the same grayscale image.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 Image colorization algorithms estimate plausible colors rather than recovering the true ones (i.e Generative AI) 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CustomShape 5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CustomShape 57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6" name="CustomShape 5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CustomShape 5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1"/>
          <a:srcRect l="0" t="24994" r="7" b="25004"/>
          <a:stretch/>
        </p:blipFill>
        <p:spPr>
          <a:xfrm>
            <a:off x="360000" y="2972160"/>
            <a:ext cx="3200040" cy="1599840"/>
          </a:xfrm>
          <a:prstGeom prst="rect">
            <a:avLst/>
          </a:prstGeom>
          <a:ln w="0">
            <a:noFill/>
          </a:ln>
        </p:spPr>
      </p:pic>
      <p:pic>
        <p:nvPicPr>
          <p:cNvPr id="489" name="" descr=""/>
          <p:cNvPicPr/>
          <p:nvPr/>
        </p:nvPicPr>
        <p:blipFill>
          <a:blip r:embed="rId2"/>
          <a:srcRect l="0" t="0" r="0" b="27483"/>
          <a:stretch/>
        </p:blipFill>
        <p:spPr>
          <a:xfrm>
            <a:off x="5715000" y="3429000"/>
            <a:ext cx="3784320" cy="1828440"/>
          </a:xfrm>
          <a:prstGeom prst="rect">
            <a:avLst/>
          </a:prstGeom>
          <a:ln w="0">
            <a:noFill/>
          </a:ln>
        </p:spPr>
      </p:pic>
      <p:sp>
        <p:nvSpPr>
          <p:cNvPr id="490" name=""/>
          <p:cNvSpPr/>
          <p:nvPr/>
        </p:nvSpPr>
        <p:spPr>
          <a:xfrm>
            <a:off x="3657600" y="3657600"/>
            <a:ext cx="1828800" cy="228600"/>
          </a:xfrm>
          <a:custGeom>
            <a:avLst/>
            <a:gdLst>
              <a:gd name="textAreaLeft" fmla="*/ 228600 w 1828800"/>
              <a:gd name="textAreaRight" fmla="*/ 1600200 w 182880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3925080" y="3886200"/>
            <a:ext cx="1332720" cy="28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ill-posed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3"/>
          <a:stretch/>
        </p:blipFill>
        <p:spPr>
          <a:xfrm>
            <a:off x="4829040" y="4343400"/>
            <a:ext cx="657360" cy="914400"/>
          </a:xfrm>
          <a:prstGeom prst="rect">
            <a:avLst/>
          </a:prstGeom>
          <a:ln w="0">
            <a:noFill/>
          </a:ln>
        </p:spPr>
      </p:pic>
      <p:sp>
        <p:nvSpPr>
          <p:cNvPr id="493" name=""/>
          <p:cNvSpPr txBox="1"/>
          <p:nvPr/>
        </p:nvSpPr>
        <p:spPr>
          <a:xfrm>
            <a:off x="228960" y="1517040"/>
            <a:ext cx="9372600" cy="160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Recovering the original colors from a grayscale image is an ill-posed problem: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Multiple color images can produce the same grayscale image.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 Image colorization algorithms estimate plausible colors rather than recovering the true ones (i.e Generative AI) 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CustomShape 4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CustomShape 47"/>
          <p:cNvSpPr/>
          <p:nvPr/>
        </p:nvSpPr>
        <p:spPr>
          <a:xfrm>
            <a:off x="36000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6" name="CustomShape 4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CustomShape 4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1"/>
          <a:srcRect l="0" t="24994" r="7" b="25004"/>
          <a:stretch/>
        </p:blipFill>
        <p:spPr>
          <a:xfrm>
            <a:off x="360000" y="2972160"/>
            <a:ext cx="3200040" cy="1599840"/>
          </a:xfrm>
          <a:prstGeom prst="rect">
            <a:avLst/>
          </a:prstGeom>
          <a:ln w="0">
            <a:noFill/>
          </a:ln>
        </p:spPr>
      </p:pic>
      <p:pic>
        <p:nvPicPr>
          <p:cNvPr id="499" name="" descr=""/>
          <p:cNvPicPr/>
          <p:nvPr/>
        </p:nvPicPr>
        <p:blipFill>
          <a:blip r:embed="rId2"/>
          <a:srcRect l="0" t="0" r="0" b="292"/>
          <a:stretch/>
        </p:blipFill>
        <p:spPr>
          <a:xfrm>
            <a:off x="5715000" y="3429000"/>
            <a:ext cx="3784320" cy="2514240"/>
          </a:xfrm>
          <a:prstGeom prst="rect">
            <a:avLst/>
          </a:prstGeom>
          <a:ln w="0">
            <a:noFill/>
          </a:ln>
        </p:spPr>
      </p:pic>
      <p:sp>
        <p:nvSpPr>
          <p:cNvPr id="500" name=""/>
          <p:cNvSpPr/>
          <p:nvPr/>
        </p:nvSpPr>
        <p:spPr>
          <a:xfrm>
            <a:off x="3657600" y="3657600"/>
            <a:ext cx="1828800" cy="228600"/>
          </a:xfrm>
          <a:custGeom>
            <a:avLst/>
            <a:gdLst>
              <a:gd name="textAreaLeft" fmla="*/ 228600 w 1828800"/>
              <a:gd name="textAreaRight" fmla="*/ 1600200 w 182880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925080" y="3886200"/>
            <a:ext cx="1332720" cy="28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ill-posed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2" name="" descr=""/>
          <p:cNvPicPr/>
          <p:nvPr/>
        </p:nvPicPr>
        <p:blipFill>
          <a:blip r:embed="rId3"/>
          <a:stretch/>
        </p:blipFill>
        <p:spPr>
          <a:xfrm>
            <a:off x="4829040" y="5029200"/>
            <a:ext cx="657360" cy="914400"/>
          </a:xfrm>
          <a:prstGeom prst="rect">
            <a:avLst/>
          </a:prstGeom>
          <a:ln w="0">
            <a:noFill/>
          </a:ln>
        </p:spPr>
      </p:pic>
      <p:sp>
        <p:nvSpPr>
          <p:cNvPr id="503" name=""/>
          <p:cNvSpPr txBox="1"/>
          <p:nvPr/>
        </p:nvSpPr>
        <p:spPr>
          <a:xfrm>
            <a:off x="228960" y="1517040"/>
            <a:ext cx="9372600" cy="160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Recovering the original colors from a grayscale image is an ill-posed problem: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Multiple color images can produce the same grayscale image.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  </a:t>
            </a: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 Image colorization algorithms estimate plausible colors rather than recovering the true ones (i.e Generative AI) 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Basic Definitions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CustomShape 4"/>
          <p:cNvSpPr/>
          <p:nvPr/>
        </p:nvSpPr>
        <p:spPr>
          <a:xfrm>
            <a:off x="166320" y="173304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   </a:t>
            </a:r>
            <a:r>
              <a:rPr b="1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Others  Color Spaces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73920" algn="ctr" defTabSz="91440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Picture 2" descr="Vetores de Modelos De Cores e mais imagens de CMYK - iStock"/>
          <p:cNvPicPr/>
          <p:nvPr/>
        </p:nvPicPr>
        <p:blipFill>
          <a:blip r:embed="rId1"/>
          <a:stretch/>
        </p:blipFill>
        <p:spPr>
          <a:xfrm>
            <a:off x="2312280" y="2050200"/>
            <a:ext cx="4475880" cy="447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Practice 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CustomShape 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40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Code!!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r>
              <a:rPr b="0" lang="en-US" sz="16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https://github.com/andrehochuli/teaching/tree/main/ComputerVision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Lecture 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3080" defTabSz="914400">
              <a:lnSpc>
                <a:spcPct val="100000"/>
              </a:lnSpc>
              <a:spcAft>
                <a:spcPts val="1134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CustomShape 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CustomShape 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Application>LibreOffice/24.2.7.2$Linux_X86_64 LibreOffice_project/420$Build-2</Application>
  <AppVersion>15.0000</AppVersion>
  <Words>705</Words>
  <Paragraphs>210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dcterms:modified xsi:type="dcterms:W3CDTF">2026-08-07T15:50:15Z</dcterms:modified>
  <cp:revision>116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23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23</vt:i4>
  </property>
</Properties>
</file>