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2.png" ContentType="image/png"/>
  <Override PartName="/ppt/media/image3.png" ContentType="image/png"/>
  <Override PartName="/ppt/media/image13.png" ContentType="image/png"/>
  <Override PartName="/ppt/media/image10.gif" ContentType="image/gif"/>
  <Override PartName="/ppt/media/image4.png" ContentType="image/png"/>
  <Override PartName="/ppt/media/image11.jpeg" ContentType="image/jpeg"/>
  <Override PartName="/ppt/media/image8.jpeg" ContentType="image/jpeg"/>
  <Override PartName="/ppt/media/image9.gif" ContentType="image/gif"/>
  <Override PartName="/ppt/media/image23.png" ContentType="image/png"/>
  <Override PartName="/ppt/media/image7.jpeg" ContentType="image/jpeg"/>
  <Override PartName="/ppt/media/image20.png" ContentType="image/png"/>
  <Override PartName="/ppt/media/image6.png" ContentType="image/png"/>
  <Override PartName="/ppt/media/image25.png" ContentType="image/png"/>
  <Override PartName="/ppt/media/image24.png" ContentType="image/png"/>
  <Override PartName="/ppt/media/image18.jpeg" ContentType="image/jpeg"/>
  <Override PartName="/ppt/media/image21.png" ContentType="image/png"/>
  <Override PartName="/ppt/media/image19.png" ContentType="image/png"/>
  <Override PartName="/ppt/media/image17.jpeg" ContentType="image/jpeg"/>
  <Override PartName="/ppt/media/image5.png" ContentType="image/png"/>
  <Override PartName="/ppt/media/image14.png" ContentType="image/png"/>
  <Override PartName="/ppt/media/image16.jpeg" ContentType="image/jpeg"/>
  <Override PartName="/ppt/media/image15.jpeg" ContentType="image/jpeg"/>
  <Override PartName="/ppt/media/image1.png" ContentType="image/png"/>
  <Override PartName="/ppt/media/image2.png" ContentType="image/png"/>
  <Override PartName="/ppt/media/image22.jpeg" ContentType="image/jpeg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</p:sldMasterIdLst>
  <p:notesMasterIdLst>
    <p:notesMasterId r:id="rId2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  <p:sldId id="272" r:id="rId43"/>
    <p:sldId id="273" r:id="rId44"/>
    <p:sldId id="274" r:id="rId45"/>
    <p:sldId id="275" r:id="rId46"/>
  </p:sldIdLst>
  <p:sldSz cx="10080625" cy="7559675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20.xml"/><Relationship Id="rId4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5C0E76C-6D6B-442C-8017-B824525908B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CustomShape 9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CustomShape 1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1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2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8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8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2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6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4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1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2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1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2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7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8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2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3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4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gustavo.hochuli@pucpr.br" TargetMode="External"/><Relationship Id="rId2" Type="http://schemas.openxmlformats.org/officeDocument/2006/relationships/hyperlink" Target="mailto:aghochuli@ppgia.pucpr.b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jpeg"/><Relationship Id="rId3" Type="http://schemas.openxmlformats.org/officeDocument/2006/relationships/image" Target="../media/image9.gif"/><Relationship Id="rId4" Type="http://schemas.openxmlformats.org/officeDocument/2006/relationships/image" Target="../media/image10.gif"/><Relationship Id="rId5" Type="http://schemas.openxmlformats.org/officeDocument/2006/relationships/image" Target="../media/image10.gif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11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11.jpe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11.jpe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jpe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11.jpe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jpeg"/><Relationship Id="rId6" Type="http://schemas.openxmlformats.org/officeDocument/2006/relationships/image" Target="../media/image16.jpeg"/><Relationship Id="rId7" Type="http://schemas.openxmlformats.org/officeDocument/2006/relationships/slideLayout" Target="../slideLayouts/slideLayout13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6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6.jpeg"/><Relationship Id="rId3" Type="http://schemas.openxmlformats.org/officeDocument/2006/relationships/image" Target="../media/image17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6.jpeg"/><Relationship Id="rId3" Type="http://schemas.openxmlformats.org/officeDocument/2006/relationships/image" Target="../media/image18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6.jpe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6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6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6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2.jpe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6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2.jpeg"/><Relationship Id="rId6" Type="http://schemas.openxmlformats.org/officeDocument/2006/relationships/image" Target="../media/image23.png"/><Relationship Id="rId7" Type="http://schemas.openxmlformats.org/officeDocument/2006/relationships/slideLayout" Target="../slideLayouts/slideLayout13.xml"/><Relationship Id="rId8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hyperlink" Target="https://github.com/andrehochuli/teaching/blob/8c153c5b177d3004b5c2aac82d373d4bcec50289/ComputerVision/Lecture%2004%20-%20Finding%20Components/Lecture_04_Component_Segmentation.ipynb" TargetMode="Externa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CustomShape 1"/>
          <p:cNvSpPr/>
          <p:nvPr/>
        </p:nvSpPr>
        <p:spPr>
          <a:xfrm>
            <a:off x="360000" y="333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Lecture 04 - Component Segmentation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540000" y="4680000"/>
            <a:ext cx="9174600" cy="251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Prof. André Gustavo Hochuli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gustavo.hochuli@pucpr.br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2"/>
              </a:rPr>
              <a:t>aghochuli@ppgia.pucpr.br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Topics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CustomShape 4"/>
          <p:cNvSpPr/>
          <p:nvPr/>
        </p:nvSpPr>
        <p:spPr>
          <a:xfrm>
            <a:off x="360000" y="164808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Discussion of Practice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Component Segmentation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Finding Connected Components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Filtering Components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Practice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License Plate Characters Segmentation</a:t>
            </a:r>
            <a:r>
              <a:rPr b="0" lang="en-US" sz="2000" spc="-1" strike="noStrike">
                <a:solidFill>
                  <a:srgbClr val="1c1c1c"/>
                </a:solidFill>
                <a:latin typeface="Calibri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8" name="Picture 1" descr=""/>
          <p:cNvPicPr/>
          <p:nvPr/>
        </p:nvPicPr>
        <p:blipFill>
          <a:blip r:embed="rId1"/>
          <a:stretch/>
        </p:blipFill>
        <p:spPr>
          <a:xfrm>
            <a:off x="2264760" y="4058280"/>
            <a:ext cx="5957280" cy="2762640"/>
          </a:xfrm>
          <a:prstGeom prst="rect">
            <a:avLst/>
          </a:prstGeom>
          <a:ln w="0">
            <a:noFill/>
          </a:ln>
        </p:spPr>
      </p:pic>
      <p:sp>
        <p:nvSpPr>
          <p:cNvPr id="189" name="Oval 2"/>
          <p:cNvSpPr/>
          <p:nvPr/>
        </p:nvSpPr>
        <p:spPr>
          <a:xfrm>
            <a:off x="2359440" y="6476760"/>
            <a:ext cx="273600" cy="230040"/>
          </a:xfrm>
          <a:prstGeom prst="ellipse">
            <a:avLst/>
          </a:prstGeom>
          <a:solidFill>
            <a:srgbClr val="00b050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90" name="Oval 3"/>
          <p:cNvSpPr/>
          <p:nvPr/>
        </p:nvSpPr>
        <p:spPr>
          <a:xfrm>
            <a:off x="2741400" y="6485400"/>
            <a:ext cx="273600" cy="230040"/>
          </a:xfrm>
          <a:prstGeom prst="ellipse">
            <a:avLst/>
          </a:prstGeom>
          <a:solidFill>
            <a:srgbClr val="00b050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91" name="Oval 8"/>
          <p:cNvSpPr/>
          <p:nvPr/>
        </p:nvSpPr>
        <p:spPr>
          <a:xfrm>
            <a:off x="3156120" y="6476760"/>
            <a:ext cx="273600" cy="230040"/>
          </a:xfrm>
          <a:prstGeom prst="ellipse">
            <a:avLst/>
          </a:prstGeom>
          <a:solidFill>
            <a:srgbClr val="00b050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CustomShape 5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Pipeline Review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CustomShape 6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CustomShape 7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CustomShape 8"/>
          <p:cNvSpPr/>
          <p:nvPr/>
        </p:nvSpPr>
        <p:spPr>
          <a:xfrm>
            <a:off x="360000" y="164808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6" name="" descr=""/>
          <p:cNvPicPr/>
          <p:nvPr/>
        </p:nvPicPr>
        <p:blipFill>
          <a:blip r:embed="rId1"/>
          <a:stretch/>
        </p:blipFill>
        <p:spPr>
          <a:xfrm>
            <a:off x="5400" y="1293840"/>
            <a:ext cx="10080360" cy="5564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Component Segmentation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CaixaDeTexto 1"/>
          <p:cNvSpPr/>
          <p:nvPr/>
        </p:nvSpPr>
        <p:spPr>
          <a:xfrm>
            <a:off x="200160" y="1689840"/>
            <a:ext cx="95144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A.K.A Connected Component Extraction, Blob Extraction, …..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Its application comes from Graph Theory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Social Networks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Biology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Pattern Recognition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1" name="Picture 4" descr="3-Connected-Components-Graph"/>
          <p:cNvPicPr/>
          <p:nvPr/>
        </p:nvPicPr>
        <p:blipFill>
          <a:blip r:embed="rId1"/>
          <a:stretch/>
        </p:blipFill>
        <p:spPr>
          <a:xfrm>
            <a:off x="1506600" y="3780000"/>
            <a:ext cx="2610360" cy="2262240"/>
          </a:xfrm>
          <a:prstGeom prst="rect">
            <a:avLst/>
          </a:prstGeom>
          <a:ln w="0">
            <a:noFill/>
          </a:ln>
        </p:spPr>
      </p:pic>
      <p:pic>
        <p:nvPicPr>
          <p:cNvPr id="202" name="Imagem 13" descr=""/>
          <p:cNvPicPr/>
          <p:nvPr/>
        </p:nvPicPr>
        <p:blipFill>
          <a:blip r:embed="rId2"/>
          <a:stretch/>
        </p:blipFill>
        <p:spPr>
          <a:xfrm>
            <a:off x="5930280" y="5444280"/>
            <a:ext cx="3373920" cy="820440"/>
          </a:xfrm>
          <a:prstGeom prst="rect">
            <a:avLst/>
          </a:prstGeom>
          <a:ln w="0">
            <a:noFill/>
          </a:ln>
        </p:spPr>
      </p:pic>
      <p:pic>
        <p:nvPicPr>
          <p:cNvPr id="203" name="Imagem 15" descr=""/>
          <p:cNvPicPr/>
          <p:nvPr/>
        </p:nvPicPr>
        <p:blipFill>
          <a:blip r:embed="rId3"/>
          <a:stretch/>
        </p:blipFill>
        <p:spPr>
          <a:xfrm>
            <a:off x="5796000" y="2768040"/>
            <a:ext cx="3791520" cy="846720"/>
          </a:xfrm>
          <a:prstGeom prst="rect">
            <a:avLst/>
          </a:prstGeom>
          <a:ln w="0">
            <a:noFill/>
          </a:ln>
        </p:spPr>
      </p:pic>
      <p:pic>
        <p:nvPicPr>
          <p:cNvPr id="204" name="Imagem 19" descr=""/>
          <p:cNvPicPr/>
          <p:nvPr/>
        </p:nvPicPr>
        <p:blipFill>
          <a:blip r:embed="rId4"/>
          <a:stretch/>
        </p:blipFill>
        <p:spPr>
          <a:xfrm>
            <a:off x="5724000" y="4093560"/>
            <a:ext cx="3832200" cy="811800"/>
          </a:xfrm>
          <a:prstGeom prst="rect">
            <a:avLst/>
          </a:prstGeom>
          <a:ln w="0">
            <a:noFill/>
          </a:ln>
        </p:spPr>
      </p:pic>
      <p:sp>
        <p:nvSpPr>
          <p:cNvPr id="205" name="Seta: para Baixo 20"/>
          <p:cNvSpPr/>
          <p:nvPr/>
        </p:nvSpPr>
        <p:spPr>
          <a:xfrm>
            <a:off x="7467480" y="3650760"/>
            <a:ext cx="241920" cy="4183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" name="Seta: para Baixo 23"/>
          <p:cNvSpPr/>
          <p:nvPr/>
        </p:nvSpPr>
        <p:spPr>
          <a:xfrm>
            <a:off x="7503480" y="4989960"/>
            <a:ext cx="241920" cy="4183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Connected Component Labelling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CaixaDeTexto 1"/>
          <p:cNvSpPr/>
          <p:nvPr/>
        </p:nvSpPr>
        <p:spPr>
          <a:xfrm>
            <a:off x="200160" y="1689840"/>
            <a:ext cx="951444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Analyzes the non-zero pixel's neighborhood (foreground)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 each connected pixel with a label (1,2,3,4….)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Kernels: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1" name="Picture 2" descr=""/>
          <p:cNvPicPr/>
          <p:nvPr/>
        </p:nvPicPr>
        <p:blipFill>
          <a:blip r:embed="rId1"/>
          <a:stretch/>
        </p:blipFill>
        <p:spPr>
          <a:xfrm>
            <a:off x="2684880" y="4089240"/>
            <a:ext cx="2351520" cy="2351520"/>
          </a:xfrm>
          <a:prstGeom prst="rect">
            <a:avLst/>
          </a:prstGeom>
          <a:ln w="0">
            <a:noFill/>
          </a:ln>
        </p:spPr>
      </p:pic>
      <p:pic>
        <p:nvPicPr>
          <p:cNvPr id="212" name="Picture 4" descr=""/>
          <p:cNvPicPr/>
          <p:nvPr/>
        </p:nvPicPr>
        <p:blipFill>
          <a:blip r:embed="rId2"/>
          <a:stretch/>
        </p:blipFill>
        <p:spPr>
          <a:xfrm>
            <a:off x="6324480" y="4074480"/>
            <a:ext cx="2351520" cy="2351520"/>
          </a:xfrm>
          <a:prstGeom prst="rect">
            <a:avLst/>
          </a:prstGeom>
          <a:ln w="0">
            <a:noFill/>
          </a:ln>
        </p:spPr>
      </p:pic>
      <p:pic>
        <p:nvPicPr>
          <p:cNvPr id="213" name="Picture 6" descr="Four-Pixel-Connectivity"/>
          <p:cNvPicPr/>
          <p:nvPr/>
        </p:nvPicPr>
        <p:blipFill>
          <a:blip r:embed="rId3"/>
          <a:stretch/>
        </p:blipFill>
        <p:spPr>
          <a:xfrm>
            <a:off x="1672560" y="2622960"/>
            <a:ext cx="684000" cy="703080"/>
          </a:xfrm>
          <a:prstGeom prst="rect">
            <a:avLst/>
          </a:prstGeom>
          <a:ln w="0">
            <a:noFill/>
          </a:ln>
        </p:spPr>
      </p:pic>
      <p:pic>
        <p:nvPicPr>
          <p:cNvPr id="214" name="Picture 8" descr="8-Pixel-Connectivity"/>
          <p:cNvPicPr/>
          <p:nvPr/>
        </p:nvPicPr>
        <p:blipFill>
          <a:blip r:embed="rId4"/>
          <a:stretch/>
        </p:blipFill>
        <p:spPr>
          <a:xfrm>
            <a:off x="3395160" y="2613240"/>
            <a:ext cx="722160" cy="712440"/>
          </a:xfrm>
          <a:prstGeom prst="rect">
            <a:avLst/>
          </a:prstGeom>
          <a:ln w="0">
            <a:noFill/>
          </a:ln>
        </p:spPr>
      </p:pic>
      <p:sp>
        <p:nvSpPr>
          <p:cNvPr id="215" name="CaixaDeTexto 10"/>
          <p:cNvSpPr/>
          <p:nvPr/>
        </p:nvSpPr>
        <p:spPr>
          <a:xfrm>
            <a:off x="1262160" y="3361680"/>
            <a:ext cx="1505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4-Neighboors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CaixaDeTexto 11"/>
          <p:cNvSpPr/>
          <p:nvPr/>
        </p:nvSpPr>
        <p:spPr>
          <a:xfrm>
            <a:off x="3003480" y="3358800"/>
            <a:ext cx="1505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8-Neighboors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eta: para a Direita 2"/>
          <p:cNvSpPr/>
          <p:nvPr/>
        </p:nvSpPr>
        <p:spPr>
          <a:xfrm>
            <a:off x="5247720" y="5327280"/>
            <a:ext cx="753480" cy="208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18" name="Picture 8" descr="8-Pixel-Connectivity"/>
          <p:cNvPicPr/>
          <p:nvPr/>
        </p:nvPicPr>
        <p:blipFill>
          <a:blip r:embed="rId5"/>
          <a:stretch/>
        </p:blipFill>
        <p:spPr>
          <a:xfrm>
            <a:off x="900000" y="5084640"/>
            <a:ext cx="722160" cy="712440"/>
          </a:xfrm>
          <a:prstGeom prst="rect">
            <a:avLst/>
          </a:prstGeom>
          <a:ln w="0">
            <a:noFill/>
          </a:ln>
        </p:spPr>
      </p:pic>
      <p:sp>
        <p:nvSpPr>
          <p:cNvPr id="219" name="Seta: para a Direita 15"/>
          <p:cNvSpPr/>
          <p:nvPr/>
        </p:nvSpPr>
        <p:spPr>
          <a:xfrm flipV="1">
            <a:off x="1748880" y="5290200"/>
            <a:ext cx="722160" cy="243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3" name="Picture 2" descr=""/>
          <p:cNvPicPr/>
          <p:nvPr/>
        </p:nvPicPr>
        <p:blipFill>
          <a:blip r:embed="rId1"/>
          <a:stretch/>
        </p:blipFill>
        <p:spPr>
          <a:xfrm>
            <a:off x="2088360" y="3618000"/>
            <a:ext cx="3064680" cy="3064680"/>
          </a:xfrm>
          <a:prstGeom prst="rect">
            <a:avLst/>
          </a:prstGeom>
          <a:ln w="0">
            <a:noFill/>
          </a:ln>
        </p:spPr>
      </p:pic>
      <p:pic>
        <p:nvPicPr>
          <p:cNvPr id="224" name="Picture 2" descr=""/>
          <p:cNvPicPr/>
          <p:nvPr/>
        </p:nvPicPr>
        <p:blipFill>
          <a:blip r:embed="rId2"/>
          <a:stretch/>
        </p:blipFill>
        <p:spPr>
          <a:xfrm>
            <a:off x="6050880" y="3610080"/>
            <a:ext cx="3064680" cy="3064680"/>
          </a:xfrm>
          <a:prstGeom prst="rect">
            <a:avLst/>
          </a:prstGeom>
          <a:ln w="0">
            <a:noFill/>
          </a:ln>
        </p:spPr>
      </p:pic>
      <p:pic>
        <p:nvPicPr>
          <p:cNvPr id="225" name="Imagem 4" descr=""/>
          <p:cNvPicPr/>
          <p:nvPr/>
        </p:nvPicPr>
        <p:blipFill>
          <a:blip r:embed="rId3"/>
          <a:stretch/>
        </p:blipFill>
        <p:spPr>
          <a:xfrm>
            <a:off x="6069960" y="3618720"/>
            <a:ext cx="412920" cy="428400"/>
          </a:xfrm>
          <a:prstGeom prst="rect">
            <a:avLst/>
          </a:prstGeom>
          <a:ln w="0">
            <a:noFill/>
          </a:ln>
        </p:spPr>
      </p:pic>
      <p:pic>
        <p:nvPicPr>
          <p:cNvPr id="226" name="Imagem 7" descr=""/>
          <p:cNvPicPr/>
          <p:nvPr/>
        </p:nvPicPr>
        <p:blipFill>
          <a:blip r:embed="rId4"/>
          <a:stretch/>
        </p:blipFill>
        <p:spPr>
          <a:xfrm>
            <a:off x="1939320" y="3474360"/>
            <a:ext cx="776520" cy="765360"/>
          </a:xfrm>
          <a:prstGeom prst="rect">
            <a:avLst/>
          </a:prstGeom>
          <a:ln w="0">
            <a:noFill/>
          </a:ln>
          <a:effectLst>
            <a:glow rad="127080">
              <a:srgbClr val="4f81bd">
                <a:alpha val="0"/>
              </a:srgbClr>
            </a:glow>
            <a:outerShdw algn="ctr" blurRad="50760" dir="5400000" dist="50760" rotWithShape="0">
              <a:srgbClr val="000000">
                <a:alpha val="0"/>
              </a:srgbClr>
            </a:outerShdw>
          </a:effectLst>
        </p:spPr>
      </p:pic>
      <p:sp>
        <p:nvSpPr>
          <p:cNvPr id="227" name="Seta: para a Direita 10"/>
          <p:cNvSpPr/>
          <p:nvPr/>
        </p:nvSpPr>
        <p:spPr>
          <a:xfrm>
            <a:off x="5262480" y="5015160"/>
            <a:ext cx="678960" cy="270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" name="CaixaDeTexto 12"/>
          <p:cNvSpPr/>
          <p:nvPr/>
        </p:nvSpPr>
        <p:spPr>
          <a:xfrm>
            <a:off x="200160" y="1473840"/>
            <a:ext cx="95144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2" name="Picture 2" descr=""/>
          <p:cNvPicPr/>
          <p:nvPr/>
        </p:nvPicPr>
        <p:blipFill>
          <a:blip r:embed="rId1"/>
          <a:stretch/>
        </p:blipFill>
        <p:spPr>
          <a:xfrm>
            <a:off x="2088360" y="3618000"/>
            <a:ext cx="3064680" cy="3064680"/>
          </a:xfrm>
          <a:prstGeom prst="rect">
            <a:avLst/>
          </a:prstGeom>
          <a:ln w="0">
            <a:noFill/>
          </a:ln>
        </p:spPr>
      </p:pic>
      <p:pic>
        <p:nvPicPr>
          <p:cNvPr id="233" name="Picture 2" descr=""/>
          <p:cNvPicPr/>
          <p:nvPr/>
        </p:nvPicPr>
        <p:blipFill>
          <a:blip r:embed="rId2"/>
          <a:stretch/>
        </p:blipFill>
        <p:spPr>
          <a:xfrm>
            <a:off x="6050880" y="3610080"/>
            <a:ext cx="3064680" cy="3064680"/>
          </a:xfrm>
          <a:prstGeom prst="rect">
            <a:avLst/>
          </a:prstGeom>
          <a:ln w="0">
            <a:noFill/>
          </a:ln>
        </p:spPr>
      </p:pic>
      <p:pic>
        <p:nvPicPr>
          <p:cNvPr id="234" name="Imagem 7" descr=""/>
          <p:cNvPicPr/>
          <p:nvPr/>
        </p:nvPicPr>
        <p:blipFill>
          <a:blip r:embed="rId3"/>
          <a:stretch/>
        </p:blipFill>
        <p:spPr>
          <a:xfrm>
            <a:off x="2336760" y="3474360"/>
            <a:ext cx="776520" cy="765360"/>
          </a:xfrm>
          <a:prstGeom prst="rect">
            <a:avLst/>
          </a:prstGeom>
          <a:ln w="0">
            <a:noFill/>
          </a:ln>
          <a:effectLst>
            <a:glow rad="127080">
              <a:srgbClr val="4f81bd">
                <a:alpha val="0"/>
              </a:srgbClr>
            </a:glow>
            <a:outerShdw algn="ctr" blurRad="50760" dir="5400000" dist="50760" rotWithShape="0">
              <a:srgbClr val="000000">
                <a:alpha val="0"/>
              </a:srgbClr>
            </a:outerShdw>
          </a:effectLst>
        </p:spPr>
      </p:pic>
      <p:sp>
        <p:nvSpPr>
          <p:cNvPr id="235" name="Seta: para a Direita 10"/>
          <p:cNvSpPr/>
          <p:nvPr/>
        </p:nvSpPr>
        <p:spPr>
          <a:xfrm>
            <a:off x="5262480" y="5015160"/>
            <a:ext cx="678960" cy="270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36" name="Imagem 14" descr=""/>
          <p:cNvPicPr/>
          <p:nvPr/>
        </p:nvPicPr>
        <p:blipFill>
          <a:blip r:embed="rId4"/>
          <a:stretch/>
        </p:blipFill>
        <p:spPr>
          <a:xfrm>
            <a:off x="6066000" y="3624840"/>
            <a:ext cx="823320" cy="434520"/>
          </a:xfrm>
          <a:prstGeom prst="rect">
            <a:avLst/>
          </a:prstGeom>
          <a:ln w="0">
            <a:noFill/>
          </a:ln>
        </p:spPr>
      </p:pic>
      <p:sp>
        <p:nvSpPr>
          <p:cNvPr id="237" name="CaixaDeTexto 15"/>
          <p:cNvSpPr/>
          <p:nvPr/>
        </p:nvSpPr>
        <p:spPr>
          <a:xfrm>
            <a:off x="200160" y="1437840"/>
            <a:ext cx="95144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1" name="Picture 2" descr=""/>
          <p:cNvPicPr/>
          <p:nvPr/>
        </p:nvPicPr>
        <p:blipFill>
          <a:blip r:embed="rId1"/>
          <a:stretch/>
        </p:blipFill>
        <p:spPr>
          <a:xfrm>
            <a:off x="2088360" y="3618000"/>
            <a:ext cx="3064680" cy="3064680"/>
          </a:xfrm>
          <a:prstGeom prst="rect">
            <a:avLst/>
          </a:prstGeom>
          <a:ln w="0">
            <a:noFill/>
          </a:ln>
        </p:spPr>
      </p:pic>
      <p:pic>
        <p:nvPicPr>
          <p:cNvPr id="242" name="Picture 2" descr=""/>
          <p:cNvPicPr/>
          <p:nvPr/>
        </p:nvPicPr>
        <p:blipFill>
          <a:blip r:embed="rId2"/>
          <a:stretch/>
        </p:blipFill>
        <p:spPr>
          <a:xfrm>
            <a:off x="6050880" y="3610080"/>
            <a:ext cx="3064680" cy="3064680"/>
          </a:xfrm>
          <a:prstGeom prst="rect">
            <a:avLst/>
          </a:prstGeom>
          <a:ln w="0">
            <a:noFill/>
          </a:ln>
        </p:spPr>
      </p:pic>
      <p:pic>
        <p:nvPicPr>
          <p:cNvPr id="243" name="Imagem 7" descr=""/>
          <p:cNvPicPr/>
          <p:nvPr/>
        </p:nvPicPr>
        <p:blipFill>
          <a:blip r:embed="rId3"/>
          <a:stretch/>
        </p:blipFill>
        <p:spPr>
          <a:xfrm>
            <a:off x="3045960" y="3436560"/>
            <a:ext cx="776520" cy="765360"/>
          </a:xfrm>
          <a:prstGeom prst="rect">
            <a:avLst/>
          </a:prstGeom>
          <a:ln w="0">
            <a:noFill/>
          </a:ln>
          <a:effectLst>
            <a:glow rad="127080">
              <a:srgbClr val="4f81bd">
                <a:alpha val="0"/>
              </a:srgbClr>
            </a:glow>
            <a:outerShdw algn="ctr" blurRad="50760" dir="5400000" dist="50760" rotWithShape="0">
              <a:srgbClr val="000000">
                <a:alpha val="0"/>
              </a:srgbClr>
            </a:outerShdw>
          </a:effectLst>
        </p:spPr>
      </p:pic>
      <p:sp>
        <p:nvSpPr>
          <p:cNvPr id="244" name="Seta: para a Direita 10"/>
          <p:cNvSpPr/>
          <p:nvPr/>
        </p:nvSpPr>
        <p:spPr>
          <a:xfrm>
            <a:off x="5262480" y="5015160"/>
            <a:ext cx="678960" cy="270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45" name="Imagem 14" descr=""/>
          <p:cNvPicPr/>
          <p:nvPr/>
        </p:nvPicPr>
        <p:blipFill>
          <a:blip r:embed="rId4"/>
          <a:stretch/>
        </p:blipFill>
        <p:spPr>
          <a:xfrm>
            <a:off x="6066000" y="3624840"/>
            <a:ext cx="823320" cy="434520"/>
          </a:xfrm>
          <a:prstGeom prst="rect">
            <a:avLst/>
          </a:prstGeom>
          <a:ln w="0">
            <a:noFill/>
          </a:ln>
        </p:spPr>
      </p:pic>
      <p:pic>
        <p:nvPicPr>
          <p:cNvPr id="246" name="Picture 2" descr=""/>
          <p:cNvPicPr/>
          <p:nvPr/>
        </p:nvPicPr>
        <p:blipFill>
          <a:blip r:embed="rId5"/>
          <a:stretch/>
        </p:blipFill>
        <p:spPr>
          <a:xfrm>
            <a:off x="6066000" y="3624840"/>
            <a:ext cx="3049560" cy="3049560"/>
          </a:xfrm>
          <a:prstGeom prst="rect">
            <a:avLst/>
          </a:prstGeom>
          <a:ln w="0">
            <a:noFill/>
          </a:ln>
        </p:spPr>
      </p:pic>
      <p:sp>
        <p:nvSpPr>
          <p:cNvPr id="247" name="CaixaDeTexto 13"/>
          <p:cNvSpPr/>
          <p:nvPr/>
        </p:nvSpPr>
        <p:spPr>
          <a:xfrm>
            <a:off x="200160" y="1509840"/>
            <a:ext cx="95144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1" name="Picture 2" descr=""/>
          <p:cNvPicPr/>
          <p:nvPr/>
        </p:nvPicPr>
        <p:blipFill>
          <a:blip r:embed="rId1"/>
          <a:stretch/>
        </p:blipFill>
        <p:spPr>
          <a:xfrm>
            <a:off x="2088360" y="3618000"/>
            <a:ext cx="3064680" cy="3064680"/>
          </a:xfrm>
          <a:prstGeom prst="rect">
            <a:avLst/>
          </a:prstGeom>
          <a:ln w="0">
            <a:noFill/>
          </a:ln>
        </p:spPr>
      </p:pic>
      <p:pic>
        <p:nvPicPr>
          <p:cNvPr id="252" name="Picture 2" descr=""/>
          <p:cNvPicPr/>
          <p:nvPr/>
        </p:nvPicPr>
        <p:blipFill>
          <a:blip r:embed="rId2"/>
          <a:stretch/>
        </p:blipFill>
        <p:spPr>
          <a:xfrm>
            <a:off x="6050880" y="3610080"/>
            <a:ext cx="3064680" cy="3064680"/>
          </a:xfrm>
          <a:prstGeom prst="rect">
            <a:avLst/>
          </a:prstGeom>
          <a:ln w="0">
            <a:noFill/>
          </a:ln>
        </p:spPr>
      </p:pic>
      <p:pic>
        <p:nvPicPr>
          <p:cNvPr id="253" name="Imagem 7" descr=""/>
          <p:cNvPicPr/>
          <p:nvPr/>
        </p:nvPicPr>
        <p:blipFill>
          <a:blip r:embed="rId3"/>
          <a:stretch/>
        </p:blipFill>
        <p:spPr>
          <a:xfrm>
            <a:off x="4569120" y="3459600"/>
            <a:ext cx="776520" cy="765360"/>
          </a:xfrm>
          <a:prstGeom prst="rect">
            <a:avLst/>
          </a:prstGeom>
          <a:ln w="0">
            <a:noFill/>
          </a:ln>
          <a:effectLst>
            <a:glow rad="127080">
              <a:srgbClr val="4f81bd">
                <a:alpha val="0"/>
              </a:srgbClr>
            </a:glow>
            <a:outerShdw algn="ctr" blurRad="50760" dir="5400000" dist="50760" rotWithShape="0">
              <a:srgbClr val="000000">
                <a:alpha val="0"/>
              </a:srgbClr>
            </a:outerShdw>
          </a:effectLst>
        </p:spPr>
      </p:pic>
      <p:sp>
        <p:nvSpPr>
          <p:cNvPr id="254" name="Seta: para a Direita 10"/>
          <p:cNvSpPr/>
          <p:nvPr/>
        </p:nvSpPr>
        <p:spPr>
          <a:xfrm>
            <a:off x="5262480" y="5015160"/>
            <a:ext cx="678960" cy="270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55" name="Imagem 14" descr=""/>
          <p:cNvPicPr/>
          <p:nvPr/>
        </p:nvPicPr>
        <p:blipFill>
          <a:blip r:embed="rId4"/>
          <a:stretch/>
        </p:blipFill>
        <p:spPr>
          <a:xfrm>
            <a:off x="6066000" y="3624840"/>
            <a:ext cx="823320" cy="434520"/>
          </a:xfrm>
          <a:prstGeom prst="rect">
            <a:avLst/>
          </a:prstGeom>
          <a:ln w="0">
            <a:noFill/>
          </a:ln>
        </p:spPr>
      </p:pic>
      <p:pic>
        <p:nvPicPr>
          <p:cNvPr id="256" name="Picture 2" descr=""/>
          <p:cNvPicPr/>
          <p:nvPr/>
        </p:nvPicPr>
        <p:blipFill>
          <a:blip r:embed="rId5"/>
          <a:stretch/>
        </p:blipFill>
        <p:spPr>
          <a:xfrm>
            <a:off x="6066000" y="3624840"/>
            <a:ext cx="3049560" cy="3049560"/>
          </a:xfrm>
          <a:prstGeom prst="rect">
            <a:avLst/>
          </a:prstGeom>
          <a:ln w="0">
            <a:noFill/>
          </a:ln>
        </p:spPr>
      </p:pic>
      <p:pic>
        <p:nvPicPr>
          <p:cNvPr id="257" name="Picture 2" descr=""/>
          <p:cNvPicPr/>
          <p:nvPr/>
        </p:nvPicPr>
        <p:blipFill>
          <a:blip r:embed="rId6"/>
          <a:stretch/>
        </p:blipFill>
        <p:spPr>
          <a:xfrm>
            <a:off x="6104160" y="3634920"/>
            <a:ext cx="3011760" cy="3011760"/>
          </a:xfrm>
          <a:prstGeom prst="rect">
            <a:avLst/>
          </a:prstGeom>
          <a:ln w="0">
            <a:noFill/>
          </a:ln>
        </p:spPr>
      </p:pic>
      <p:sp>
        <p:nvSpPr>
          <p:cNvPr id="258" name="CaixaDeTexto 16"/>
          <p:cNvSpPr/>
          <p:nvPr/>
        </p:nvSpPr>
        <p:spPr>
          <a:xfrm>
            <a:off x="200160" y="1473840"/>
            <a:ext cx="95144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2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3449160"/>
            <a:ext cx="668520" cy="65952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263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400" cy="3137400"/>
          </a:xfrm>
          <a:prstGeom prst="rect">
            <a:avLst/>
          </a:prstGeom>
          <a:ln w="0">
            <a:noFill/>
          </a:ln>
        </p:spPr>
      </p:pic>
      <p:sp>
        <p:nvSpPr>
          <p:cNvPr id="264" name="CaixaDeTexto 13"/>
          <p:cNvSpPr/>
          <p:nvPr/>
        </p:nvSpPr>
        <p:spPr>
          <a:xfrm>
            <a:off x="200160" y="1581840"/>
            <a:ext cx="95144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8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3921840"/>
            <a:ext cx="668520" cy="65952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269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400" cy="3137400"/>
          </a:xfrm>
          <a:prstGeom prst="rect">
            <a:avLst/>
          </a:prstGeom>
          <a:ln w="0">
            <a:noFill/>
          </a:ln>
        </p:spPr>
      </p:pic>
      <p:pic>
        <p:nvPicPr>
          <p:cNvPr id="270" name="Picture 2" descr=""/>
          <p:cNvPicPr/>
          <p:nvPr/>
        </p:nvPicPr>
        <p:blipFill>
          <a:blip r:embed="rId3"/>
          <a:stretch/>
        </p:blipFill>
        <p:spPr>
          <a:xfrm>
            <a:off x="3349080" y="3577680"/>
            <a:ext cx="3137400" cy="3137400"/>
          </a:xfrm>
          <a:prstGeom prst="rect">
            <a:avLst/>
          </a:prstGeom>
          <a:ln w="0">
            <a:noFill/>
          </a:ln>
        </p:spPr>
      </p:pic>
      <p:sp>
        <p:nvSpPr>
          <p:cNvPr id="271" name="CaixaDeTexto 13"/>
          <p:cNvSpPr/>
          <p:nvPr/>
        </p:nvSpPr>
        <p:spPr>
          <a:xfrm>
            <a:off x="200160" y="1689840"/>
            <a:ext cx="9514440" cy="365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5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4199400"/>
            <a:ext cx="668520" cy="65952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276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400" cy="3137400"/>
          </a:xfrm>
          <a:prstGeom prst="rect">
            <a:avLst/>
          </a:prstGeom>
          <a:ln w="0">
            <a:noFill/>
          </a:ln>
        </p:spPr>
      </p:pic>
      <p:pic>
        <p:nvPicPr>
          <p:cNvPr id="277" name="Picture 2" descr=""/>
          <p:cNvPicPr/>
          <p:nvPr/>
        </p:nvPicPr>
        <p:blipFill>
          <a:blip r:embed="rId3"/>
          <a:stretch/>
        </p:blipFill>
        <p:spPr>
          <a:xfrm>
            <a:off x="3380040" y="3577680"/>
            <a:ext cx="4688640" cy="3125160"/>
          </a:xfrm>
          <a:prstGeom prst="rect">
            <a:avLst/>
          </a:prstGeom>
          <a:ln w="0">
            <a:noFill/>
          </a:ln>
        </p:spPr>
      </p:pic>
      <p:sp>
        <p:nvSpPr>
          <p:cNvPr id="278" name="Retângulo 2"/>
          <p:cNvSpPr/>
          <p:nvPr/>
        </p:nvSpPr>
        <p:spPr>
          <a:xfrm>
            <a:off x="6811560" y="3565440"/>
            <a:ext cx="2423520" cy="312516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" name="CaixaDeTexto 3"/>
          <p:cNvSpPr/>
          <p:nvPr/>
        </p:nvSpPr>
        <p:spPr>
          <a:xfrm>
            <a:off x="7362000" y="3222360"/>
            <a:ext cx="1359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eta: para a Esquerda 10"/>
          <p:cNvSpPr/>
          <p:nvPr/>
        </p:nvSpPr>
        <p:spPr>
          <a:xfrm>
            <a:off x="7691040" y="4030920"/>
            <a:ext cx="819000" cy="334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" name="Seta: para Baixo 4"/>
          <p:cNvSpPr/>
          <p:nvPr/>
        </p:nvSpPr>
        <p:spPr>
          <a:xfrm>
            <a:off x="7971120" y="2885760"/>
            <a:ext cx="258840" cy="3675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" name="CaixaDeTexto 5"/>
          <p:cNvSpPr/>
          <p:nvPr/>
        </p:nvSpPr>
        <p:spPr>
          <a:xfrm>
            <a:off x="7176960" y="2358360"/>
            <a:ext cx="1847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Adjacent labels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CaixaDeTexto 15"/>
          <p:cNvSpPr/>
          <p:nvPr/>
        </p:nvSpPr>
        <p:spPr>
          <a:xfrm>
            <a:off x="200160" y="1689840"/>
            <a:ext cx="9514440" cy="39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7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4601520"/>
            <a:ext cx="668520" cy="65952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288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400" cy="3137400"/>
          </a:xfrm>
          <a:prstGeom prst="rect">
            <a:avLst/>
          </a:prstGeom>
          <a:ln w="0">
            <a:noFill/>
          </a:ln>
        </p:spPr>
      </p:pic>
      <p:pic>
        <p:nvPicPr>
          <p:cNvPr id="289" name="Imagem 3" descr=""/>
          <p:cNvPicPr/>
          <p:nvPr/>
        </p:nvPicPr>
        <p:blipFill>
          <a:blip r:embed="rId3"/>
          <a:stretch/>
        </p:blipFill>
        <p:spPr>
          <a:xfrm>
            <a:off x="3349080" y="3593160"/>
            <a:ext cx="4085640" cy="3121920"/>
          </a:xfrm>
          <a:prstGeom prst="rect">
            <a:avLst/>
          </a:prstGeom>
          <a:ln w="0">
            <a:noFill/>
          </a:ln>
        </p:spPr>
      </p:pic>
      <p:sp>
        <p:nvSpPr>
          <p:cNvPr id="290" name="Retângulo 10"/>
          <p:cNvSpPr/>
          <p:nvPr/>
        </p:nvSpPr>
        <p:spPr>
          <a:xfrm>
            <a:off x="6811560" y="3565440"/>
            <a:ext cx="2423520" cy="312516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" name="CaixaDeTexto 13"/>
          <p:cNvSpPr/>
          <p:nvPr/>
        </p:nvSpPr>
        <p:spPr>
          <a:xfrm>
            <a:off x="7362000" y="3222360"/>
            <a:ext cx="1359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CaixaDeTexto 15"/>
          <p:cNvSpPr/>
          <p:nvPr/>
        </p:nvSpPr>
        <p:spPr>
          <a:xfrm>
            <a:off x="200160" y="1689840"/>
            <a:ext cx="9514440" cy="420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6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4998240"/>
            <a:ext cx="668520" cy="65952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297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400" cy="3137400"/>
          </a:xfrm>
          <a:prstGeom prst="rect">
            <a:avLst/>
          </a:prstGeom>
          <a:ln w="0">
            <a:noFill/>
          </a:ln>
        </p:spPr>
      </p:pic>
      <p:pic>
        <p:nvPicPr>
          <p:cNvPr id="298" name="Imagem 3" descr=""/>
          <p:cNvPicPr/>
          <p:nvPr/>
        </p:nvPicPr>
        <p:blipFill>
          <a:blip r:embed="rId3"/>
          <a:stretch/>
        </p:blipFill>
        <p:spPr>
          <a:xfrm>
            <a:off x="3349080" y="3593160"/>
            <a:ext cx="4085640" cy="3121920"/>
          </a:xfrm>
          <a:prstGeom prst="rect">
            <a:avLst/>
          </a:prstGeom>
          <a:ln w="0">
            <a:noFill/>
          </a:ln>
        </p:spPr>
      </p:pic>
      <p:pic>
        <p:nvPicPr>
          <p:cNvPr id="299" name="Imagem 4" descr=""/>
          <p:cNvPicPr/>
          <p:nvPr/>
        </p:nvPicPr>
        <p:blipFill>
          <a:blip r:embed="rId4"/>
          <a:stretch/>
        </p:blipFill>
        <p:spPr>
          <a:xfrm>
            <a:off x="3349080" y="3596400"/>
            <a:ext cx="4085640" cy="3167640"/>
          </a:xfrm>
          <a:prstGeom prst="rect">
            <a:avLst/>
          </a:prstGeom>
          <a:ln w="0">
            <a:noFill/>
          </a:ln>
        </p:spPr>
      </p:pic>
      <p:sp>
        <p:nvSpPr>
          <p:cNvPr id="300" name="Retângulo 13"/>
          <p:cNvSpPr/>
          <p:nvPr/>
        </p:nvSpPr>
        <p:spPr>
          <a:xfrm>
            <a:off x="6811560" y="3565440"/>
            <a:ext cx="2423520" cy="312516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" name="CaixaDeTexto 14"/>
          <p:cNvSpPr/>
          <p:nvPr/>
        </p:nvSpPr>
        <p:spPr>
          <a:xfrm>
            <a:off x="7362000" y="3222360"/>
            <a:ext cx="1359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CaixaDeTexto 16"/>
          <p:cNvSpPr/>
          <p:nvPr/>
        </p:nvSpPr>
        <p:spPr>
          <a:xfrm>
            <a:off x="200160" y="1689840"/>
            <a:ext cx="9514440" cy="47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6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5430240"/>
            <a:ext cx="668520" cy="65952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307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400" cy="3137400"/>
          </a:xfrm>
          <a:prstGeom prst="rect">
            <a:avLst/>
          </a:prstGeom>
          <a:ln w="0">
            <a:noFill/>
          </a:ln>
        </p:spPr>
      </p:pic>
      <p:pic>
        <p:nvPicPr>
          <p:cNvPr id="308" name="Imagem 3" descr=""/>
          <p:cNvPicPr/>
          <p:nvPr/>
        </p:nvPicPr>
        <p:blipFill>
          <a:blip r:embed="rId3"/>
          <a:stretch/>
        </p:blipFill>
        <p:spPr>
          <a:xfrm>
            <a:off x="3349080" y="3593160"/>
            <a:ext cx="4085640" cy="3121920"/>
          </a:xfrm>
          <a:prstGeom prst="rect">
            <a:avLst/>
          </a:prstGeom>
          <a:ln w="0">
            <a:noFill/>
          </a:ln>
        </p:spPr>
      </p:pic>
      <p:pic>
        <p:nvPicPr>
          <p:cNvPr id="309" name="Imagem 4" descr=""/>
          <p:cNvPicPr/>
          <p:nvPr/>
        </p:nvPicPr>
        <p:blipFill>
          <a:blip r:embed="rId4"/>
          <a:stretch/>
        </p:blipFill>
        <p:spPr>
          <a:xfrm>
            <a:off x="3349080" y="3596400"/>
            <a:ext cx="4085640" cy="3167640"/>
          </a:xfrm>
          <a:prstGeom prst="rect">
            <a:avLst/>
          </a:prstGeom>
          <a:ln w="0">
            <a:noFill/>
          </a:ln>
        </p:spPr>
      </p:pic>
      <p:pic>
        <p:nvPicPr>
          <p:cNvPr id="310" name="Imagem 5" descr=""/>
          <p:cNvPicPr/>
          <p:nvPr/>
        </p:nvPicPr>
        <p:blipFill>
          <a:blip r:embed="rId5"/>
          <a:stretch/>
        </p:blipFill>
        <p:spPr>
          <a:xfrm>
            <a:off x="3349080" y="3593160"/>
            <a:ext cx="3178440" cy="3167640"/>
          </a:xfrm>
          <a:prstGeom prst="rect">
            <a:avLst/>
          </a:prstGeom>
          <a:ln w="0">
            <a:noFill/>
          </a:ln>
        </p:spPr>
      </p:pic>
      <p:sp>
        <p:nvSpPr>
          <p:cNvPr id="311" name="Retângulo 11"/>
          <p:cNvSpPr/>
          <p:nvPr/>
        </p:nvSpPr>
        <p:spPr>
          <a:xfrm>
            <a:off x="6811560" y="3565440"/>
            <a:ext cx="2423520" cy="312516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" name="CaixaDeTexto 13"/>
          <p:cNvSpPr/>
          <p:nvPr/>
        </p:nvSpPr>
        <p:spPr>
          <a:xfrm>
            <a:off x="7362000" y="3222360"/>
            <a:ext cx="1359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CaixaDeTexto 16"/>
          <p:cNvSpPr/>
          <p:nvPr/>
        </p:nvSpPr>
        <p:spPr>
          <a:xfrm>
            <a:off x="200160" y="1689840"/>
            <a:ext cx="9514440" cy="50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7" name="Picture 8" descr="8-Pixel-Connectivity"/>
          <p:cNvPicPr/>
          <p:nvPr/>
        </p:nvPicPr>
        <p:blipFill>
          <a:blip r:embed="rId1"/>
          <a:stretch/>
        </p:blipFill>
        <p:spPr>
          <a:xfrm>
            <a:off x="2671920" y="5869800"/>
            <a:ext cx="668520" cy="65952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318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400" cy="3137400"/>
          </a:xfrm>
          <a:prstGeom prst="rect">
            <a:avLst/>
          </a:prstGeom>
          <a:ln w="0">
            <a:noFill/>
          </a:ln>
        </p:spPr>
      </p:pic>
      <p:pic>
        <p:nvPicPr>
          <p:cNvPr id="319" name="Imagem 3" descr=""/>
          <p:cNvPicPr/>
          <p:nvPr/>
        </p:nvPicPr>
        <p:blipFill>
          <a:blip r:embed="rId3"/>
          <a:stretch/>
        </p:blipFill>
        <p:spPr>
          <a:xfrm>
            <a:off x="3349080" y="3593160"/>
            <a:ext cx="4085640" cy="3121920"/>
          </a:xfrm>
          <a:prstGeom prst="rect">
            <a:avLst/>
          </a:prstGeom>
          <a:ln w="0">
            <a:noFill/>
          </a:ln>
        </p:spPr>
      </p:pic>
      <p:pic>
        <p:nvPicPr>
          <p:cNvPr id="320" name="Imagem 4" descr=""/>
          <p:cNvPicPr/>
          <p:nvPr/>
        </p:nvPicPr>
        <p:blipFill>
          <a:blip r:embed="rId4"/>
          <a:stretch/>
        </p:blipFill>
        <p:spPr>
          <a:xfrm>
            <a:off x="3349080" y="3596400"/>
            <a:ext cx="4085640" cy="3167640"/>
          </a:xfrm>
          <a:prstGeom prst="rect">
            <a:avLst/>
          </a:prstGeom>
          <a:ln w="0">
            <a:noFill/>
          </a:ln>
        </p:spPr>
      </p:pic>
      <p:pic>
        <p:nvPicPr>
          <p:cNvPr id="321" name="Picture 2" descr=""/>
          <p:cNvPicPr/>
          <p:nvPr/>
        </p:nvPicPr>
        <p:blipFill>
          <a:blip r:embed="rId5"/>
          <a:stretch/>
        </p:blipFill>
        <p:spPr>
          <a:xfrm>
            <a:off x="3342240" y="3593160"/>
            <a:ext cx="4806000" cy="3203640"/>
          </a:xfrm>
          <a:prstGeom prst="rect">
            <a:avLst/>
          </a:prstGeom>
          <a:ln w="0">
            <a:noFill/>
          </a:ln>
        </p:spPr>
      </p:pic>
      <p:sp>
        <p:nvSpPr>
          <p:cNvPr id="322" name="Seta: para a Esquerda 2"/>
          <p:cNvSpPr/>
          <p:nvPr/>
        </p:nvSpPr>
        <p:spPr>
          <a:xfrm>
            <a:off x="7739640" y="5198400"/>
            <a:ext cx="819000" cy="334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" name="Retângulo 15"/>
          <p:cNvSpPr/>
          <p:nvPr/>
        </p:nvSpPr>
        <p:spPr>
          <a:xfrm>
            <a:off x="6811560" y="3565440"/>
            <a:ext cx="2423520" cy="312516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" name="CaixaDeTexto 16"/>
          <p:cNvSpPr/>
          <p:nvPr/>
        </p:nvSpPr>
        <p:spPr>
          <a:xfrm>
            <a:off x="7362000" y="3222360"/>
            <a:ext cx="1359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CaixaDeTexto 17"/>
          <p:cNvSpPr/>
          <p:nvPr/>
        </p:nvSpPr>
        <p:spPr>
          <a:xfrm>
            <a:off x="200160" y="1689840"/>
            <a:ext cx="9514440" cy="55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#7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9" name="Picture 8" descr="8-Pixel-Connectivity"/>
          <p:cNvPicPr/>
          <p:nvPr/>
        </p:nvPicPr>
        <p:blipFill>
          <a:blip r:embed="rId1"/>
          <a:stretch/>
        </p:blipFill>
        <p:spPr>
          <a:xfrm>
            <a:off x="2690640" y="6193440"/>
            <a:ext cx="668520" cy="65952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330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400" cy="3137400"/>
          </a:xfrm>
          <a:prstGeom prst="rect">
            <a:avLst/>
          </a:prstGeom>
          <a:ln w="0">
            <a:noFill/>
          </a:ln>
        </p:spPr>
      </p:pic>
      <p:pic>
        <p:nvPicPr>
          <p:cNvPr id="331" name="Imagem 3" descr=""/>
          <p:cNvPicPr/>
          <p:nvPr/>
        </p:nvPicPr>
        <p:blipFill>
          <a:blip r:embed="rId3"/>
          <a:stretch/>
        </p:blipFill>
        <p:spPr>
          <a:xfrm>
            <a:off x="3349080" y="3593160"/>
            <a:ext cx="4085640" cy="3121920"/>
          </a:xfrm>
          <a:prstGeom prst="rect">
            <a:avLst/>
          </a:prstGeom>
          <a:ln w="0">
            <a:noFill/>
          </a:ln>
        </p:spPr>
      </p:pic>
      <p:pic>
        <p:nvPicPr>
          <p:cNvPr id="332" name="Imagem 4" descr=""/>
          <p:cNvPicPr/>
          <p:nvPr/>
        </p:nvPicPr>
        <p:blipFill>
          <a:blip r:embed="rId4"/>
          <a:stretch/>
        </p:blipFill>
        <p:spPr>
          <a:xfrm>
            <a:off x="3349080" y="3596400"/>
            <a:ext cx="4085640" cy="3167640"/>
          </a:xfrm>
          <a:prstGeom prst="rect">
            <a:avLst/>
          </a:prstGeom>
          <a:ln w="0">
            <a:noFill/>
          </a:ln>
        </p:spPr>
      </p:pic>
      <p:pic>
        <p:nvPicPr>
          <p:cNvPr id="333" name="Picture 2" descr=""/>
          <p:cNvPicPr/>
          <p:nvPr/>
        </p:nvPicPr>
        <p:blipFill>
          <a:blip r:embed="rId5"/>
          <a:stretch/>
        </p:blipFill>
        <p:spPr>
          <a:xfrm>
            <a:off x="3342240" y="3593160"/>
            <a:ext cx="4806000" cy="3203640"/>
          </a:xfrm>
          <a:prstGeom prst="rect">
            <a:avLst/>
          </a:prstGeom>
          <a:ln w="0">
            <a:noFill/>
          </a:ln>
        </p:spPr>
      </p:pic>
      <p:sp>
        <p:nvSpPr>
          <p:cNvPr id="334" name="Seta: para a Esquerda 2"/>
          <p:cNvSpPr/>
          <p:nvPr/>
        </p:nvSpPr>
        <p:spPr>
          <a:xfrm>
            <a:off x="7581240" y="6025320"/>
            <a:ext cx="819000" cy="334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" name="CaixaDeTexto 16"/>
          <p:cNvSpPr/>
          <p:nvPr/>
        </p:nvSpPr>
        <p:spPr>
          <a:xfrm>
            <a:off x="7362000" y="3222360"/>
            <a:ext cx="1359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6" name="Imagem 6" descr=""/>
          <p:cNvPicPr/>
          <p:nvPr/>
        </p:nvPicPr>
        <p:blipFill>
          <a:blip r:embed="rId6"/>
          <a:stretch/>
        </p:blipFill>
        <p:spPr>
          <a:xfrm>
            <a:off x="3351960" y="3591720"/>
            <a:ext cx="4076640" cy="3169080"/>
          </a:xfrm>
          <a:prstGeom prst="rect">
            <a:avLst/>
          </a:prstGeom>
          <a:ln w="0">
            <a:noFill/>
          </a:ln>
        </p:spPr>
      </p:pic>
      <p:sp>
        <p:nvSpPr>
          <p:cNvPr id="337" name="Retângulo 17"/>
          <p:cNvSpPr/>
          <p:nvPr/>
        </p:nvSpPr>
        <p:spPr>
          <a:xfrm>
            <a:off x="6811560" y="3565440"/>
            <a:ext cx="2423520" cy="312516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" name="CaixaDeTexto 15"/>
          <p:cNvSpPr/>
          <p:nvPr/>
        </p:nvSpPr>
        <p:spPr>
          <a:xfrm>
            <a:off x="200160" y="1689840"/>
            <a:ext cx="9514440" cy="58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#8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CaixaDeTexto 1"/>
          <p:cNvSpPr/>
          <p:nvPr/>
        </p:nvSpPr>
        <p:spPr>
          <a:xfrm>
            <a:off x="200160" y="1689840"/>
            <a:ext cx="951444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#2: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Resolve 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CaixaDeTexto 16"/>
          <p:cNvSpPr/>
          <p:nvPr/>
        </p:nvSpPr>
        <p:spPr>
          <a:xfrm>
            <a:off x="5360040" y="3461040"/>
            <a:ext cx="1359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4" name="Imagem 6" descr=""/>
          <p:cNvPicPr/>
          <p:nvPr/>
        </p:nvPicPr>
        <p:blipFill>
          <a:blip r:embed="rId1"/>
          <a:stretch/>
        </p:blipFill>
        <p:spPr>
          <a:xfrm>
            <a:off x="2627280" y="3835800"/>
            <a:ext cx="3489840" cy="2712960"/>
          </a:xfrm>
          <a:prstGeom prst="rect">
            <a:avLst/>
          </a:prstGeom>
          <a:ln w="0">
            <a:noFill/>
          </a:ln>
        </p:spPr>
      </p:pic>
      <p:sp>
        <p:nvSpPr>
          <p:cNvPr id="345" name="Retângulo 14"/>
          <p:cNvSpPr/>
          <p:nvPr/>
        </p:nvSpPr>
        <p:spPr>
          <a:xfrm>
            <a:off x="5828040" y="3981600"/>
            <a:ext cx="297720" cy="252324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46" name="Imagem 7" descr=""/>
          <p:cNvPicPr/>
          <p:nvPr/>
        </p:nvPicPr>
        <p:blipFill>
          <a:blip r:embed="rId2"/>
          <a:stretch/>
        </p:blipFill>
        <p:spPr>
          <a:xfrm>
            <a:off x="6651720" y="3791880"/>
            <a:ext cx="2745720" cy="2712960"/>
          </a:xfrm>
          <a:prstGeom prst="rect">
            <a:avLst/>
          </a:prstGeom>
          <a:ln w="0">
            <a:noFill/>
          </a:ln>
        </p:spPr>
      </p:pic>
      <p:sp>
        <p:nvSpPr>
          <p:cNvPr id="347" name="Seta: para a Direita 10"/>
          <p:cNvSpPr/>
          <p:nvPr/>
        </p:nvSpPr>
        <p:spPr>
          <a:xfrm>
            <a:off x="4123800" y="4463280"/>
            <a:ext cx="4066560" cy="14817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alpha val="9000"/>
            </a:schemeClr>
          </a:solidFill>
          <a:ln>
            <a:solidFill>
              <a:srgbClr val="c00000"/>
            </a:solidFill>
            <a:round/>
          </a:ln>
          <a:effectLst>
            <a:outerShdw algn="ctr" blurRad="50760" dir="5400000" dist="50760" rotWithShape="0">
              <a:srgbClr val="000000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Let’s Code!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CaixaDeTexto 1"/>
          <p:cNvSpPr/>
          <p:nvPr/>
        </p:nvSpPr>
        <p:spPr>
          <a:xfrm>
            <a:off x="200160" y="1689840"/>
            <a:ext cx="9514440" cy="50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In our pratice, we will implement an algorithm to segment characters in a license plate.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Besides, we will introduce the cv2.connectedComponent() that implements the component labeling method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Checkout it here: </a:t>
            </a:r>
            <a:r>
              <a:rPr b="0" lang="en-US" sz="1800" spc="-1" strike="noStrike" u="sng">
                <a:solidFill>
                  <a:srgbClr val="0000ff"/>
                </a:solidFill>
                <a:uFillTx/>
                <a:latin typeface="Calibri"/>
                <a:ea typeface="DejaVu Sans"/>
                <a:hlinkClick r:id="rId1"/>
              </a:rPr>
              <a:t>Lecture 04 - Finding Components.ipynb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2" name="Imagem 5" descr=""/>
          <p:cNvPicPr/>
          <p:nvPr/>
        </p:nvPicPr>
        <p:blipFill>
          <a:blip r:embed="rId2"/>
          <a:stretch/>
        </p:blipFill>
        <p:spPr>
          <a:xfrm>
            <a:off x="3236760" y="4493880"/>
            <a:ext cx="2854440" cy="630720"/>
          </a:xfrm>
          <a:prstGeom prst="rect">
            <a:avLst/>
          </a:prstGeom>
          <a:ln w="0">
            <a:noFill/>
          </a:ln>
        </p:spPr>
      </p:pic>
      <p:pic>
        <p:nvPicPr>
          <p:cNvPr id="353" name="Imagem 6" descr=""/>
          <p:cNvPicPr/>
          <p:nvPr/>
        </p:nvPicPr>
        <p:blipFill>
          <a:blip r:embed="rId3"/>
          <a:stretch/>
        </p:blipFill>
        <p:spPr>
          <a:xfrm>
            <a:off x="3173040" y="2122200"/>
            <a:ext cx="2918160" cy="592200"/>
          </a:xfrm>
          <a:prstGeom prst="rect">
            <a:avLst/>
          </a:prstGeom>
          <a:ln w="0">
            <a:noFill/>
          </a:ln>
        </p:spPr>
      </p:pic>
      <p:pic>
        <p:nvPicPr>
          <p:cNvPr id="354" name="Imagem 7" descr=""/>
          <p:cNvPicPr/>
          <p:nvPr/>
        </p:nvPicPr>
        <p:blipFill>
          <a:blip r:embed="rId4"/>
          <a:stretch/>
        </p:blipFill>
        <p:spPr>
          <a:xfrm>
            <a:off x="3236760" y="3304440"/>
            <a:ext cx="2766600" cy="532080"/>
          </a:xfrm>
          <a:prstGeom prst="rect">
            <a:avLst/>
          </a:prstGeom>
          <a:ln w="0">
            <a:noFill/>
          </a:ln>
        </p:spPr>
      </p:pic>
      <p:sp>
        <p:nvSpPr>
          <p:cNvPr id="355" name="Seta: para Baixo 11"/>
          <p:cNvSpPr/>
          <p:nvPr/>
        </p:nvSpPr>
        <p:spPr>
          <a:xfrm>
            <a:off x="4498920" y="3885120"/>
            <a:ext cx="219240" cy="521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6" name="Seta: para Baixo 12"/>
          <p:cNvSpPr/>
          <p:nvPr/>
        </p:nvSpPr>
        <p:spPr>
          <a:xfrm>
            <a:off x="4502520" y="2734560"/>
            <a:ext cx="219240" cy="521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CustomShape 10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Let’s Code!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CustomShape 11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CustomShape 12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0" y="457200"/>
            <a:ext cx="9945000" cy="6629400"/>
          </a:xfrm>
          <a:prstGeom prst="rect">
            <a:avLst/>
          </a:prstGeom>
          <a:blipFill rotWithShape="0">
            <a:blip r:embed="rId1"/>
            <a:stretch/>
          </a:blip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pPr algn="ctr"/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pp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2040</TotalTime>
  <Application>LibreOffice/24.2.7.2$Linux_X86_64 LibreOffice_project/420$Build-2</Application>
  <AppVersion>15.0000</AppVersion>
  <Words>1269</Words>
  <Paragraphs>285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2021-04-28T18:38:02Z</dcterms:created>
  <dc:creator/>
  <dc:description/>
  <dc:language>en-US</dc:language>
  <cp:lastModifiedBy/>
  <cp:lastPrinted>2026-08-28T18:29:25Z</cp:lastPrinted>
  <dcterms:modified xsi:type="dcterms:W3CDTF">2026-08-28T20:38:46Z</dcterms:modified>
  <cp:revision>131</cp:revision>
  <dc:subject/>
  <dc:title>Alizarin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KSOProductBuildVer">
    <vt:lpwstr>1033-11.1.0.10161</vt:lpwstr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18</vt:i4>
  </property>
  <property fmtid="{D5CDD505-2E9C-101B-9397-08002B2CF9AE}" pid="8" name="PresentationFormat">
    <vt:lpwstr>Custom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18</vt:i4>
  </property>
</Properties>
</file>