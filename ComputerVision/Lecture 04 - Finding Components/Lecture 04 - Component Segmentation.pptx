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png" ContentType="image/png"/>
  <Override PartName="/ppt/media/image3.png" ContentType="image/png"/>
  <Override PartName="/ppt/media/image13.png" ContentType="image/png"/>
  <Override PartName="/ppt/media/image10.gif" ContentType="image/gif"/>
  <Override PartName="/ppt/media/image4.png" ContentType="image/png"/>
  <Override PartName="/ppt/media/image11.jpeg" ContentType="image/jpeg"/>
  <Override PartName="/ppt/media/image8.jpeg" ContentType="image/jpeg"/>
  <Override PartName="/ppt/media/image9.gif" ContentType="image/gif"/>
  <Override PartName="/ppt/media/image23.png" ContentType="image/png"/>
  <Override PartName="/ppt/media/image7.jpeg" ContentType="image/jpeg"/>
  <Override PartName="/ppt/media/image20.png" ContentType="image/png"/>
  <Override PartName="/ppt/media/image24.png" ContentType="image/png"/>
  <Override PartName="/ppt/media/image18.jpeg" ContentType="image/jpeg"/>
  <Override PartName="/ppt/media/image21.png" ContentType="image/png"/>
  <Override PartName="/ppt/media/image19.png" ContentType="image/png"/>
  <Override PartName="/ppt/media/image17.jpeg" ContentType="image/jpeg"/>
  <Override PartName="/ppt/media/image5.png" ContentType="image/png"/>
  <Override PartName="/ppt/media/image14.png" ContentType="image/png"/>
  <Override PartName="/ppt/media/image16.jpeg" ContentType="image/jpeg"/>
  <Override PartName="/ppt/media/image15.jpeg" ContentType="image/jpeg"/>
  <Override PartName="/ppt/media/image1.png" ContentType="image/png"/>
  <Override PartName="/ppt/media/image2.png" ContentType="image/png"/>
  <Override PartName="/ppt/media/image22.jpeg" ContentType="image/jpeg"/>
  <Override PartName="/ppt/media/image6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F75951-25EF-4211-901D-730376EEEE6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4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1320" cy="360144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9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040" cy="36018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240" cy="42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CustomShape 3"/>
          <p:cNvSpPr/>
          <p:nvPr/>
        </p:nvSpPr>
        <p:spPr>
          <a:xfrm>
            <a:off x="0" y="10155240"/>
            <a:ext cx="32706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14600" cy="1254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4600" cy="125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4600" cy="5346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4600" cy="5346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4600" cy="5346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0.gif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11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11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e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11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eg"/><Relationship Id="rId6" Type="http://schemas.openxmlformats.org/officeDocument/2006/relationships/image" Target="../media/image16.jpe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8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jpe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6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jpe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8c153c5b177d3004b5c2aac82d373d4bcec50289/ComputerVision/Lecture%2004%20-%20Finding%20Components/Lecture_04_Component_Segmentation.ipynb" TargetMode="Externa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60000" y="333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Lecture 04 - Component 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540000" y="4680000"/>
            <a:ext cx="9174600" cy="25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360000" y="1648080"/>
            <a:ext cx="9174600" cy="46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Discussion of Practice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Component Segmentation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Finding Connected Components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Filtering Components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Practice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License Plate Characters Segmentation</a:t>
            </a: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1" descr=""/>
          <p:cNvPicPr/>
          <p:nvPr/>
        </p:nvPicPr>
        <p:blipFill>
          <a:blip r:embed="rId1"/>
          <a:stretch/>
        </p:blipFill>
        <p:spPr>
          <a:xfrm>
            <a:off x="2264760" y="4058280"/>
            <a:ext cx="5957280" cy="2762640"/>
          </a:xfrm>
          <a:prstGeom prst="rect">
            <a:avLst/>
          </a:prstGeom>
          <a:ln w="0">
            <a:noFill/>
          </a:ln>
        </p:spPr>
      </p:pic>
      <p:sp>
        <p:nvSpPr>
          <p:cNvPr id="189" name="Oval 2"/>
          <p:cNvSpPr/>
          <p:nvPr/>
        </p:nvSpPr>
        <p:spPr>
          <a:xfrm>
            <a:off x="2359440" y="6476760"/>
            <a:ext cx="273600" cy="23004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0" name="Oval 3"/>
          <p:cNvSpPr/>
          <p:nvPr/>
        </p:nvSpPr>
        <p:spPr>
          <a:xfrm>
            <a:off x="2741400" y="6485400"/>
            <a:ext cx="273600" cy="23004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1" name="Oval 8"/>
          <p:cNvSpPr/>
          <p:nvPr/>
        </p:nvSpPr>
        <p:spPr>
          <a:xfrm>
            <a:off x="3156120" y="6476760"/>
            <a:ext cx="273600" cy="230040"/>
          </a:xfrm>
          <a:prstGeom prst="ellipse">
            <a:avLst/>
          </a:prstGeom>
          <a:solidFill>
            <a:srgbClr val="00b050"/>
          </a:solidFill>
          <a:ln>
            <a:solidFill>
              <a:srgbClr val="223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5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Pipeline Review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6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ustomShape 7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8"/>
          <p:cNvSpPr/>
          <p:nvPr/>
        </p:nvSpPr>
        <p:spPr>
          <a:xfrm>
            <a:off x="360000" y="1648080"/>
            <a:ext cx="9174600" cy="46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5400" y="1293840"/>
            <a:ext cx="10080360" cy="556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Component 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aixaDeTexto 1"/>
          <p:cNvSpPr/>
          <p:nvPr/>
        </p:nvSpPr>
        <p:spPr>
          <a:xfrm>
            <a:off x="200160" y="1689840"/>
            <a:ext cx="95144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A.K.A Connected Component Extraction, Blob Extraction, …..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Its application comes from Graph Theory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Social Networks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Biology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Pattern Recognition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4" descr="3-Connected-Components-Graph"/>
          <p:cNvPicPr/>
          <p:nvPr/>
        </p:nvPicPr>
        <p:blipFill>
          <a:blip r:embed="rId1"/>
          <a:stretch/>
        </p:blipFill>
        <p:spPr>
          <a:xfrm>
            <a:off x="1506600" y="3780000"/>
            <a:ext cx="2610360" cy="2262240"/>
          </a:xfrm>
          <a:prstGeom prst="rect">
            <a:avLst/>
          </a:prstGeom>
          <a:ln w="0">
            <a:noFill/>
          </a:ln>
        </p:spPr>
      </p:pic>
      <p:pic>
        <p:nvPicPr>
          <p:cNvPr id="202" name="Imagem 13" descr=""/>
          <p:cNvPicPr/>
          <p:nvPr/>
        </p:nvPicPr>
        <p:blipFill>
          <a:blip r:embed="rId2"/>
          <a:stretch/>
        </p:blipFill>
        <p:spPr>
          <a:xfrm>
            <a:off x="5930280" y="5444280"/>
            <a:ext cx="3373920" cy="820440"/>
          </a:xfrm>
          <a:prstGeom prst="rect">
            <a:avLst/>
          </a:prstGeom>
          <a:ln w="0">
            <a:noFill/>
          </a:ln>
        </p:spPr>
      </p:pic>
      <p:pic>
        <p:nvPicPr>
          <p:cNvPr id="203" name="Imagem 15" descr=""/>
          <p:cNvPicPr/>
          <p:nvPr/>
        </p:nvPicPr>
        <p:blipFill>
          <a:blip r:embed="rId3"/>
          <a:stretch/>
        </p:blipFill>
        <p:spPr>
          <a:xfrm>
            <a:off x="5796000" y="2768040"/>
            <a:ext cx="3791520" cy="846720"/>
          </a:xfrm>
          <a:prstGeom prst="rect">
            <a:avLst/>
          </a:prstGeom>
          <a:ln w="0">
            <a:noFill/>
          </a:ln>
        </p:spPr>
      </p:pic>
      <p:pic>
        <p:nvPicPr>
          <p:cNvPr id="204" name="Imagem 19" descr=""/>
          <p:cNvPicPr/>
          <p:nvPr/>
        </p:nvPicPr>
        <p:blipFill>
          <a:blip r:embed="rId4"/>
          <a:stretch/>
        </p:blipFill>
        <p:spPr>
          <a:xfrm>
            <a:off x="5724000" y="4093560"/>
            <a:ext cx="3832200" cy="811800"/>
          </a:xfrm>
          <a:prstGeom prst="rect">
            <a:avLst/>
          </a:prstGeom>
          <a:ln w="0">
            <a:noFill/>
          </a:ln>
        </p:spPr>
      </p:pic>
      <p:sp>
        <p:nvSpPr>
          <p:cNvPr id="205" name="Seta: para Baixo 20"/>
          <p:cNvSpPr/>
          <p:nvPr/>
        </p:nvSpPr>
        <p:spPr>
          <a:xfrm>
            <a:off x="7467480" y="3650760"/>
            <a:ext cx="241920" cy="418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" name="Seta: para Baixo 23"/>
          <p:cNvSpPr/>
          <p:nvPr/>
        </p:nvSpPr>
        <p:spPr>
          <a:xfrm>
            <a:off x="7503480" y="4989960"/>
            <a:ext cx="241920" cy="418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Connected Component Labelling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aixaDeTexto 1"/>
          <p:cNvSpPr/>
          <p:nvPr/>
        </p:nvSpPr>
        <p:spPr>
          <a:xfrm>
            <a:off x="200160" y="1689840"/>
            <a:ext cx="95144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Analyzes the non-zero pixel's neighborhood (foreground)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 each connected pixel with a label (1,2,3,4….)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Kernels: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Picture 2" descr=""/>
          <p:cNvPicPr/>
          <p:nvPr/>
        </p:nvPicPr>
        <p:blipFill>
          <a:blip r:embed="rId1"/>
          <a:stretch/>
        </p:blipFill>
        <p:spPr>
          <a:xfrm>
            <a:off x="2684880" y="4089240"/>
            <a:ext cx="2351520" cy="235152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4" descr=""/>
          <p:cNvPicPr/>
          <p:nvPr/>
        </p:nvPicPr>
        <p:blipFill>
          <a:blip r:embed="rId2"/>
          <a:stretch/>
        </p:blipFill>
        <p:spPr>
          <a:xfrm>
            <a:off x="6324480" y="4074480"/>
            <a:ext cx="2351520" cy="2351520"/>
          </a:xfrm>
          <a:prstGeom prst="rect">
            <a:avLst/>
          </a:prstGeom>
          <a:ln w="0">
            <a:noFill/>
          </a:ln>
        </p:spPr>
      </p:pic>
      <p:pic>
        <p:nvPicPr>
          <p:cNvPr id="213" name="Picture 6" descr="Four-Pixel-Connectivity"/>
          <p:cNvPicPr/>
          <p:nvPr/>
        </p:nvPicPr>
        <p:blipFill>
          <a:blip r:embed="rId3"/>
          <a:stretch/>
        </p:blipFill>
        <p:spPr>
          <a:xfrm>
            <a:off x="1672560" y="2622960"/>
            <a:ext cx="684000" cy="70308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8" descr="8-Pixel-Connectivity"/>
          <p:cNvPicPr/>
          <p:nvPr/>
        </p:nvPicPr>
        <p:blipFill>
          <a:blip r:embed="rId4"/>
          <a:stretch/>
        </p:blipFill>
        <p:spPr>
          <a:xfrm>
            <a:off x="3395160" y="2613240"/>
            <a:ext cx="722160" cy="712440"/>
          </a:xfrm>
          <a:prstGeom prst="rect">
            <a:avLst/>
          </a:prstGeom>
          <a:ln w="0">
            <a:noFill/>
          </a:ln>
        </p:spPr>
      </p:pic>
      <p:sp>
        <p:nvSpPr>
          <p:cNvPr id="215" name="CaixaDeTexto 10"/>
          <p:cNvSpPr/>
          <p:nvPr/>
        </p:nvSpPr>
        <p:spPr>
          <a:xfrm>
            <a:off x="1262160" y="3361680"/>
            <a:ext cx="150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4-Neighboors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aixaDeTexto 11"/>
          <p:cNvSpPr/>
          <p:nvPr/>
        </p:nvSpPr>
        <p:spPr>
          <a:xfrm>
            <a:off x="3003480" y="3358800"/>
            <a:ext cx="150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8-Neighboors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eta: para a Direita 2"/>
          <p:cNvSpPr/>
          <p:nvPr/>
        </p:nvSpPr>
        <p:spPr>
          <a:xfrm>
            <a:off x="5247720" y="5327280"/>
            <a:ext cx="753480" cy="208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18" name="Picture 8" descr="8-Pixel-Connectivity"/>
          <p:cNvPicPr/>
          <p:nvPr/>
        </p:nvPicPr>
        <p:blipFill>
          <a:blip r:embed="rId5"/>
          <a:stretch/>
        </p:blipFill>
        <p:spPr>
          <a:xfrm>
            <a:off x="900000" y="5084640"/>
            <a:ext cx="722160" cy="712440"/>
          </a:xfrm>
          <a:prstGeom prst="rect">
            <a:avLst/>
          </a:prstGeom>
          <a:ln w="0">
            <a:noFill/>
          </a:ln>
        </p:spPr>
      </p:pic>
      <p:sp>
        <p:nvSpPr>
          <p:cNvPr id="219" name="Seta: para a Direita 15"/>
          <p:cNvSpPr/>
          <p:nvPr/>
        </p:nvSpPr>
        <p:spPr>
          <a:xfrm flipV="1">
            <a:off x="1748880" y="5290200"/>
            <a:ext cx="722160" cy="24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Picture 2" descr=""/>
          <p:cNvPicPr/>
          <p:nvPr/>
        </p:nvPicPr>
        <p:blipFill>
          <a:blip r:embed="rId1"/>
          <a:stretch/>
        </p:blipFill>
        <p:spPr>
          <a:xfrm>
            <a:off x="2088360" y="361800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" descr=""/>
          <p:cNvPicPr/>
          <p:nvPr/>
        </p:nvPicPr>
        <p:blipFill>
          <a:blip r:embed="rId2"/>
          <a:stretch/>
        </p:blipFill>
        <p:spPr>
          <a:xfrm>
            <a:off x="6050880" y="361008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25" name="Imagem 4" descr=""/>
          <p:cNvPicPr/>
          <p:nvPr/>
        </p:nvPicPr>
        <p:blipFill>
          <a:blip r:embed="rId3"/>
          <a:stretch/>
        </p:blipFill>
        <p:spPr>
          <a:xfrm>
            <a:off x="6069960" y="3618720"/>
            <a:ext cx="412920" cy="428400"/>
          </a:xfrm>
          <a:prstGeom prst="rect">
            <a:avLst/>
          </a:prstGeom>
          <a:ln w="0">
            <a:noFill/>
          </a:ln>
        </p:spPr>
      </p:pic>
      <p:pic>
        <p:nvPicPr>
          <p:cNvPr id="226" name="Imagem 7" descr=""/>
          <p:cNvPicPr/>
          <p:nvPr/>
        </p:nvPicPr>
        <p:blipFill>
          <a:blip r:embed="rId4"/>
          <a:stretch/>
        </p:blipFill>
        <p:spPr>
          <a:xfrm>
            <a:off x="1939320" y="3474360"/>
            <a:ext cx="776520" cy="765360"/>
          </a:xfrm>
          <a:prstGeom prst="rect">
            <a:avLst/>
          </a:prstGeom>
          <a:ln w="0">
            <a:noFill/>
          </a:ln>
          <a:effectLst>
            <a:glow rad="127080">
              <a:srgbClr val="4f81bd">
                <a:alpha val="0"/>
              </a:srgbClr>
            </a:glow>
            <a:outerShdw algn="ctr" blurRad="50760" dir="5400000" dist="50760" rotWithShape="0">
              <a:srgbClr val="000000">
                <a:alpha val="0"/>
              </a:srgbClr>
            </a:outerShdw>
          </a:effectLst>
        </p:spPr>
      </p:pic>
      <p:sp>
        <p:nvSpPr>
          <p:cNvPr id="227" name="Seta: para a Direita 10"/>
          <p:cNvSpPr/>
          <p:nvPr/>
        </p:nvSpPr>
        <p:spPr>
          <a:xfrm>
            <a:off x="5262480" y="5015160"/>
            <a:ext cx="678960" cy="27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" name="CaixaDeTexto 12"/>
          <p:cNvSpPr/>
          <p:nvPr/>
        </p:nvSpPr>
        <p:spPr>
          <a:xfrm>
            <a:off x="200160" y="1473840"/>
            <a:ext cx="9514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Picture 2" descr=""/>
          <p:cNvPicPr/>
          <p:nvPr/>
        </p:nvPicPr>
        <p:blipFill>
          <a:blip r:embed="rId1"/>
          <a:stretch/>
        </p:blipFill>
        <p:spPr>
          <a:xfrm>
            <a:off x="2088360" y="361800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33" name="Picture 2" descr=""/>
          <p:cNvPicPr/>
          <p:nvPr/>
        </p:nvPicPr>
        <p:blipFill>
          <a:blip r:embed="rId2"/>
          <a:stretch/>
        </p:blipFill>
        <p:spPr>
          <a:xfrm>
            <a:off x="6050880" y="361008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34" name="Imagem 7" descr=""/>
          <p:cNvPicPr/>
          <p:nvPr/>
        </p:nvPicPr>
        <p:blipFill>
          <a:blip r:embed="rId3"/>
          <a:stretch/>
        </p:blipFill>
        <p:spPr>
          <a:xfrm>
            <a:off x="2336760" y="3474360"/>
            <a:ext cx="776520" cy="765360"/>
          </a:xfrm>
          <a:prstGeom prst="rect">
            <a:avLst/>
          </a:prstGeom>
          <a:ln w="0">
            <a:noFill/>
          </a:ln>
          <a:effectLst>
            <a:glow rad="127080">
              <a:srgbClr val="4f81bd">
                <a:alpha val="0"/>
              </a:srgbClr>
            </a:glow>
            <a:outerShdw algn="ctr" blurRad="50760" dir="5400000" dist="50760" rotWithShape="0">
              <a:srgbClr val="000000">
                <a:alpha val="0"/>
              </a:srgbClr>
            </a:outerShdw>
          </a:effectLst>
        </p:spPr>
      </p:pic>
      <p:sp>
        <p:nvSpPr>
          <p:cNvPr id="235" name="Seta: para a Direita 10"/>
          <p:cNvSpPr/>
          <p:nvPr/>
        </p:nvSpPr>
        <p:spPr>
          <a:xfrm>
            <a:off x="5262480" y="5015160"/>
            <a:ext cx="678960" cy="27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36" name="Imagem 14" descr=""/>
          <p:cNvPicPr/>
          <p:nvPr/>
        </p:nvPicPr>
        <p:blipFill>
          <a:blip r:embed="rId4"/>
          <a:stretch/>
        </p:blipFill>
        <p:spPr>
          <a:xfrm>
            <a:off x="6066000" y="3624840"/>
            <a:ext cx="823320" cy="434520"/>
          </a:xfrm>
          <a:prstGeom prst="rect">
            <a:avLst/>
          </a:prstGeom>
          <a:ln w="0">
            <a:noFill/>
          </a:ln>
        </p:spPr>
      </p:pic>
      <p:sp>
        <p:nvSpPr>
          <p:cNvPr id="237" name="CaixaDeTexto 15"/>
          <p:cNvSpPr/>
          <p:nvPr/>
        </p:nvSpPr>
        <p:spPr>
          <a:xfrm>
            <a:off x="200160" y="1437840"/>
            <a:ext cx="9514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Picture 2" descr=""/>
          <p:cNvPicPr/>
          <p:nvPr/>
        </p:nvPicPr>
        <p:blipFill>
          <a:blip r:embed="rId1"/>
          <a:stretch/>
        </p:blipFill>
        <p:spPr>
          <a:xfrm>
            <a:off x="2088360" y="361800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42" name="Picture 2" descr=""/>
          <p:cNvPicPr/>
          <p:nvPr/>
        </p:nvPicPr>
        <p:blipFill>
          <a:blip r:embed="rId2"/>
          <a:stretch/>
        </p:blipFill>
        <p:spPr>
          <a:xfrm>
            <a:off x="6050880" y="361008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43" name="Imagem 7" descr=""/>
          <p:cNvPicPr/>
          <p:nvPr/>
        </p:nvPicPr>
        <p:blipFill>
          <a:blip r:embed="rId3"/>
          <a:stretch/>
        </p:blipFill>
        <p:spPr>
          <a:xfrm>
            <a:off x="3045960" y="3436560"/>
            <a:ext cx="776520" cy="765360"/>
          </a:xfrm>
          <a:prstGeom prst="rect">
            <a:avLst/>
          </a:prstGeom>
          <a:ln w="0">
            <a:noFill/>
          </a:ln>
          <a:effectLst>
            <a:glow rad="127080">
              <a:srgbClr val="4f81bd">
                <a:alpha val="0"/>
              </a:srgbClr>
            </a:glow>
            <a:outerShdw algn="ctr" blurRad="50760" dir="5400000" dist="50760" rotWithShape="0">
              <a:srgbClr val="000000">
                <a:alpha val="0"/>
              </a:srgbClr>
            </a:outerShdw>
          </a:effectLst>
        </p:spPr>
      </p:pic>
      <p:sp>
        <p:nvSpPr>
          <p:cNvPr id="244" name="Seta: para a Direita 10"/>
          <p:cNvSpPr/>
          <p:nvPr/>
        </p:nvSpPr>
        <p:spPr>
          <a:xfrm>
            <a:off x="5262480" y="5015160"/>
            <a:ext cx="678960" cy="27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45" name="Imagem 14" descr=""/>
          <p:cNvPicPr/>
          <p:nvPr/>
        </p:nvPicPr>
        <p:blipFill>
          <a:blip r:embed="rId4"/>
          <a:stretch/>
        </p:blipFill>
        <p:spPr>
          <a:xfrm>
            <a:off x="6066000" y="3624840"/>
            <a:ext cx="823320" cy="434520"/>
          </a:xfrm>
          <a:prstGeom prst="rect">
            <a:avLst/>
          </a:prstGeom>
          <a:ln w="0">
            <a:noFill/>
          </a:ln>
        </p:spPr>
      </p:pic>
      <p:pic>
        <p:nvPicPr>
          <p:cNvPr id="246" name="Picture 2" descr=""/>
          <p:cNvPicPr/>
          <p:nvPr/>
        </p:nvPicPr>
        <p:blipFill>
          <a:blip r:embed="rId5"/>
          <a:stretch/>
        </p:blipFill>
        <p:spPr>
          <a:xfrm>
            <a:off x="6066000" y="3624840"/>
            <a:ext cx="3049560" cy="3049560"/>
          </a:xfrm>
          <a:prstGeom prst="rect">
            <a:avLst/>
          </a:prstGeom>
          <a:ln w="0">
            <a:noFill/>
          </a:ln>
        </p:spPr>
      </p:pic>
      <p:sp>
        <p:nvSpPr>
          <p:cNvPr id="247" name="CaixaDeTexto 13"/>
          <p:cNvSpPr/>
          <p:nvPr/>
        </p:nvSpPr>
        <p:spPr>
          <a:xfrm>
            <a:off x="200160" y="1509840"/>
            <a:ext cx="9514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Picture 2" descr=""/>
          <p:cNvPicPr/>
          <p:nvPr/>
        </p:nvPicPr>
        <p:blipFill>
          <a:blip r:embed="rId1"/>
          <a:stretch/>
        </p:blipFill>
        <p:spPr>
          <a:xfrm>
            <a:off x="2088360" y="361800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52" name="Picture 2" descr=""/>
          <p:cNvPicPr/>
          <p:nvPr/>
        </p:nvPicPr>
        <p:blipFill>
          <a:blip r:embed="rId2"/>
          <a:stretch/>
        </p:blipFill>
        <p:spPr>
          <a:xfrm>
            <a:off x="6050880" y="3610080"/>
            <a:ext cx="3064680" cy="3064680"/>
          </a:xfrm>
          <a:prstGeom prst="rect">
            <a:avLst/>
          </a:prstGeom>
          <a:ln w="0">
            <a:noFill/>
          </a:ln>
        </p:spPr>
      </p:pic>
      <p:pic>
        <p:nvPicPr>
          <p:cNvPr id="253" name="Imagem 7" descr=""/>
          <p:cNvPicPr/>
          <p:nvPr/>
        </p:nvPicPr>
        <p:blipFill>
          <a:blip r:embed="rId3"/>
          <a:stretch/>
        </p:blipFill>
        <p:spPr>
          <a:xfrm>
            <a:off x="4569120" y="3459600"/>
            <a:ext cx="776520" cy="765360"/>
          </a:xfrm>
          <a:prstGeom prst="rect">
            <a:avLst/>
          </a:prstGeom>
          <a:ln w="0">
            <a:noFill/>
          </a:ln>
          <a:effectLst>
            <a:glow rad="127080">
              <a:srgbClr val="4f81bd">
                <a:alpha val="0"/>
              </a:srgbClr>
            </a:glow>
            <a:outerShdw algn="ctr" blurRad="50760" dir="5400000" dist="50760" rotWithShape="0">
              <a:srgbClr val="000000">
                <a:alpha val="0"/>
              </a:srgbClr>
            </a:outerShdw>
          </a:effectLst>
        </p:spPr>
      </p:pic>
      <p:sp>
        <p:nvSpPr>
          <p:cNvPr id="254" name="Seta: para a Direita 10"/>
          <p:cNvSpPr/>
          <p:nvPr/>
        </p:nvSpPr>
        <p:spPr>
          <a:xfrm>
            <a:off x="5262480" y="5015160"/>
            <a:ext cx="678960" cy="27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55" name="Imagem 14" descr=""/>
          <p:cNvPicPr/>
          <p:nvPr/>
        </p:nvPicPr>
        <p:blipFill>
          <a:blip r:embed="rId4"/>
          <a:stretch/>
        </p:blipFill>
        <p:spPr>
          <a:xfrm>
            <a:off x="6066000" y="3624840"/>
            <a:ext cx="823320" cy="434520"/>
          </a:xfrm>
          <a:prstGeom prst="rect">
            <a:avLst/>
          </a:prstGeom>
          <a:ln w="0">
            <a:noFill/>
          </a:ln>
        </p:spPr>
      </p:pic>
      <p:pic>
        <p:nvPicPr>
          <p:cNvPr id="256" name="Picture 2" descr=""/>
          <p:cNvPicPr/>
          <p:nvPr/>
        </p:nvPicPr>
        <p:blipFill>
          <a:blip r:embed="rId5"/>
          <a:stretch/>
        </p:blipFill>
        <p:spPr>
          <a:xfrm>
            <a:off x="6066000" y="3624840"/>
            <a:ext cx="3049560" cy="3049560"/>
          </a:xfrm>
          <a:prstGeom prst="rect">
            <a:avLst/>
          </a:prstGeom>
          <a:ln w="0">
            <a:noFill/>
          </a:ln>
        </p:spPr>
      </p:pic>
      <p:pic>
        <p:nvPicPr>
          <p:cNvPr id="257" name="Picture 2" descr=""/>
          <p:cNvPicPr/>
          <p:nvPr/>
        </p:nvPicPr>
        <p:blipFill>
          <a:blip r:embed="rId6"/>
          <a:stretch/>
        </p:blipFill>
        <p:spPr>
          <a:xfrm>
            <a:off x="6104160" y="3634920"/>
            <a:ext cx="3011760" cy="3011760"/>
          </a:xfrm>
          <a:prstGeom prst="rect">
            <a:avLst/>
          </a:prstGeom>
          <a:ln w="0">
            <a:noFill/>
          </a:ln>
        </p:spPr>
      </p:pic>
      <p:sp>
        <p:nvSpPr>
          <p:cNvPr id="258" name="CaixaDeTexto 16"/>
          <p:cNvSpPr/>
          <p:nvPr/>
        </p:nvSpPr>
        <p:spPr>
          <a:xfrm>
            <a:off x="200160" y="1473840"/>
            <a:ext cx="9514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344916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263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sp>
        <p:nvSpPr>
          <p:cNvPr id="264" name="CaixaDeTexto 13"/>
          <p:cNvSpPr/>
          <p:nvPr/>
        </p:nvSpPr>
        <p:spPr>
          <a:xfrm>
            <a:off x="200160" y="1581840"/>
            <a:ext cx="9514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392184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269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270" name="Picture 2" descr=""/>
          <p:cNvPicPr/>
          <p:nvPr/>
        </p:nvPicPr>
        <p:blipFill>
          <a:blip r:embed="rId3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sp>
        <p:nvSpPr>
          <p:cNvPr id="271" name="CaixaDeTexto 13"/>
          <p:cNvSpPr/>
          <p:nvPr/>
        </p:nvSpPr>
        <p:spPr>
          <a:xfrm>
            <a:off x="200160" y="1689840"/>
            <a:ext cx="95144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419940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276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277" name="Picture 2" descr=""/>
          <p:cNvPicPr/>
          <p:nvPr/>
        </p:nvPicPr>
        <p:blipFill>
          <a:blip r:embed="rId3"/>
          <a:stretch/>
        </p:blipFill>
        <p:spPr>
          <a:xfrm>
            <a:off x="3380040" y="3577680"/>
            <a:ext cx="4688640" cy="3125160"/>
          </a:xfrm>
          <a:prstGeom prst="rect">
            <a:avLst/>
          </a:prstGeom>
          <a:ln w="0">
            <a:noFill/>
          </a:ln>
        </p:spPr>
      </p:pic>
      <p:sp>
        <p:nvSpPr>
          <p:cNvPr id="278" name="Retângulo 2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" name="CaixaDeTexto 3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eta: para a Esquerda 10"/>
          <p:cNvSpPr/>
          <p:nvPr/>
        </p:nvSpPr>
        <p:spPr>
          <a:xfrm>
            <a:off x="7691040" y="4030920"/>
            <a:ext cx="819000" cy="334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" name="Seta: para Baixo 4"/>
          <p:cNvSpPr/>
          <p:nvPr/>
        </p:nvSpPr>
        <p:spPr>
          <a:xfrm>
            <a:off x="7971120" y="2885760"/>
            <a:ext cx="258840" cy="36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2" name="CaixaDeTexto 5"/>
          <p:cNvSpPr/>
          <p:nvPr/>
        </p:nvSpPr>
        <p:spPr>
          <a:xfrm>
            <a:off x="7176960" y="2358360"/>
            <a:ext cx="184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Adjacent labels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aixaDeTexto 15"/>
          <p:cNvSpPr/>
          <p:nvPr/>
        </p:nvSpPr>
        <p:spPr>
          <a:xfrm>
            <a:off x="200160" y="1689840"/>
            <a:ext cx="951444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460152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288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289" name="Imagem 3" descr=""/>
          <p:cNvPicPr/>
          <p:nvPr/>
        </p:nvPicPr>
        <p:blipFill>
          <a:blip r:embed="rId3"/>
          <a:stretch/>
        </p:blipFill>
        <p:spPr>
          <a:xfrm>
            <a:off x="3349080" y="3593160"/>
            <a:ext cx="4085640" cy="3121920"/>
          </a:xfrm>
          <a:prstGeom prst="rect">
            <a:avLst/>
          </a:prstGeom>
          <a:ln w="0">
            <a:noFill/>
          </a:ln>
        </p:spPr>
      </p:pic>
      <p:sp>
        <p:nvSpPr>
          <p:cNvPr id="290" name="Retângulo 10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" name="CaixaDeTexto 13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aixaDeTexto 15"/>
          <p:cNvSpPr/>
          <p:nvPr/>
        </p:nvSpPr>
        <p:spPr>
          <a:xfrm>
            <a:off x="200160" y="1689840"/>
            <a:ext cx="95144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499824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297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298" name="Imagem 3" descr=""/>
          <p:cNvPicPr/>
          <p:nvPr/>
        </p:nvPicPr>
        <p:blipFill>
          <a:blip r:embed="rId3"/>
          <a:stretch/>
        </p:blipFill>
        <p:spPr>
          <a:xfrm>
            <a:off x="3349080" y="3593160"/>
            <a:ext cx="4085640" cy="3121920"/>
          </a:xfrm>
          <a:prstGeom prst="rect">
            <a:avLst/>
          </a:prstGeom>
          <a:ln w="0">
            <a:noFill/>
          </a:ln>
        </p:spPr>
      </p:pic>
      <p:pic>
        <p:nvPicPr>
          <p:cNvPr id="299" name="Imagem 4" descr=""/>
          <p:cNvPicPr/>
          <p:nvPr/>
        </p:nvPicPr>
        <p:blipFill>
          <a:blip r:embed="rId4"/>
          <a:stretch/>
        </p:blipFill>
        <p:spPr>
          <a:xfrm>
            <a:off x="3349080" y="3596400"/>
            <a:ext cx="4085640" cy="3167640"/>
          </a:xfrm>
          <a:prstGeom prst="rect">
            <a:avLst/>
          </a:prstGeom>
          <a:ln w="0">
            <a:noFill/>
          </a:ln>
        </p:spPr>
      </p:pic>
      <p:sp>
        <p:nvSpPr>
          <p:cNvPr id="300" name="Retângulo 13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" name="CaixaDeTexto 14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aixaDeTexto 16"/>
          <p:cNvSpPr/>
          <p:nvPr/>
        </p:nvSpPr>
        <p:spPr>
          <a:xfrm>
            <a:off x="200160" y="1689840"/>
            <a:ext cx="9514440" cy="47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Picture 8" descr="8-Pixel-Connectivity"/>
          <p:cNvPicPr/>
          <p:nvPr/>
        </p:nvPicPr>
        <p:blipFill>
          <a:blip r:embed="rId1"/>
          <a:stretch/>
        </p:blipFill>
        <p:spPr>
          <a:xfrm>
            <a:off x="2678760" y="543024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307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308" name="Imagem 3" descr=""/>
          <p:cNvPicPr/>
          <p:nvPr/>
        </p:nvPicPr>
        <p:blipFill>
          <a:blip r:embed="rId3"/>
          <a:stretch/>
        </p:blipFill>
        <p:spPr>
          <a:xfrm>
            <a:off x="3349080" y="3593160"/>
            <a:ext cx="4085640" cy="3121920"/>
          </a:xfrm>
          <a:prstGeom prst="rect">
            <a:avLst/>
          </a:prstGeom>
          <a:ln w="0">
            <a:noFill/>
          </a:ln>
        </p:spPr>
      </p:pic>
      <p:pic>
        <p:nvPicPr>
          <p:cNvPr id="309" name="Imagem 4" descr=""/>
          <p:cNvPicPr/>
          <p:nvPr/>
        </p:nvPicPr>
        <p:blipFill>
          <a:blip r:embed="rId4"/>
          <a:stretch/>
        </p:blipFill>
        <p:spPr>
          <a:xfrm>
            <a:off x="3349080" y="3596400"/>
            <a:ext cx="4085640" cy="3167640"/>
          </a:xfrm>
          <a:prstGeom prst="rect">
            <a:avLst/>
          </a:prstGeom>
          <a:ln w="0">
            <a:noFill/>
          </a:ln>
        </p:spPr>
      </p:pic>
      <p:pic>
        <p:nvPicPr>
          <p:cNvPr id="310" name="Imagem 5" descr=""/>
          <p:cNvPicPr/>
          <p:nvPr/>
        </p:nvPicPr>
        <p:blipFill>
          <a:blip r:embed="rId5"/>
          <a:stretch/>
        </p:blipFill>
        <p:spPr>
          <a:xfrm>
            <a:off x="3349080" y="3593160"/>
            <a:ext cx="3178440" cy="3167640"/>
          </a:xfrm>
          <a:prstGeom prst="rect">
            <a:avLst/>
          </a:prstGeom>
          <a:ln w="0">
            <a:noFill/>
          </a:ln>
        </p:spPr>
      </p:pic>
      <p:sp>
        <p:nvSpPr>
          <p:cNvPr id="311" name="Retângulo 11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" name="CaixaDeTexto 13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aixaDeTexto 16"/>
          <p:cNvSpPr/>
          <p:nvPr/>
        </p:nvSpPr>
        <p:spPr>
          <a:xfrm>
            <a:off x="200160" y="1689840"/>
            <a:ext cx="951444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Picture 8" descr="8-Pixel-Connectivity"/>
          <p:cNvPicPr/>
          <p:nvPr/>
        </p:nvPicPr>
        <p:blipFill>
          <a:blip r:embed="rId1"/>
          <a:stretch/>
        </p:blipFill>
        <p:spPr>
          <a:xfrm>
            <a:off x="2671920" y="586980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318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319" name="Imagem 3" descr=""/>
          <p:cNvPicPr/>
          <p:nvPr/>
        </p:nvPicPr>
        <p:blipFill>
          <a:blip r:embed="rId3"/>
          <a:stretch/>
        </p:blipFill>
        <p:spPr>
          <a:xfrm>
            <a:off x="3349080" y="3593160"/>
            <a:ext cx="4085640" cy="3121920"/>
          </a:xfrm>
          <a:prstGeom prst="rect">
            <a:avLst/>
          </a:prstGeom>
          <a:ln w="0">
            <a:noFill/>
          </a:ln>
        </p:spPr>
      </p:pic>
      <p:pic>
        <p:nvPicPr>
          <p:cNvPr id="320" name="Imagem 4" descr=""/>
          <p:cNvPicPr/>
          <p:nvPr/>
        </p:nvPicPr>
        <p:blipFill>
          <a:blip r:embed="rId4"/>
          <a:stretch/>
        </p:blipFill>
        <p:spPr>
          <a:xfrm>
            <a:off x="3349080" y="3596400"/>
            <a:ext cx="4085640" cy="316764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2" descr=""/>
          <p:cNvPicPr/>
          <p:nvPr/>
        </p:nvPicPr>
        <p:blipFill>
          <a:blip r:embed="rId5"/>
          <a:stretch/>
        </p:blipFill>
        <p:spPr>
          <a:xfrm>
            <a:off x="3342240" y="3593160"/>
            <a:ext cx="4806000" cy="3203640"/>
          </a:xfrm>
          <a:prstGeom prst="rect">
            <a:avLst/>
          </a:prstGeom>
          <a:ln w="0">
            <a:noFill/>
          </a:ln>
        </p:spPr>
      </p:pic>
      <p:sp>
        <p:nvSpPr>
          <p:cNvPr id="322" name="Seta: para a Esquerda 2"/>
          <p:cNvSpPr/>
          <p:nvPr/>
        </p:nvSpPr>
        <p:spPr>
          <a:xfrm>
            <a:off x="7739640" y="5198400"/>
            <a:ext cx="819000" cy="334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Retângulo 15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" name="CaixaDeTexto 16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aixaDeTexto 17"/>
          <p:cNvSpPr/>
          <p:nvPr/>
        </p:nvSpPr>
        <p:spPr>
          <a:xfrm>
            <a:off x="200160" y="1689840"/>
            <a:ext cx="951444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Picture 8" descr="8-Pixel-Connectivity"/>
          <p:cNvPicPr/>
          <p:nvPr/>
        </p:nvPicPr>
        <p:blipFill>
          <a:blip r:embed="rId1"/>
          <a:stretch/>
        </p:blipFill>
        <p:spPr>
          <a:xfrm>
            <a:off x="2690640" y="6193440"/>
            <a:ext cx="668520" cy="659520"/>
          </a:xfrm>
          <a:prstGeom prst="rect">
            <a:avLst/>
          </a:prstGeom>
          <a:ln w="0">
            <a:noFill/>
          </a:ln>
          <a:effectLst>
            <a:reflection algn="bl" dir="5400000" dist="50800" endPos="65000" rotWithShape="0" stA="0" sy="-100000"/>
          </a:effectLst>
        </p:spPr>
      </p:pic>
      <p:pic>
        <p:nvPicPr>
          <p:cNvPr id="330" name="Picture 6" descr=""/>
          <p:cNvPicPr/>
          <p:nvPr/>
        </p:nvPicPr>
        <p:blipFill>
          <a:blip r:embed="rId2"/>
          <a:stretch/>
        </p:blipFill>
        <p:spPr>
          <a:xfrm>
            <a:off x="3349080" y="3577680"/>
            <a:ext cx="3137400" cy="3137400"/>
          </a:xfrm>
          <a:prstGeom prst="rect">
            <a:avLst/>
          </a:prstGeom>
          <a:ln w="0">
            <a:noFill/>
          </a:ln>
        </p:spPr>
      </p:pic>
      <p:pic>
        <p:nvPicPr>
          <p:cNvPr id="331" name="Imagem 3" descr=""/>
          <p:cNvPicPr/>
          <p:nvPr/>
        </p:nvPicPr>
        <p:blipFill>
          <a:blip r:embed="rId3"/>
          <a:stretch/>
        </p:blipFill>
        <p:spPr>
          <a:xfrm>
            <a:off x="3349080" y="3593160"/>
            <a:ext cx="4085640" cy="3121920"/>
          </a:xfrm>
          <a:prstGeom prst="rect">
            <a:avLst/>
          </a:prstGeom>
          <a:ln w="0">
            <a:noFill/>
          </a:ln>
        </p:spPr>
      </p:pic>
      <p:pic>
        <p:nvPicPr>
          <p:cNvPr id="332" name="Imagem 4" descr=""/>
          <p:cNvPicPr/>
          <p:nvPr/>
        </p:nvPicPr>
        <p:blipFill>
          <a:blip r:embed="rId4"/>
          <a:stretch/>
        </p:blipFill>
        <p:spPr>
          <a:xfrm>
            <a:off x="3349080" y="3596400"/>
            <a:ext cx="4085640" cy="3167640"/>
          </a:xfrm>
          <a:prstGeom prst="rect">
            <a:avLst/>
          </a:prstGeom>
          <a:ln w="0">
            <a:noFill/>
          </a:ln>
        </p:spPr>
      </p:pic>
      <p:pic>
        <p:nvPicPr>
          <p:cNvPr id="333" name="Picture 2" descr=""/>
          <p:cNvPicPr/>
          <p:nvPr/>
        </p:nvPicPr>
        <p:blipFill>
          <a:blip r:embed="rId5"/>
          <a:stretch/>
        </p:blipFill>
        <p:spPr>
          <a:xfrm>
            <a:off x="3342240" y="3593160"/>
            <a:ext cx="4806000" cy="3203640"/>
          </a:xfrm>
          <a:prstGeom prst="rect">
            <a:avLst/>
          </a:prstGeom>
          <a:ln w="0">
            <a:noFill/>
          </a:ln>
        </p:spPr>
      </p:pic>
      <p:sp>
        <p:nvSpPr>
          <p:cNvPr id="334" name="Seta: para a Esquerda 2"/>
          <p:cNvSpPr/>
          <p:nvPr/>
        </p:nvSpPr>
        <p:spPr>
          <a:xfrm>
            <a:off x="7581240" y="6025320"/>
            <a:ext cx="819000" cy="334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5" name="CaixaDeTexto 16"/>
          <p:cNvSpPr/>
          <p:nvPr/>
        </p:nvSpPr>
        <p:spPr>
          <a:xfrm>
            <a:off x="7362000" y="322236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m 6" descr=""/>
          <p:cNvPicPr/>
          <p:nvPr/>
        </p:nvPicPr>
        <p:blipFill>
          <a:blip r:embed="rId6"/>
          <a:stretch/>
        </p:blipFill>
        <p:spPr>
          <a:xfrm>
            <a:off x="3351960" y="3591720"/>
            <a:ext cx="4076640" cy="3169080"/>
          </a:xfrm>
          <a:prstGeom prst="rect">
            <a:avLst/>
          </a:prstGeom>
          <a:ln w="0">
            <a:noFill/>
          </a:ln>
        </p:spPr>
      </p:pic>
      <p:sp>
        <p:nvSpPr>
          <p:cNvPr id="337" name="Retângulo 17"/>
          <p:cNvSpPr/>
          <p:nvPr/>
        </p:nvSpPr>
        <p:spPr>
          <a:xfrm>
            <a:off x="6811560" y="3565440"/>
            <a:ext cx="2423520" cy="312516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8" name="CaixaDeTexto 15"/>
          <p:cNvSpPr/>
          <p:nvPr/>
        </p:nvSpPr>
        <p:spPr>
          <a:xfrm>
            <a:off x="200160" y="1689840"/>
            <a:ext cx="9514440" cy="58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Row #8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Row by Row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aixaDeTexto 1"/>
          <p:cNvSpPr/>
          <p:nvPr/>
        </p:nvSpPr>
        <p:spPr>
          <a:xfrm>
            <a:off x="200160" y="1689840"/>
            <a:ext cx="95144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Sliding a connectivity kernel , row by row ( 2 passes)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 center falls in a non-zero pixel, label it!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Labeling: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there are no labeled pixels connected, attribute a new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Otherwise, attribute to it the neighbor´s label.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Union-Find structure control adjacent labels (Union-Find)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Pass #2: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Resolve 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aixaDeTexto 16"/>
          <p:cNvSpPr/>
          <p:nvPr/>
        </p:nvSpPr>
        <p:spPr>
          <a:xfrm>
            <a:off x="5360040" y="346104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Union-Find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Imagem 6" descr=""/>
          <p:cNvPicPr/>
          <p:nvPr/>
        </p:nvPicPr>
        <p:blipFill>
          <a:blip r:embed="rId1"/>
          <a:stretch/>
        </p:blipFill>
        <p:spPr>
          <a:xfrm>
            <a:off x="2627280" y="3835800"/>
            <a:ext cx="3489840" cy="2712960"/>
          </a:xfrm>
          <a:prstGeom prst="rect">
            <a:avLst/>
          </a:prstGeom>
          <a:ln w="0">
            <a:noFill/>
          </a:ln>
        </p:spPr>
      </p:pic>
      <p:sp>
        <p:nvSpPr>
          <p:cNvPr id="345" name="Retângulo 14"/>
          <p:cNvSpPr/>
          <p:nvPr/>
        </p:nvSpPr>
        <p:spPr>
          <a:xfrm>
            <a:off x="5828040" y="3981600"/>
            <a:ext cx="297720" cy="2523240"/>
          </a:xfrm>
          <a:prstGeom prst="rect">
            <a:avLst/>
          </a:prstGeom>
          <a:solidFill>
            <a:schemeClr val="accent1">
              <a:alpha val="14000"/>
            </a:schemeClr>
          </a:solidFill>
          <a:ln>
            <a:solidFill>
              <a:srgbClr val="3a5f8b">
                <a:alpha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46" name="Imagem 7" descr=""/>
          <p:cNvPicPr/>
          <p:nvPr/>
        </p:nvPicPr>
        <p:blipFill>
          <a:blip r:embed="rId2"/>
          <a:stretch/>
        </p:blipFill>
        <p:spPr>
          <a:xfrm>
            <a:off x="6651720" y="3791880"/>
            <a:ext cx="2745720" cy="2712960"/>
          </a:xfrm>
          <a:prstGeom prst="rect">
            <a:avLst/>
          </a:prstGeom>
          <a:ln w="0">
            <a:noFill/>
          </a:ln>
        </p:spPr>
      </p:pic>
      <p:sp>
        <p:nvSpPr>
          <p:cNvPr id="347" name="Seta: para a Direita 10"/>
          <p:cNvSpPr/>
          <p:nvPr/>
        </p:nvSpPr>
        <p:spPr>
          <a:xfrm>
            <a:off x="4123800" y="4463280"/>
            <a:ext cx="4066560" cy="1481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alpha val="9000"/>
            </a:schemeClr>
          </a:solidFill>
          <a:ln>
            <a:solidFill>
              <a:srgbClr val="c00000"/>
            </a:solidFill>
            <a:round/>
          </a:ln>
          <a:effectLst>
            <a:outerShdw algn="ctr" blurRad="50760" dir="5400000" dist="50760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360000" y="360000"/>
            <a:ext cx="9354600" cy="8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Let’s Code!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897120" y="6886080"/>
            <a:ext cx="64418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3"/>
          <p:cNvSpPr/>
          <p:nvPr/>
        </p:nvSpPr>
        <p:spPr>
          <a:xfrm>
            <a:off x="7608600" y="6886080"/>
            <a:ext cx="22798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aixaDeTexto 1"/>
          <p:cNvSpPr/>
          <p:nvPr/>
        </p:nvSpPr>
        <p:spPr>
          <a:xfrm>
            <a:off x="200160" y="1689840"/>
            <a:ext cx="9514440" cy="50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 our pratice, we will implement an algorithm to segment characters in a license plate.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Besides, we will introduce the cv2.connectedComponent() that implements the component labeling method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Checkout it here: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Lecture 04 - Finding Components.ipynb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m 5" descr=""/>
          <p:cNvPicPr/>
          <p:nvPr/>
        </p:nvPicPr>
        <p:blipFill>
          <a:blip r:embed="rId2"/>
          <a:stretch/>
        </p:blipFill>
        <p:spPr>
          <a:xfrm>
            <a:off x="3236760" y="4493880"/>
            <a:ext cx="2854440" cy="630720"/>
          </a:xfrm>
          <a:prstGeom prst="rect">
            <a:avLst/>
          </a:prstGeom>
          <a:ln w="0">
            <a:noFill/>
          </a:ln>
        </p:spPr>
      </p:pic>
      <p:pic>
        <p:nvPicPr>
          <p:cNvPr id="353" name="Imagem 6" descr=""/>
          <p:cNvPicPr/>
          <p:nvPr/>
        </p:nvPicPr>
        <p:blipFill>
          <a:blip r:embed="rId3"/>
          <a:stretch/>
        </p:blipFill>
        <p:spPr>
          <a:xfrm>
            <a:off x="3173040" y="2122200"/>
            <a:ext cx="2918160" cy="592200"/>
          </a:xfrm>
          <a:prstGeom prst="rect">
            <a:avLst/>
          </a:prstGeom>
          <a:ln w="0">
            <a:noFill/>
          </a:ln>
        </p:spPr>
      </p:pic>
      <p:pic>
        <p:nvPicPr>
          <p:cNvPr id="354" name="Imagem 7" descr=""/>
          <p:cNvPicPr/>
          <p:nvPr/>
        </p:nvPicPr>
        <p:blipFill>
          <a:blip r:embed="rId4"/>
          <a:stretch/>
        </p:blipFill>
        <p:spPr>
          <a:xfrm>
            <a:off x="3236760" y="3304440"/>
            <a:ext cx="2766600" cy="532080"/>
          </a:xfrm>
          <a:prstGeom prst="rect">
            <a:avLst/>
          </a:prstGeom>
          <a:ln w="0">
            <a:noFill/>
          </a:ln>
        </p:spPr>
      </p:pic>
      <p:sp>
        <p:nvSpPr>
          <p:cNvPr id="355" name="Seta: para Baixo 11"/>
          <p:cNvSpPr/>
          <p:nvPr/>
        </p:nvSpPr>
        <p:spPr>
          <a:xfrm>
            <a:off x="4498920" y="3885120"/>
            <a:ext cx="219240" cy="521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6" name="Seta: para Baixo 12"/>
          <p:cNvSpPr/>
          <p:nvPr/>
        </p:nvSpPr>
        <p:spPr>
          <a:xfrm>
            <a:off x="4502520" y="2734560"/>
            <a:ext cx="219240" cy="521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B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1924</TotalTime>
  <Application>LibreOffice/24.2.7.2$Linux_X86_64 LibreOffice_project/420$Build-2</Application>
  <AppVersion>15.0000</AppVersion>
  <Words>1269</Words>
  <Paragraphs>285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2026-08-28T18:29:25Z</cp:lastPrinted>
  <dcterms:modified xsi:type="dcterms:W3CDTF">2026-08-28T18:29:33Z</dcterms:modified>
  <cp:revision>129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18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18</vt:i4>
  </property>
</Properties>
</file>